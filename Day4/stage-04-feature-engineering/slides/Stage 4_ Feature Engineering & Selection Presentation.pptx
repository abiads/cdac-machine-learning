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JetBrains Mono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8d85878b-1df0-4c56-a41d-4a1375d55e7d.fntdata" /><ns0:Relationship Id="rIdFont20" Type="http://schemas.openxmlformats.org/officeDocument/2006/relationships/font" Target="fonts/453a981d-ec72-4c4d-b34f-1f337b16abc7.fntdata" /><ns0:Relationship Id="rIdFont21" Type="http://schemas.openxmlformats.org/officeDocument/2006/relationships/font" Target="fonts/9f21953a-648b-410c-9ae8-f41c4968fbd2.fntdata" /><ns0:Relationship Id="rIdFont22" Type="http://schemas.openxmlformats.org/officeDocument/2006/relationships/font" Target="fonts/e6a9494b-1fe9-4eb7-8350-9021be98cc8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555777"/>
            <a:ext cx="1295400" cy="2952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09800" y="4555777"/>
            <a:ext cx="1257300" cy="2952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19500" y="4555777"/>
            <a:ext cx="1495425" cy="2952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06947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STAGE 4 ARCHITECTURE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49847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Feature Engineering, Transformation &amp;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79477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Production-grade transformation pipelines, zero-leakage validation, and modular serialization for predictive modeling.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2927"/>
            <a:ext cx="108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Leakage-Proof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2200" y="4612927"/>
            <a:ext cx="10477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Config-Driven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1900" y="4612927"/>
            <a:ext cx="12858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Artifact Serialized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5612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88456"/>
            <a:ext cx="3505200" cy="1995487"/>
          </a:xfrm>
          <a:prstGeom prst="roundRect">
            <a:avLst>
              <a:gd name="adj" fmla="val 57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95612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09937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02781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09937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ARCHITECTURAL PARADIGM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Strict Separation &amp; Leakage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29037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Early Split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33837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Stratified partitioning occurs prior to any parameter estimation or state 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21881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Stateful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26681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Transformers calculate stats exclusively on train and transform validation or test 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29037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Inference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33837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Fitted objects are serialized to models/ for direct deployment in production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1932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76550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3377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191000"/>
            <a:ext cx="10972800" cy="70485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048250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219325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876550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533775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191000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5048250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EXECUTION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Chronological Pipeline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371725"/>
            <a:ext cx="85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O06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376487"/>
            <a:ext cx="2750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Leakage Validator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4300" y="2390775"/>
            <a:ext cx="5345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Stratified partitioning, target retention, and zero-overlap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028950"/>
            <a:ext cx="85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O01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8300" y="3033712"/>
            <a:ext cx="2750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Domain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300" y="3048000"/>
            <a:ext cx="5024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Stateless financial ratios, tenure binning, and interaction metrics.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686175"/>
            <a:ext cx="85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O04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690937"/>
            <a:ext cx="2750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Cardinality Reducer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300" y="3705225"/>
            <a:ext cx="47267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Frequency-based thresholding and rare category collapsing.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4343400"/>
            <a:ext cx="666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O02 &amp; O03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8300" y="4448175"/>
            <a:ext cx="2750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Encoders &amp; Scalers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4300" y="4462462"/>
            <a:ext cx="6191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One-Hot/Target Encoding, Yeo-Johnson power transforms, and Robust Scaling.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5200650"/>
            <a:ext cx="85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O05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5205412"/>
            <a:ext cx="2750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Feature Selector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4300" y="5219700"/>
            <a:ext cx="5822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Multistage filtering: Variance thresholding, correlation pruning, Mutual Info.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1600"/>
            <a:ext cx="3505200" cy="50292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71600"/>
            <a:ext cx="3505200" cy="50292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71600"/>
            <a:ext cx="3505200" cy="50292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2400300"/>
            <a:ext cx="2952750" cy="552450"/>
          </a:xfrm>
          <a:prstGeom prst="roundRect">
            <a:avLst>
              <a:gd name="adj" fmla="val 1034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2400300"/>
            <a:ext cx="2952750" cy="390525"/>
          </a:xfrm>
          <a:prstGeom prst="roundRect">
            <a:avLst>
              <a:gd name="adj" fmla="val 1463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2238375"/>
            <a:ext cx="2952750" cy="390525"/>
          </a:xfrm>
          <a:prstGeom prst="roundRect">
            <a:avLst>
              <a:gd name="adj" fmla="val 1463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DOMAIN KNOWLEDGE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Domain Feature Construction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164782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Financial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1962150"/>
            <a:ext cx="3048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Calculates charge ratios and expected lifetime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514600"/>
            <a:ext cx="2819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total / (tenure * monthly + epsilon)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164782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Tenure Cohorts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1962150"/>
            <a:ext cx="3048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Discretizes continuous tenure into non-linear behavioral stages.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3925" y="2514600"/>
            <a:ext cx="2819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[0-12, 12-24, 24-48, 48-72, 72+]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1647825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Service Density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1962150"/>
            <a:ext cx="3690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Quantifies customer ecosystem lock-in depth.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725" y="2352675"/>
            <a:ext cx="2819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sum(active_subscriptions)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812256"/>
            <a:ext cx="5562600" cy="2147887"/>
          </a:xfrm>
          <a:prstGeom prst="roundRect">
            <a:avLst>
              <a:gd name="adj" fmla="val 53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ENCODING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Categorical Handling &amp; Column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3040856"/>
            <a:ext cx="5200650" cy="169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E2E8F0"/>
                </a:solidFill>
                <a:latin typeface="Inter"/>
              </a:rPr>
              <a:t>train_df, test_df = train_df.align( test_df, join='left', axis=1, fill_value=0.0 ) test_df[target] = original_target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3040856"/>
            <a:ext cx="5943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# Column Alignment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269456"/>
            <a:ext cx="5200650" cy="1462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E2E8F0"/>
                </a:solidFill>
                <a:latin typeface="JetBrains Mono"/>
              </a:rPr>
              <a:t>train_df, test_df = train_df.align( test_df, join='left', axis=1, fill_value=0.0 ) test_df[target] = original_target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47987"/>
            <a:ext cx="52006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Low-Cardinality One-Hot: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29012"/>
            <a:ext cx="52006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Unseen Category Alignment: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71962"/>
            <a:ext cx="52006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Target Encoding Smoothing: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176587"/>
            <a:ext cx="6381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Strict dummy creation dropping reference categories to eliminate collinearity.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57612"/>
            <a:ext cx="52006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Left-aligns test matrices against training feature maps, filling missing dummies with 0.0.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00562"/>
            <a:ext cx="52006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Employs m-estimate smoothing to prevent target leakage in high-cardinality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850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3850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3850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NUMERICAL STANDARDIZATION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Skew Reduction &amp; Scaling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5282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Skew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95725"/>
            <a:ext cx="2971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Automatically calculates distribution skewness coefficients per numeric column.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55282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Yeo-Johnson 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895725"/>
            <a:ext cx="2971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Applies stabilized power transformations for features exceeding threshold (|skew| &gt; 0.75).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55282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Robust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895725"/>
            <a:ext cx="2971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Uses IQR interquartile range centering to remain immune to extreme telemetry outliers.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05162"/>
            <a:ext cx="3505200" cy="1362075"/>
          </a:xfrm>
          <a:prstGeom prst="roundRect">
            <a:avLst>
              <a:gd name="adj" fmla="val 5594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20516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205162"/>
            <a:ext cx="3505200" cy="1362075"/>
          </a:xfrm>
          <a:prstGeom prst="roundRect">
            <a:avLst>
              <a:gd name="adj" fmla="val 5594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320516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3205162"/>
            <a:ext cx="3505200" cy="1362075"/>
          </a:xfrm>
          <a:prstGeom prst="roundRect">
            <a:avLst>
              <a:gd name="adj" fmla="val 5594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20516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DIMENSIONALITY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3-Stage Feature Filtering Funnel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433762"/>
            <a:ext cx="31432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33762"/>
            <a:ext cx="31432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0" y="3433762"/>
            <a:ext cx="31432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38562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Variance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0147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Removes quasi-constant features with variance below threshold (threshold = 0.01).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38562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Correlation Pruning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147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Eliminates highly collinear pairs (|r| &gt; 0.85) keeping feature with higher target corr.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738562"/>
            <a:ext cx="388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Mutual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40147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Ranks non-linear dependencies against target to select top K informative attributes.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71837"/>
            <a:ext cx="3505200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71837"/>
            <a:ext cx="3505200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528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ROBUSTNESS &amp;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Production Edge Cases &amp; Handlers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09962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Division by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76662"/>
            <a:ext cx="31242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Configurable epsilon (1e-6) added to denominators across all financial ratio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509962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Single-Value Splits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776662"/>
            <a:ext cx="31242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Zero-variance check bypasses scaling steps that produce NaNs due to zero standard deviation.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590925"/>
            <a:ext cx="3876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Missing Directories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857625"/>
            <a:ext cx="312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Pathlib auto-creation guarantees models/ and data/processed/ exist before saving.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3033712"/>
            <a:ext cx="5648325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647950" y="3276600"/>
            <a:ext cx="781050" cy="238125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29125" y="3276600"/>
            <a:ext cx="685800" cy="238125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062" y="3348037"/>
            <a:ext cx="5143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25167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10917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96667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82417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DEPLOYMENT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Transformer Serialization &amp;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032819"/>
            <a:ext cx="51149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To mirror training transformations in real-time inference, stateful objects are serialized to the directory via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2707" y="3957637"/>
            <a:ext cx="657105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Production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0940" y="4262437"/>
            <a:ext cx="627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Zero re-fitting required during online scoring or batch prediction jobs.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100" y="3295650"/>
            <a:ext cx="952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JetBrains Mono"/>
              </a:rPr>
              <a:t>models/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75" y="3295650"/>
            <a:ext cx="85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JetBrains Mono"/>
              </a:rPr>
              <a:t>joblib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710880"/>
            <a:ext cx="6274593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fitted_categorical_encoder.pkl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996630"/>
            <a:ext cx="6274593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fitted_numerical_transformer.pkl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282380"/>
            <a:ext cx="6274593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fitted_cardinality_reducer.pkl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68130"/>
            <a:ext cx="6274593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fitted_feature_selector.pkl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4187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24187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24187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VALIDATION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 Leakage &amp; Quality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328987"/>
            <a:ext cx="36195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4052887"/>
            <a:ext cx="361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Index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4281487"/>
            <a:ext cx="3619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Train and test sets strictly disjoint.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6250" y="3328987"/>
            <a:ext cx="36195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0" y="4052887"/>
            <a:ext cx="361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Config Governed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4281487"/>
            <a:ext cx="3619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Zero hardcoded hyperparameter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0050" y="3328987"/>
            <a:ext cx="36195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Exact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0050" y="4052887"/>
            <a:ext cx="361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Shape Parity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0050" y="4281487"/>
            <a:ext cx="3619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Train and test feature columns aligned.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4187"/>
            <a:ext cx="53340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05137"/>
            <a:ext cx="533400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62725" y="4148137"/>
            <a:ext cx="1781175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705225"/>
            <a:ext cx="13335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990975"/>
            <a:ext cx="13335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276725"/>
            <a:ext cx="114300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Stage 4 Execution Outputs &amp; Stage 5 Handoff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38512"/>
            <a:ext cx="61757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Stage 4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319462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Stage 5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671887"/>
            <a:ext cx="4800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Processed matrices are prepared for model training, hyperparameter tuning, cross-validation, and performance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224337"/>
            <a:ext cx="1571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Inter"/>
              </a:rPr>
              <a:t>Ready for Model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690937"/>
            <a:ext cx="5881687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data/processed/train_features.csv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976687"/>
            <a:ext cx="5881687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data/processed/test_features.csv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262437"/>
            <a:ext cx="5881687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Serialized Pipeline Artifacts in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models/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10250" y="41481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9417" y="2671762"/>
            <a:ext cx="5313164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Inter"/>
              </a:rPr>
              <a:t>Stage 4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86137"/>
            <a:ext cx="714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Feature Engineering, Transformation &amp; Selection Pipeline Executed Successfully.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