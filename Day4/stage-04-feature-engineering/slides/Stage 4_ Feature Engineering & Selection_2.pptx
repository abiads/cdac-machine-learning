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JetBrains Mono"/>
      <ns0:bold ns1:id="rIdFont19"/>
      <ns0:regular ns1:id="rIdFont20"/>
    </ns0:embeddedFont>
    <ns0:embeddedFont>
      <ns0:font typeface="Inter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d80cd5d2-beb3-4dbd-a0bb-c4a728bff951.fntdata" /><ns0:Relationship Id="rIdFont20" Type="http://schemas.openxmlformats.org/officeDocument/2006/relationships/font" Target="fonts/99272534-0d64-4c91-8920-00a589b38a8f.fntdata" /><ns0:Relationship Id="rIdFont21" Type="http://schemas.openxmlformats.org/officeDocument/2006/relationships/font" Target="fonts/364d3326-4144-4dda-ae98-129c8f9bd103.fntdata" /><ns0:Relationship Id="rIdFont22" Type="http://schemas.openxmlformats.org/officeDocument/2006/relationships/font" Target="fonts/f5fd9d0d-78b7-4ae3-82e0-7a17fca11bd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48325"/>
            <a:ext cx="10972800" cy="600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609600"/>
            <a:ext cx="1905000" cy="285750"/>
          </a:xfrm>
          <a:prstGeom prst="roundRect">
            <a:avLst>
              <a:gd name="adj" fmla="val 50000"/>
            </a:avLst>
          </a:prstGeom>
          <a:solidFill>
            <a:srgbClr val="15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64832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66750"/>
            <a:ext cx="1695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STAGE 04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8900" y="671512"/>
            <a:ext cx="2262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End-to-End ML Pipeline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02222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Inter"/>
              </a:rPr>
              <a:t>Feature Engineering &amp; Feature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69952"/>
            <a:ext cx="8667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Transforming raw signals into high-predictive vectors while mastering production edge cases, data leakage, and high-dimensional space reduction.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886450"/>
            <a:ext cx="23931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CORE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067425"/>
            <a:ext cx="23931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Representation &amp;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8925" y="5886450"/>
            <a:ext cx="26670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CRITICAL INVARIANT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8925" y="6067425"/>
            <a:ext cx="2667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Strict Temporal &amp; Fold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7325" y="5886450"/>
            <a:ext cx="25836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TARGET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325" y="6067425"/>
            <a:ext cx="2583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Optimal Generalization Vector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6666"/>
            <a:ext cx="2443162" cy="1569541"/>
          </a:xfrm>
          <a:prstGeom prst="roundRect">
            <a:avLst>
              <a:gd name="adj" fmla="val 48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52812" y="3096666"/>
            <a:ext cx="2443162" cy="1569541"/>
          </a:xfrm>
          <a:prstGeom prst="roundRect">
            <a:avLst>
              <a:gd name="adj" fmla="val 48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96025" y="3096666"/>
            <a:ext cx="2443162" cy="1569541"/>
          </a:xfrm>
          <a:prstGeom prst="roundRect">
            <a:avLst>
              <a:gd name="adj" fmla="val 48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39237" y="3096666"/>
            <a:ext cx="2443162" cy="1569541"/>
          </a:xfrm>
          <a:prstGeom prst="roundRect">
            <a:avLst>
              <a:gd name="adj" fmla="val 48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096666"/>
            <a:ext cx="38100" cy="156954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52812" y="3096666"/>
            <a:ext cx="38100" cy="156954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6025" y="3096666"/>
            <a:ext cx="38100" cy="156954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39237" y="3096666"/>
            <a:ext cx="38100" cy="1569541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3805237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5" y="3805237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587" y="3805237"/>
            <a:ext cx="952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01 / PIPELINE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End-to-End Stage 4 Processing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325266"/>
            <a:ext cx="243482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563391"/>
            <a:ext cx="255656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Domain Creation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877716"/>
            <a:ext cx="2043112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Construct business logic ratios, aggregations, interaction terms, and temporal signals.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9512" y="3325266"/>
            <a:ext cx="243482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9512" y="3563391"/>
            <a:ext cx="255656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Transformations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9512" y="3877716"/>
            <a:ext cx="2043112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Apply encoding, scaling, power transforms, and numerical discretizations.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325266"/>
            <a:ext cx="243482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725" y="3563391"/>
            <a:ext cx="255656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Extraction &amp; Embeds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25" y="3877716"/>
            <a:ext cx="2043112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Dimensionality reduction, PCA, t-SNE, and text/graph embeddings.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5937" y="3325266"/>
            <a:ext cx="243482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5937" y="3563391"/>
            <a:ext cx="255656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Multi-Stage Selection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5937" y="3877716"/>
            <a:ext cx="2043112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Filter, wrapper, and embedded selection to prune noise and redundancy.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7050"/>
            <a:ext cx="35052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67050"/>
            <a:ext cx="35052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67050"/>
            <a:ext cx="35052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09937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309937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309937"/>
            <a:ext cx="2381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02 / CATEGORICAL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Categorical Encoding Strategies &amp; Edge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619500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High Cardinality Blowup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895725"/>
            <a:ext cx="31242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Creates sparse matrices. Rare unseen categories in test sets break dimensional consistency.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619500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Severe Target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895725"/>
            <a:ext cx="31242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Requires out-of-fold target calculation and Bayesian smoothing ($m$-estimate) to prevent overfitting.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619500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Collisions &amp; Unseen Keys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895725"/>
            <a:ext cx="31242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Frequency encoding creates identical values for different categories; entity embeddings require deep learning layers.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3305175"/>
            <a:ext cx="191273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One-Hot / Ordinal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6325" y="3305175"/>
            <a:ext cx="25878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Target / Mean Encoding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0" y="3305175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Frequency &amp; Embeddings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71762"/>
            <a:ext cx="5324475" cy="234315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38875" y="2671762"/>
            <a:ext cx="5343525" cy="2343150"/>
          </a:xfrm>
          <a:prstGeom prst="roundRect">
            <a:avLst>
              <a:gd name="adj" fmla="val 4878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2967037"/>
            <a:ext cx="19050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03 / NUMERICAL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Scaling, Power Transforms &amp; Bounding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38462"/>
            <a:ext cx="628828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Transformation Taxonomy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319462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StandardScaler: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Zero mean, unit variance. Sensitive to extreme outliers.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795712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MinMaxScaler: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Bounds to [0,1]. Shrinks range under heavy tail anomalies.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271962"/>
            <a:ext cx="5988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RobustScaler: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Uses IQR/Median; resistant to heavy outlier pollution.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567237"/>
            <a:ext cx="5988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Box-Cox / Yeo-Johnson: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Stabilizes variance and fixes skewness.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800" y="2947987"/>
            <a:ext cx="23752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A3412"/>
                </a:solidFill>
                <a:latin typeface="Inter"/>
              </a:rPr>
              <a:t>Critical Edge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90887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C2D12"/>
                </a:solidFill>
                <a:latin typeface="Inter"/>
              </a:rPr>
              <a:t>Negative / Zero Values:</a:t>
            </a:r>
            <a:r>
              <a:rPr b="0" sz="1125" i="0" u="none">
                <a:solidFill>
                  <a:srgbClr val="7C2D12"/>
                </a:solidFill>
                <a:latin typeface="Inter"/>
              </a:rPr>
              <a:t> Log and Box-Cox fail on non-positive values (Use Yeo-Johnson).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3767137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C2D12"/>
                </a:solidFill>
                <a:latin typeface="Inter"/>
              </a:rPr>
              <a:t>Out-of-Bounds Inference:</a:t>
            </a:r>
            <a:r>
              <a:rPr b="0" sz="1125" i="0" u="none">
                <a:solidFill>
                  <a:srgbClr val="7C2D12"/>
                </a:solidFill>
                <a:latin typeface="Inter"/>
              </a:rPr>
              <a:t> Test data exceeding training min/max bounds.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4243387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C2D12"/>
                </a:solidFill>
                <a:latin typeface="Inter"/>
              </a:rPr>
              <a:t>Data Drift:</a:t>
            </a:r>
            <a:r>
              <a:rPr b="0" sz="1125" i="0" u="none">
                <a:solidFill>
                  <a:srgbClr val="7C2D12"/>
                </a:solidFill>
                <a:latin typeface="Inter"/>
              </a:rPr>
              <a:t> Fixed scalar parameters ($\mu, \sigma$) becoming stale over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00375"/>
            <a:ext cx="2571750" cy="1685925"/>
          </a:xfrm>
          <a:prstGeom prst="roundRect">
            <a:avLst>
              <a:gd name="adj" fmla="val 45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000375"/>
            <a:ext cx="2571750" cy="1685925"/>
          </a:xfrm>
          <a:prstGeom prst="roundRect">
            <a:avLst>
              <a:gd name="adj" fmla="val 45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00375"/>
            <a:ext cx="2571750" cy="1685925"/>
          </a:xfrm>
          <a:prstGeom prst="roundRect">
            <a:avLst>
              <a:gd name="adj" fmla="val 45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000375"/>
            <a:ext cx="2571750" cy="1685925"/>
          </a:xfrm>
          <a:prstGeom prst="roundRect">
            <a:avLst>
              <a:gd name="adj" fmla="val 45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000375"/>
            <a:ext cx="25717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200" y="3981450"/>
            <a:ext cx="2114550" cy="314325"/>
          </a:xfrm>
          <a:prstGeom prst="roundRect">
            <a:avLst>
              <a:gd name="adj" fmla="val 1212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09950" y="3000375"/>
            <a:ext cx="25717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38550" y="3981450"/>
            <a:ext cx="2114550" cy="314325"/>
          </a:xfrm>
          <a:prstGeom prst="roundRect">
            <a:avLst>
              <a:gd name="adj" fmla="val 1212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0300" y="3000375"/>
            <a:ext cx="25717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38900" y="3981450"/>
            <a:ext cx="2114550" cy="314325"/>
          </a:xfrm>
          <a:prstGeom prst="roundRect">
            <a:avLst>
              <a:gd name="adj" fmla="val 1212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10650" y="3000375"/>
            <a:ext cx="25717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39250" y="3981450"/>
            <a:ext cx="2114550" cy="47625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04 / FEATURE 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Domain-Specific Feature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267075"/>
            <a:ext cx="277534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Ratios &amp; Interactions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543300"/>
            <a:ext cx="22098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Debt-to-income, non-linear feature pairings ($A \times B$).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4057650"/>
            <a:ext cx="1981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91B1B"/>
                </a:solidFill>
                <a:latin typeface="JetBrains Mono"/>
              </a:rPr>
              <a:t>Edge: Division by 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8550" y="3267075"/>
            <a:ext cx="277534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Aggregations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8550" y="3543300"/>
            <a:ext cx="22098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Group-level stats (mean spend per zip code/category).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2850" y="4057650"/>
            <a:ext cx="1981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91B1B"/>
                </a:solidFill>
                <a:latin typeface="JetBrains Mono"/>
              </a:rPr>
              <a:t>Edge: Empty Group Aggs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8900" y="3267075"/>
            <a:ext cx="277534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Time &amp; Cyclical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8900" y="3543300"/>
            <a:ext cx="22098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Sine/Cosine transformations for time, day, month.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4057650"/>
            <a:ext cx="1981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91B1B"/>
                </a:solidFill>
                <a:latin typeface="JetBrains Mono"/>
              </a:rPr>
              <a:t>Edge: Leap Years &amp; TZ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0" y="3267075"/>
            <a:ext cx="277534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Polynomial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0" y="3543300"/>
            <a:ext cx="22098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Higher degree interactions ($X^2, X_1 X_2$).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3550" y="4057650"/>
            <a:ext cx="1981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91B1B"/>
                </a:solidFill>
                <a:latin typeface="JetBrains Mono"/>
              </a:rPr>
              <a:t>Edge: Combinatorial Explosion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8925"/>
            <a:ext cx="5324475" cy="2028825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38875" y="2828925"/>
            <a:ext cx="5343525" cy="2028825"/>
          </a:xfrm>
          <a:prstGeom prst="roundRect">
            <a:avLst>
              <a:gd name="adj" fmla="val 563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3124200"/>
            <a:ext cx="19050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05 / TIME-SERIES SPECIFICS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Temporal Feature Engineering &amp; Lags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095625"/>
            <a:ext cx="628828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Core Temporal Mechanisms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476625"/>
            <a:ext cx="5988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Lag Features: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Historical values at $t-1, t-k$ for autoregressive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771900"/>
            <a:ext cx="5988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Rolling Statistics: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Moving averages, standard deviations, and min/max.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067175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Expanding Windows: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Cumulative summary statistics over full past history.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800" y="3105150"/>
            <a:ext cx="26503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Inter"/>
              </a:rPr>
              <a:t>Temporal Edge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3448050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F1D1D"/>
                </a:solidFill>
                <a:latin typeface="Inter"/>
              </a:rPr>
              <a:t>Lookahead Leakage:</a:t>
            </a:r>
            <a:r>
              <a:rPr b="0" sz="1125" i="0" u="none">
                <a:solidFill>
                  <a:srgbClr val="7F1D1D"/>
                </a:solidFill>
                <a:latin typeface="Inter"/>
              </a:rPr>
              <a:t> Computing rolling aggregates including time $t$.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924300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F1D1D"/>
                </a:solidFill>
                <a:latin typeface="Inter"/>
              </a:rPr>
              <a:t>Missing Timestamps:</a:t>
            </a:r>
            <a:r>
              <a:rPr b="0" sz="1125" i="0" u="none">
                <a:solidFill>
                  <a:srgbClr val="7F1D1D"/>
                </a:solidFill>
                <a:latin typeface="Inter"/>
              </a:rPr>
              <a:t> Irregular sampling intervals breaking fixed lag steps.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4400550"/>
            <a:ext cx="5676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F1D1D"/>
                </a:solidFill>
                <a:latin typeface="Inter"/>
              </a:rPr>
              <a:t>Cold Start:</a:t>
            </a:r>
            <a:r>
              <a:rPr b="0" sz="1125" i="0" u="none">
                <a:solidFill>
                  <a:srgbClr val="7F1D1D"/>
                </a:solidFill>
                <a:latin typeface="Inter"/>
              </a:rPr>
              <a:t> First $k$ periods having NaN due to window size $k$.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43250"/>
            <a:ext cx="3505200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43250"/>
            <a:ext cx="3505200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43250"/>
            <a:ext cx="3505200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71850"/>
            <a:ext cx="1714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71850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3371850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06 / EXTRACTION TECHNIQUES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Unstructured to Structured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714750"/>
            <a:ext cx="400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Text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990975"/>
            <a:ext cx="3143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TF-IDF, Sentiment Scores, Readability Metrics, LLM Embeddings.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14750"/>
            <a:ext cx="400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Graph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90975"/>
            <a:ext cx="3143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Node Centrality, PageRank, Community Detection, Node2Vec.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3714750"/>
            <a:ext cx="3886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Dimensionality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3990975"/>
            <a:ext cx="381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PCA, Truncated SVD, UMAP, Autoencoders.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8962"/>
            <a:ext cx="350520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28962"/>
            <a:ext cx="350520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28962"/>
            <a:ext cx="350520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8200" y="4071937"/>
            <a:ext cx="3048000" cy="257175"/>
          </a:xfrm>
          <a:prstGeom prst="roundRect">
            <a:avLst>
              <a:gd name="adj" fmla="val 1481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4071937"/>
            <a:ext cx="3048000" cy="257175"/>
          </a:xfrm>
          <a:prstGeom prst="roundRect">
            <a:avLst>
              <a:gd name="adj" fmla="val 1481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5800" y="4071937"/>
            <a:ext cx="3048000" cy="257175"/>
          </a:xfrm>
          <a:prstGeom prst="roundRect">
            <a:avLst>
              <a:gd name="adj" fmla="val 1481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07 / SELECTION: FILTER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Statistical Filter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357562"/>
            <a:ext cx="400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Correlation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633787"/>
            <a:ext cx="3143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Pearson (linear) &amp; Spearman (rank). Prunes collinear pairs ($|r| &gt; 0.85$).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4129087"/>
            <a:ext cx="2952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"/>
              </a:rPr>
              <a:t>Fails on Non-linear Relationships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57562"/>
            <a:ext cx="400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Mutual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33787"/>
            <a:ext cx="3143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Non-parametric statistical dependency measurement based on entropy.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50" y="4129087"/>
            <a:ext cx="2952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"/>
              </a:rPr>
              <a:t>Requires Heavy Data Sample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3357562"/>
            <a:ext cx="3886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ANOVA &amp; Chi-Square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3633787"/>
            <a:ext cx="3143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Hypothesis testing to evaluate category vs continuous target independence.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1050" y="4129087"/>
            <a:ext cx="2952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"/>
              </a:rPr>
              <a:t>Assumes Normality/Expectations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8912"/>
            <a:ext cx="5334000" cy="222885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28912"/>
            <a:ext cx="5334000" cy="222885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08 / SELECTION: WRAPPER &amp; EMBEDDED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Wrapper &amp; Embedded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995612"/>
            <a:ext cx="63007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Wrapper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2995612"/>
            <a:ext cx="56769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Embedded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376612"/>
            <a:ext cx="4895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RFE (Recursive Feature Elimination):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Iteratively drops lowest-importance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852862"/>
            <a:ext cx="4895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Sequential Feature Selection: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Forward addition or backward elimination.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329112"/>
            <a:ext cx="4895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Boruta Algorithm: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Compares features against randomized shadow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3376612"/>
            <a:ext cx="4895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L1 Regularization (Lasso):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Forces non-informative coefficients strictly to zero.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3852862"/>
            <a:ext cx="4895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Tree-Based Importance: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MDI (Mean Decrease Impurity) &amp; SHAP values.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4329112"/>
            <a:ext cx="4895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Gradient Boosting Permutation: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Measures post-shuffle performance degradation.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33737"/>
            <a:ext cx="3505200" cy="1219200"/>
          </a:xfrm>
          <a:prstGeom prst="roundRect">
            <a:avLst>
              <a:gd name="adj" fmla="val 937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33737"/>
            <a:ext cx="3505200" cy="1219200"/>
          </a:xfrm>
          <a:prstGeom prst="roundRect">
            <a:avLst>
              <a:gd name="adj" fmla="val 937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33737"/>
            <a:ext cx="3505200" cy="1219200"/>
          </a:xfrm>
          <a:prstGeom prst="roundRect">
            <a:avLst>
              <a:gd name="adj" fmla="val 937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Inter"/>
              </a:rPr>
              <a:t>09 / PRODUCTION RISK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Data Leakage &amp; Production Pitfalls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462337"/>
            <a:ext cx="400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Inter"/>
              </a:rPr>
              <a:t>Pre-Split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738562"/>
            <a:ext cx="31432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Inter"/>
              </a:rPr>
              <a:t>Fitting scalers, encoders, or mean imputers before train/test split. Guaranteed overoptimistic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462337"/>
            <a:ext cx="400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Inter"/>
              </a:rPr>
              <a:t>Train/Inference Mismatch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738562"/>
            <a:ext cx="31432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Inter"/>
              </a:rPr>
              <a:t>Features computed using batch offline Spark SQL differing from real-time microservice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5800" y="3462337"/>
            <a:ext cx="3886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Inter"/>
              </a:rPr>
              <a:t>Multicollinearity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800" y="3738562"/>
            <a:ext cx="3143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Inter"/>
              </a:rPr>
              <a:t>High Variance Inflation Factor (VIF) blowing up linear coefficients and SHAP interpretations.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7037"/>
            <a:ext cx="5334000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67037"/>
            <a:ext cx="5334000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10 / MLOPS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Feature Store Architecture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33737"/>
            <a:ext cx="63007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Dual Storage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3233737"/>
            <a:ext cx="56769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Governance &amp; Drift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614737"/>
            <a:ext cx="4895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Online Store (Low Latency):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Key-value store (Redis/DynamoDB) for millisecond real-time inference.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090987"/>
            <a:ext cx="4895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Offline Store (High Throughput):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Parquet/Iceberg/BigQuery for historical point-in-time 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614737"/>
            <a:ext cx="4895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Point-in-Time Joins: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Prevents time-travel data leakage during historical feature joins.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4090987"/>
            <a:ext cx="4895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Drift Alerts: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PSI (Population Stability Index) tracking feature distribution shift in live traffic.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38825"/>
            <a:ext cx="10972800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24187"/>
            <a:ext cx="3505200" cy="1085850"/>
          </a:xfrm>
          <a:prstGeom prst="roundRect">
            <a:avLst>
              <a:gd name="adj" fmla="val 701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024187"/>
            <a:ext cx="3505200" cy="1085850"/>
          </a:xfrm>
          <a:prstGeom prst="roundRect">
            <a:avLst>
              <a:gd name="adj" fmla="val 701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024187"/>
            <a:ext cx="3505200" cy="1085850"/>
          </a:xfrm>
          <a:prstGeom prst="roundRect">
            <a:avLst>
              <a:gd name="adj" fmla="val 701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024187"/>
            <a:ext cx="3505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3024187"/>
            <a:ext cx="3505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77200" y="3024187"/>
            <a:ext cx="3505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6096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SUMMARY &amp;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763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Inter"/>
              </a:rPr>
              <a:t>Stage 4 Production Readiness Invariants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81712"/>
            <a:ext cx="25360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Stage 4 Architecture 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7800" y="6076950"/>
            <a:ext cx="3124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READY FOR STAGE 5: MODEL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281362"/>
            <a:ext cx="400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1. Strict Pipeline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557587"/>
            <a:ext cx="3143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All transforms fit purely on training folds. Never call fit() across global datasets.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81362"/>
            <a:ext cx="400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2. Multi-Stage Pruning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57587"/>
            <a:ext cx="3143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Filter variance/collinearity first, wrapper/SHAP selection second to minimize compute.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3281362"/>
            <a:ext cx="3886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3. Feature Store Parity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3557587"/>
            <a:ext cx="3143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Ensure online/offline feature generation logic uses identical code artifacts.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