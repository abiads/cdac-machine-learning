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Inter"/>
      <ns0:bold ns1:id="rIdFont19"/>
      <ns0:regular ns1:id="rIdFont20"/>
    </ns0:embeddedFont>
    <ns0:embeddedFont>
      <ns0:font typeface="JetBrains Mono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bc782009-e340-44e9-a613-a6dd12b29926.fntdata" /><ns0:Relationship Id="rIdFont20" Type="http://schemas.openxmlformats.org/officeDocument/2006/relationships/font" Target="fonts/50a2a823-1f51-4f7b-87b9-adb89aecef4b.fntdata" /><ns0:Relationship Id="rIdFont21" Type="http://schemas.openxmlformats.org/officeDocument/2006/relationships/font" Target="fonts/bf1e6cf9-64b8-44f2-80e2-0e21114f700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73622"/>
            <a:ext cx="2752725" cy="276225"/>
          </a:xfrm>
          <a:prstGeom prst="roundRect">
            <a:avLst>
              <a:gd name="adj" fmla="val 13793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746277"/>
            <a:ext cx="762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130772"/>
            <a:ext cx="25431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MLOPS ENGINEERING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78447"/>
            <a:ext cx="9101137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Stage 2: Data Ingestion &amp; Low-Level Hygiene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869977"/>
            <a:ext cx="723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Production-Grade Multi-Source Extractions, Cryptographic Checks, Schema Contracts, and Memory Optimization.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92896"/>
            <a:ext cx="2571750" cy="2072282"/>
          </a:xfrm>
          <a:prstGeom prst="roundRect">
            <a:avLst>
              <a:gd name="adj" fmla="val 36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578596"/>
            <a:ext cx="2571750" cy="2300882"/>
          </a:xfrm>
          <a:prstGeom prst="roundRect">
            <a:avLst>
              <a:gd name="adj" fmla="val 331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692896"/>
            <a:ext cx="2571750" cy="2072282"/>
          </a:xfrm>
          <a:prstGeom prst="roundRect">
            <a:avLst>
              <a:gd name="adj" fmla="val 36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692896"/>
            <a:ext cx="2571750" cy="2072282"/>
          </a:xfrm>
          <a:prstGeom prst="roundRect">
            <a:avLst>
              <a:gd name="adj" fmla="val 36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692896"/>
            <a:ext cx="38100" cy="207228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9950" y="2578596"/>
            <a:ext cx="38100" cy="230088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0300" y="2692896"/>
            <a:ext cx="38100" cy="207228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010650" y="2692896"/>
            <a:ext cx="38100" cy="2072282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959596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0" y="2845296"/>
            <a:ext cx="238125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2959596"/>
            <a:ext cx="333375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5450" y="2959596"/>
            <a:ext cx="333375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Architecture &amp; Ingestion Taxonomy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40596"/>
            <a:ext cx="262532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1. Flat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45396"/>
            <a:ext cx="2095500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Batch Drops: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CSV, JSON, Parquet.</a:t>
            </a:r>
            <a:r>
              <a:t>
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Focus: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SHA-256 validation &amp; encoding handling.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4750" y="3226296"/>
            <a:ext cx="22002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2. Databases (RDBMS/NoSQL)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4750" y="3759696"/>
            <a:ext cx="2095500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Relational &amp; NoSQL: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SQL &amp; Mongo.</a:t>
            </a:r>
            <a:r>
              <a:t>
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Focus: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Connection pooling &amp; chunksize pagination.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340596"/>
            <a:ext cx="262532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3. REST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3645396"/>
            <a:ext cx="2095500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HTTP Scrapers: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Webhooks &amp; Endpoints.</a:t>
            </a:r>
            <a:r>
              <a:t>
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Focus: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Exponential backoff &amp; rate limiting.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5450" y="3340596"/>
            <a:ext cx="262532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4. Event Streams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5450" y="3645396"/>
            <a:ext cx="2095500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Real-Time: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Apache Kafka Topics.</a:t>
            </a:r>
            <a:r>
              <a:t>
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Focus: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Offset management &amp; consumer groups.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55605" y="2462212"/>
            <a:ext cx="6026794" cy="2457450"/>
          </a:xfrm>
          <a:prstGeom prst="roundRect">
            <a:avLst>
              <a:gd name="adj" fmla="val 31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O02: File Integrity &amp; Zero-Byte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4205" y="2690812"/>
            <a:ext cx="5664844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Inter"/>
              </a:rPr>
              <a:t># Checksum &amp; Zero-Byte Safeguard if file_path.stat().st_size == 0: logger.critical("Zero-byte file detected") return False sha256 = hashlib.sha256() with open(file_path, "rb") as f: while chunk := f.read(65536): sha256.update(chunk) return sha256.hexdigest() == expected_hash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4205" y="2690812"/>
            <a:ext cx="5664844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# Checksum &amp; Zero-Byte Safeguard if file_path.stat().st_size == 0: logger.critical("Zero-byte file detected") return False sha256 = hashlib.sha256() with open(file_path, "rb") as f: while chunk := f.read(65536): sha256.update(chunk) return sha256.hexdigest() == expected_hash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42604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Zero-Byte Detection: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Blocks processing 0-byte files instantly.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74826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SHA-256 Cryptography: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Validates Secure Hash Algorithm hash match.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007048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Chunked Processing: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Reads in 64KB blocks to preserve 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3687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33687"/>
            <a:ext cx="3505200" cy="179070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47987"/>
            <a:ext cx="3505200" cy="156210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O03: Landing Zone Batch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100387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Encoding Fallbacks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443287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Attempts UTF-8 (Unicode Transformation Format - 8-bit) reading first; automatically falls back to Latin-1 (ISO-8859-1) upon decoding errors.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100387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Semi-Structured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443287"/>
            <a:ext cx="30670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Supports both standard JSON arrays and NDJSON (Newline Delimited JSON) payloads using chunked memory streaming.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214687"/>
            <a:ext cx="3848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Parquet Compression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5758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Handles Snappy and GZIP (GNU Zip) columnar compressed storage files natively into pandas DataFrames.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55605" y="2662237"/>
            <a:ext cx="6026794" cy="2057400"/>
          </a:xfrm>
          <a:prstGeom prst="roundRect">
            <a:avLst>
              <a:gd name="adj" fmla="val 370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O04: Database Connection Pooling &amp;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4205" y="2890837"/>
            <a:ext cx="5664844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Inter"/>
              </a:rPr>
              <a:t># Batched DB Query Pagination def extract_in_batches(query, chunk_size=5000): engine = create_engine(self.conn_str) with engine.connect() as conn: for chunk in pd.read_sql( query, conn, chunksize=chunk_size ): yield chunk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4205" y="2890837"/>
            <a:ext cx="5664844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# Batched DB Query Pagination def extract_in_batches(query, chunk_size=5000): engine = create_engine(self.conn_str) with engine.connect() as conn: for chunk in pd.read_sql( query, conn, chunksize=chunk_size ): yield chunk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42604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RDBMS Pagination: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Uses SQL chunking to stream records without RAM spikes.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74826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Connection Pooling: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Prevents thread exhaustion on target DB servers.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007048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NoSQL Cursor Streaming: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Uses Mongo/Document batch cursors.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62200"/>
            <a:ext cx="6026794" cy="2657475"/>
          </a:xfrm>
          <a:prstGeom prst="roundRect">
            <a:avLst>
              <a:gd name="adj" fmla="val 286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O05: REST API Backoff &amp; Rate-Limiting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590800"/>
            <a:ext cx="5664844" cy="2200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Inter"/>
              </a:rPr>
              <a:t># Exponential Backoff for HTTP Errors @retry( stop=stop_after_attempt(5), wait=wait_exponential(multiplier=1, min=2, max=10), retry=retry_if_exception_type(RequestsHTTPError) ) def fetch_endpoint(url): time.sleep(0.1) # Rate limiting delay resp = requests.get(url, timeout=10) resp.raise_for_status() return resp.json()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590800"/>
            <a:ext cx="5664844" cy="2200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# Exponential Backoff for HTTP Errors @retry( stop=stop_after_attempt(5), wait=wait_exponential(multiplier=1, min=2, max=10), retry=retry_if_exception_type(RequestsHTTPError) ) def fetch_endpoint(url): time.sleep(0.1) # Rate limiting delay resp = requests.get(url, timeout=10) resp.raise_for_status() return resp.json()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1194" y="2742604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Transient Errors: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Handles HTTP 429 (Too Many Requests) &amp; 503 (Service Unavailable).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1194" y="3374826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Exponential Backoff: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Doubles wait times between failed retry attempts.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1194" y="4007048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Proactive Delays: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Prevents hitting server throttling caps.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7987"/>
            <a:ext cx="3505200" cy="156210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47987"/>
            <a:ext cx="3505200" cy="156210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47987"/>
            <a:ext cx="3505200" cy="156210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O06: Real-Time Kafka Stream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14687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Consumer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55758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Distributes event topic processing across parallel workers for high-throughput streaming.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100" y="3214687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Offset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0100" y="355758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Commits message offsets only after successful downstream schema verification to prevent data loss.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3900" y="3214687"/>
            <a:ext cx="3848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Inter"/>
              </a:rPr>
              <a:t>Mock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355758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Provides simulated stream fallback during local offline development without a live broker.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55605" y="2462212"/>
            <a:ext cx="6026794" cy="2457450"/>
          </a:xfrm>
          <a:prstGeom prst="roundRect">
            <a:avLst>
              <a:gd name="adj" fmla="val 31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O07: Schema Contracts &amp; Quarantine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4205" y="2690812"/>
            <a:ext cx="5664844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Inter"/>
              </a:rPr>
              <a:t># YAML Contract Boundary Enforcement for col, bounds in contract["bounds"].items(): invalid_mask = ( (df[col] &lt; bounds["min"]) | (df[col] &gt; bounds["max"]) ) quarantine_df = df[invalid_mask] clean_df = df[~invalid_mask] quarantine_df.to_csv("data/quarantine/dlq.csv")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4205" y="2690812"/>
            <a:ext cx="5664844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# YAML Contract Boundary Enforcement for col, bounds in contract["bounds"].items(): invalid_mask = ( (df[col] &lt; bounds["min"]) | (df[col] &gt; bounds["max"]) ) quarantine_df = df[invalid_mask] clean_df = df[~invalid_mask] quarantine_df.to_csv("data/quarantine/dlq.csv")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42604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Single Source of Truth: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YAML contract defines strict types and min/max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74826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Schema Drift Detection: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Catches missing or unexpected columns instantly.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007048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DLQ Routing: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Moves invalid rows to Quarantine (Dead-Letter Queue).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62225"/>
            <a:ext cx="6026794" cy="2257425"/>
          </a:xfrm>
          <a:prstGeom prst="roundRect">
            <a:avLst>
              <a:gd name="adj" fmla="val 337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O08: Numerical Type Downcasting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790825"/>
            <a:ext cx="5664844" cy="1800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Inter"/>
              </a:rPr>
              <a:t># RAM Footprint Downcasting def downcast_numeric_types(df): for col in df.select_dtypes(include=['int64']).columns: df[col] = pd.to_numeric(df[col], downcast='integer') for col in df.select_dtypes(include=['float64']).columns: df[col] = pd.to_numeric(df[col], downcast='float') return df # Reduces RAM by up to 75%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790825"/>
            <a:ext cx="5664844" cy="1800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JetBrains Mono"/>
              </a:rPr>
              <a:t># RAM Footprint Downcasting def downcast_numeric_types(df): for col in df.select_dtypes(include=['int64']).columns: df[col] = pd.to_numeric(df[col], downcast='integer') for col in df.select_dtypes(include=['float64']).columns: df[col] = pd.to_numeric(df[col], downcast='float') return df # Reduces RAM by up to 75%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1194" y="2742604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Integer Downcasting: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Converts 64-bit integers to 8-bit or 16-bit integers safely.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1194" y="3374826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Float Downcasting: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Shrinks 64-bit floats to 32-bit without precision loss.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1194" y="4007048"/>
            <a:ext cx="473645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Out-of-Core Processing: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Uses Polars/DuckDB lazy evaluation for huge datasets.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8937"/>
            <a:ext cx="3505200" cy="1600200"/>
          </a:xfrm>
          <a:prstGeom prst="roundRect">
            <a:avLst>
              <a:gd name="adj" fmla="val 47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28937"/>
            <a:ext cx="3505200" cy="1600200"/>
          </a:xfrm>
          <a:prstGeom prst="roundRect">
            <a:avLst>
              <a:gd name="adj" fmla="val 47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28937"/>
            <a:ext cx="3505200" cy="1600200"/>
          </a:xfrm>
          <a:prstGeom prst="roundRect">
            <a:avLst>
              <a:gd name="adj" fmla="val 476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28937"/>
            <a:ext cx="35052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928937"/>
            <a:ext cx="35052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928937"/>
            <a:ext cx="3505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Stage 2 Edge Cases &amp; Safeguards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233737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F4444"/>
                </a:solidFill>
                <a:latin typeface="Inter"/>
              </a:rPr>
              <a:t>Zero-Byte Payloads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57663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Checked before reading. Halts pipeline execution before pandas parsing errors occur.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3233737"/>
            <a:ext cx="39004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Value Bounds Violation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57663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Catches negative values (e.g., tenure = -5). Isolates bad rows to Quarantine without dropping valid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00" y="3233737"/>
            <a:ext cx="3848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Empty DataFrames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576637"/>
            <a:ext cx="3067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Source-agnostic payload health checker catches empty returns from DB, API, or Kafka sources.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93800"/>
            <a:ext cx="539115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1593800"/>
            <a:ext cx="539115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438376"/>
            <a:ext cx="539115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3438376"/>
            <a:ext cx="539115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5283100"/>
            <a:ext cx="539115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5283100"/>
            <a:ext cx="5391150" cy="581025"/>
          </a:xfrm>
          <a:prstGeom prst="roundRect">
            <a:avLst>
              <a:gd name="adj" fmla="val 1311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Acronym Reference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1784300"/>
            <a:ext cx="5105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DLQ: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Dead-Letter Queue (Quarantine)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0" y="1784300"/>
            <a:ext cx="5105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SHA-256: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Secure Hash Algorithm 256-bit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628876"/>
            <a:ext cx="5105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NDJSON: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Newline Delimited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0" y="3628876"/>
            <a:ext cx="5105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UTF-8: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Unicode Transformation Format (8-bit)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473600"/>
            <a:ext cx="5105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RAM: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Random-Access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1750" y="5473600"/>
            <a:ext cx="5105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Inter"/>
              </a:rPr>
              <a:t>RDBMS: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334155"/>
                </a:solidFill>
                <a:latin typeface="Inter"/>
              </a:rPr>
              <a:t>Relational Database Management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57637" y="4038600"/>
            <a:ext cx="4276725" cy="428625"/>
          </a:xfrm>
          <a:prstGeom prst="roundRect">
            <a:avLst>
              <a:gd name="adj" fmla="val 13333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51919" y="2390775"/>
            <a:ext cx="528816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Stage 2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6468" y="3105150"/>
            <a:ext cx="7739062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Inter"/>
              </a:rPr>
              <a:t>Data Ingestion &amp; Hygiene complete. Payload is validated, quarantined, and memory-optimized for Stage 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9746" y="4152900"/>
            <a:ext cx="481250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Ready for Stage 3: Preprocessing &amp; Cleaning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