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04245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986855"/>
            <a:ext cx="2190750" cy="276225"/>
          </a:xfrm>
          <a:prstGeom prst="roundRect">
            <a:avLst>
              <a:gd name="adj" fmla="val 2068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20424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14700" y="4480470"/>
            <a:ext cx="2409825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14700" y="4480470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491680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Data Preprocessing, Cleaning &amp;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51745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Architectural principles, mathematical edge cases, diagnostic rules, and automated orchestrations for machine learning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2044005"/>
            <a:ext cx="2019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ML LIFECYCLE • STAGE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7050" y="2044005"/>
            <a:ext cx="2262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Production 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80470"/>
            <a:ext cx="2809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Pipeline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680495"/>
            <a:ext cx="2809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7 Core Preprocessing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4480470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Target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4680495"/>
            <a:ext cx="2619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Silver/Gold Cleaned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6562"/>
            <a:ext cx="3530649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976562"/>
            <a:ext cx="3530649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976562"/>
            <a:ext cx="3530649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278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32527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2527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35756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224" y="3357562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899" y="335756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ARCHITECTURE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Stage 3 Preprocessing &amp; EDA Spectrum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24287"/>
            <a:ext cx="390888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1. Diagnostic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67187"/>
            <a:ext cx="30734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MCAR/MAR/MNAR diagnostics, KNN imputation, and indicator flag creation.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3824287"/>
            <a:ext cx="390888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2. Structural Hygiene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4167187"/>
            <a:ext cx="30734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Levenshtein string matching, deduplication, and case normalization.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824287"/>
            <a:ext cx="3863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3. Anomaly &amp;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167187"/>
            <a:ext cx="30734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Isolation forest clipping, UTC temporal safety, and univariate correlation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53125" y="2614612"/>
            <a:ext cx="5629275" cy="2609850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67450" y="3243262"/>
            <a:ext cx="500062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67450" y="3890962"/>
            <a:ext cx="500062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7450" y="3729037"/>
            <a:ext cx="500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67450" y="4376737"/>
            <a:ext cx="500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O01 •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Missingness Classification &amp; KNN Imputation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2928937"/>
            <a:ext cx="5924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STRATEGY DECISION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28937"/>
            <a:ext cx="65633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MCAR vs MAR vs MNAR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33737"/>
            <a:ext cx="509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Detects random dropouts versus systematic missingness to select median imputation or explicit MNAR indicator flags (`_is_missing`).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19537"/>
            <a:ext cx="65633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Multivariate KNN 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224337"/>
            <a:ext cx="50958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Uses $k$-nearest neighbors distance weighting across numeric features to preserve non-linear structural correlations during reconstruction.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3243262"/>
            <a:ext cx="5924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Missingness &lt; 5% (MCAR)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450" y="3433762"/>
            <a:ext cx="59245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Simple Median / Mode Imputation.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7450" y="3890962"/>
            <a:ext cx="5924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Missingness 5% – 30% (MAR)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7450" y="4081462"/>
            <a:ext cx="59245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Multivariate KNN ($k=5$) Imputation.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4538662"/>
            <a:ext cx="5924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Missingness &gt; 30% (MNAR)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7450" y="4729162"/>
            <a:ext cx="59245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Preserve Sentinel &amp; Add Binary Indicator.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O02 •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Structural Hygiene &amp; Fuzzy String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80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Primary Key Deduplication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Removes duplicate primary records, keeping the latest timestamp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80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Text Case &amp; Whitespace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Strips trailing spaces, non-printable characters, and forces lowercasing.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8062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Levenshtein Fuzzy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Maps categorical typos (`m2m`, `month-to-month`) using 85% similarity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19387"/>
            <a:ext cx="5334000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19387"/>
            <a:ext cx="5334000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033712"/>
            <a:ext cx="17145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4348162"/>
            <a:ext cx="470535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62725" y="3033712"/>
            <a:ext cx="16002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62725" y="4348162"/>
            <a:ext cx="470535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O03 • OUTLIER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Univariate Statistical Outlier Clipping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071812"/>
            <a:ext cx="1619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GAUSSIAN DISTRIBUTIONS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76612"/>
            <a:ext cx="61757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Z-Score Bound Thresholding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3856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Clips feature values exceeding $|Z| &gt; 3.0$ standard deviations back to upper and lower boundary thresholds.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462462"/>
            <a:ext cx="4495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monospace"/>
              </a:rPr>
              <a:t>Z = (X - μ) / 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3071812"/>
            <a:ext cx="1504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SKEWED DISTRIBUTIONS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376612"/>
            <a:ext cx="5629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Tukey's IQR Fence Clipping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73856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Applies non-parametric interquartile fences ($1.5 \times \text{IQR}$) to handle non-normal feature distributions safely.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462462"/>
            <a:ext cx="4495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monospace"/>
              </a:rPr>
              <a:t>[Q1 - 1.5·IQR, Q3 + 1.5·IQR]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081462"/>
            <a:ext cx="5286375" cy="6477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081462"/>
            <a:ext cx="38100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2281237"/>
            <a:ext cx="5305425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90762"/>
            <a:ext cx="18954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O03 • UNSUPERVISED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Multivariate Anomaly Tagging via 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71812"/>
            <a:ext cx="693836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Density-Based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433762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Detects complex multi-feature anomalies that appear normal in univariate projections but form isolated outliers in multi-dimensional feature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33862"/>
            <a:ext cx="6179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Contamination Factor: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414837"/>
            <a:ext cx="6179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Flags top 5% extreme points with binary `is_anomaly` feature column.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35052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3194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3194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3194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O04 • TIME-SERIES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Temporal Synchronization &amp; Look-Ahead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3194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147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UTC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909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Standardizes localized time stamps strictly to UTC ISO 8601 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33194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8147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Forward-Fill Resampling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909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Fills time gaps using past observations to avoid look-ahead leakage.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550" y="33194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14762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Temporal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909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Aligns multi-source telemetry onto uniform hourly and daily aggregation bins.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64681"/>
            <a:ext cx="3505200" cy="1509712"/>
          </a:xfrm>
          <a:prstGeom prst="roundRect">
            <a:avLst>
              <a:gd name="adj" fmla="val 75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64681"/>
            <a:ext cx="3505200" cy="1509712"/>
          </a:xfrm>
          <a:prstGeom prst="roundRect">
            <a:avLst>
              <a:gd name="adj" fmla="val 75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64681"/>
            <a:ext cx="3505200" cy="1509712"/>
          </a:xfrm>
          <a:prstGeom prst="roundRect">
            <a:avLst>
              <a:gd name="adj" fmla="val 75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O05 • PRECISION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Numerical Sanitization &amp; Floating-Point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40906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Infinity Masking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5231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Replaces IEEE 754 `inf` and `-inf` values with NaN or safe threshold fallbacks.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40906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Division-by-Zero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55231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Intercepts zero denominators in ratio calculations to substitute 0.0 default.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40906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IEEE 754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55231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Rounds float noise artifacts (`0.30000000000000004`) to configured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71787"/>
          <a:ext cx="10972799" cy="1828800"/>
        </p:xfrm>
        <a:graphic>
          <a:graphicData uri="http://schemas.openxmlformats.org/drawingml/2006/table">
            <a:tbl>
              <a:tblPr/>
              <a:tblGrid>
                <a:gridCol w="279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Metric Diagnostic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Computation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Downstream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Univariate Skewness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Detects asymmetry (&gt; 1.0 or &lt; -1.0)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Flags for Log or Box-Cox transformation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Pearson Correlation Matrix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Identifies collinear feature pairs ($r &gt; 0.85$)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Guides feature redundancy removal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Missingness Heatmaps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Maps pairwise null co-occurrence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Validates MCAR vs MAR assumptions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O06 • PROFILING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Automated EDA Profiling &amp; Statistical Summaries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433762"/>
            <a:ext cx="207258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3433762"/>
            <a:ext cx="207258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3433762"/>
            <a:ext cx="207258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3433762"/>
            <a:ext cx="207258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3433762"/>
            <a:ext cx="207258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O07 •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Config-Driven Pipeline Execution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558" y="3633787"/>
            <a:ext cx="20906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292" y="3814762"/>
            <a:ext cx="219519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YAML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558" y="4043362"/>
            <a:ext cx="20906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Load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539" y="3633787"/>
            <a:ext cx="20906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3272" y="3814762"/>
            <a:ext cx="219519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Missingness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539" y="4043362"/>
            <a:ext cx="20906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KNN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0519" y="3633787"/>
            <a:ext cx="20906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253" y="3814762"/>
            <a:ext cx="219519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Hygiene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0519" y="4043362"/>
            <a:ext cx="20906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Fuzzy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5500" y="3633787"/>
            <a:ext cx="20906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233" y="3814762"/>
            <a:ext cx="219519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Outliers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5500" y="4043362"/>
            <a:ext cx="20906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Clip &amp;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480" y="3633787"/>
            <a:ext cx="20906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213" y="3814762"/>
            <a:ext cx="219519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480" y="4043362"/>
            <a:ext cx="209066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Save Silver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718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PRODUCTION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Data Preprocessing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80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Zero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Fit all imputation and outlier parameters strictly on training partition fold.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8062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Idempotency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Ensure pipeline execution produces identical outputs regardless of rerun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8062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Config Decoupling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2387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Never hardcode numeric thresholds; isolate parameters inside YAML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91125" y="2295525"/>
            <a:ext cx="1809750" cy="276225"/>
          </a:xfrm>
          <a:prstGeom prst="roundRect">
            <a:avLst>
              <a:gd name="adj" fmla="val 2068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0" y="452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98256" y="2352675"/>
            <a:ext cx="19954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STAGE 03 HAND-OFF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4158" y="2800350"/>
            <a:ext cx="946368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Stage 3 Preprocessing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571875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Next Up: Stage 4 — Feature Engineering, Scaling, Transformations &amp; Selection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6929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https://cms.jaro.in/wp-content/uploads/2025/10/How-Data-Analytics-Works-768x384-1.webp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940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www.jaroeducation.com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</vt:lpstr>
      <vt:lpstr>monospace</vt:lpstr>
      <vt:lpstr>Calibri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Ali</cp:lastModifiedBy>
  <cp:revision>1</cp:revision>
  <dcterms:created xsi:type="dcterms:W3CDTF">2013-01-27T09:14:16Z</dcterms:created>
  <dcterms:modified xsi:type="dcterms:W3CDTF">2026-10-21T06:45:15Z</dcterms:modified>
  <cp:category/>
</cp:coreProperties>
</file>