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1.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notesSlides/notesSlide2.xml" ContentType="application/vnd.openxmlformats-officedocument.presentationml.notesSlide+xml"/>
  <Override PartName="/ppt/ink/ink10.xml" ContentType="application/inkml+xml"/>
  <Override PartName="/ppt/ink/ink11.xml" ContentType="application/inkml+xml"/>
  <Override PartName="/ppt/ink/ink12.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5"/>
  </p:notesMasterIdLst>
  <p:sldIdLst>
    <p:sldId id="259" r:id="rId2"/>
    <p:sldId id="263" r:id="rId3"/>
    <p:sldId id="270" r:id="rId4"/>
    <p:sldId id="271" r:id="rId5"/>
    <p:sldId id="272" r:id="rId6"/>
    <p:sldId id="273" r:id="rId7"/>
    <p:sldId id="274" r:id="rId8"/>
    <p:sldId id="275" r:id="rId9"/>
    <p:sldId id="276" r:id="rId10"/>
    <p:sldId id="277" r:id="rId11"/>
    <p:sldId id="260" r:id="rId12"/>
    <p:sldId id="269" r:id="rId13"/>
    <p:sldId id="268" r:id="rId14"/>
    <p:sldId id="267" r:id="rId15"/>
    <p:sldId id="266" r:id="rId16"/>
    <p:sldId id="265" r:id="rId17"/>
    <p:sldId id="261" r:id="rId18"/>
    <p:sldId id="264" r:id="rId19"/>
    <p:sldId id="262"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596" r:id="rId58"/>
    <p:sldId id="315" r:id="rId59"/>
    <p:sldId id="597"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598" r:id="rId85"/>
    <p:sldId id="600" r:id="rId86"/>
    <p:sldId id="599" r:id="rId87"/>
    <p:sldId id="340" r:id="rId88"/>
    <p:sldId id="601" r:id="rId89"/>
    <p:sldId id="602" r:id="rId90"/>
    <p:sldId id="603" r:id="rId91"/>
    <p:sldId id="604" r:id="rId92"/>
    <p:sldId id="605" r:id="rId93"/>
    <p:sldId id="341" r:id="rId94"/>
    <p:sldId id="606" r:id="rId95"/>
    <p:sldId id="607" r:id="rId96"/>
    <p:sldId id="608" r:id="rId97"/>
    <p:sldId id="342" r:id="rId98"/>
    <p:sldId id="609" r:id="rId99"/>
    <p:sldId id="610" r:id="rId100"/>
    <p:sldId id="343" r:id="rId101"/>
    <p:sldId id="611" r:id="rId102"/>
    <p:sldId id="612" r:id="rId103"/>
    <p:sldId id="344" r:id="rId104"/>
    <p:sldId id="613" r:id="rId105"/>
    <p:sldId id="614" r:id="rId106"/>
    <p:sldId id="618" r:id="rId107"/>
    <p:sldId id="615" r:id="rId108"/>
    <p:sldId id="616" r:id="rId109"/>
    <p:sldId id="617" r:id="rId110"/>
    <p:sldId id="619" r:id="rId111"/>
    <p:sldId id="620" r:id="rId112"/>
    <p:sldId id="621" r:id="rId113"/>
    <p:sldId id="622" r:id="rId114"/>
    <p:sldId id="345" r:id="rId115"/>
    <p:sldId id="346" r:id="rId116"/>
    <p:sldId id="347" r:id="rId117"/>
    <p:sldId id="348" r:id="rId118"/>
    <p:sldId id="349" r:id="rId119"/>
    <p:sldId id="350" r:id="rId120"/>
    <p:sldId id="351" r:id="rId121"/>
    <p:sldId id="352" r:id="rId122"/>
    <p:sldId id="353" r:id="rId123"/>
    <p:sldId id="354" r:id="rId124"/>
    <p:sldId id="355" r:id="rId125"/>
    <p:sldId id="356" r:id="rId126"/>
    <p:sldId id="357" r:id="rId127"/>
    <p:sldId id="358" r:id="rId128"/>
    <p:sldId id="359" r:id="rId129"/>
    <p:sldId id="360" r:id="rId130"/>
    <p:sldId id="361" r:id="rId131"/>
    <p:sldId id="362" r:id="rId132"/>
    <p:sldId id="363" r:id="rId133"/>
    <p:sldId id="364" r:id="rId134"/>
    <p:sldId id="365" r:id="rId135"/>
    <p:sldId id="366" r:id="rId136"/>
    <p:sldId id="367" r:id="rId137"/>
    <p:sldId id="623" r:id="rId138"/>
    <p:sldId id="625" r:id="rId139"/>
    <p:sldId id="624" r:id="rId140"/>
    <p:sldId id="626" r:id="rId141"/>
    <p:sldId id="368" r:id="rId142"/>
    <p:sldId id="627" r:id="rId143"/>
    <p:sldId id="628" r:id="rId144"/>
    <p:sldId id="369" r:id="rId145"/>
    <p:sldId id="370" r:id="rId146"/>
    <p:sldId id="371" r:id="rId147"/>
    <p:sldId id="372" r:id="rId148"/>
    <p:sldId id="373" r:id="rId149"/>
    <p:sldId id="374" r:id="rId150"/>
    <p:sldId id="375" r:id="rId151"/>
    <p:sldId id="376" r:id="rId152"/>
    <p:sldId id="377" r:id="rId153"/>
    <p:sldId id="378" r:id="rId154"/>
    <p:sldId id="379" r:id="rId155"/>
    <p:sldId id="380" r:id="rId156"/>
    <p:sldId id="381" r:id="rId157"/>
    <p:sldId id="382" r:id="rId158"/>
    <p:sldId id="383" r:id="rId159"/>
    <p:sldId id="384" r:id="rId160"/>
    <p:sldId id="385" r:id="rId161"/>
    <p:sldId id="386" r:id="rId162"/>
    <p:sldId id="387" r:id="rId163"/>
    <p:sldId id="388" r:id="rId164"/>
    <p:sldId id="389" r:id="rId165"/>
    <p:sldId id="390" r:id="rId166"/>
    <p:sldId id="391" r:id="rId167"/>
    <p:sldId id="392" r:id="rId168"/>
    <p:sldId id="629" r:id="rId169"/>
    <p:sldId id="630" r:id="rId170"/>
    <p:sldId id="393" r:id="rId171"/>
    <p:sldId id="394" r:id="rId172"/>
    <p:sldId id="395" r:id="rId173"/>
    <p:sldId id="396" r:id="rId174"/>
    <p:sldId id="397" r:id="rId175"/>
    <p:sldId id="398" r:id="rId176"/>
    <p:sldId id="399" r:id="rId177"/>
    <p:sldId id="400" r:id="rId178"/>
    <p:sldId id="401" r:id="rId179"/>
    <p:sldId id="402" r:id="rId180"/>
    <p:sldId id="403" r:id="rId181"/>
    <p:sldId id="404" r:id="rId182"/>
    <p:sldId id="405" r:id="rId183"/>
    <p:sldId id="406" r:id="rId184"/>
    <p:sldId id="407" r:id="rId185"/>
    <p:sldId id="408" r:id="rId186"/>
    <p:sldId id="409" r:id="rId187"/>
    <p:sldId id="410" r:id="rId188"/>
    <p:sldId id="411" r:id="rId189"/>
    <p:sldId id="412" r:id="rId190"/>
    <p:sldId id="413" r:id="rId191"/>
    <p:sldId id="414" r:id="rId192"/>
    <p:sldId id="415" r:id="rId193"/>
    <p:sldId id="416" r:id="rId194"/>
    <p:sldId id="417" r:id="rId195"/>
    <p:sldId id="418" r:id="rId196"/>
    <p:sldId id="419" r:id="rId197"/>
    <p:sldId id="420" r:id="rId198"/>
    <p:sldId id="631" r:id="rId199"/>
    <p:sldId id="421" r:id="rId200"/>
    <p:sldId id="632" r:id="rId201"/>
    <p:sldId id="422" r:id="rId202"/>
    <p:sldId id="423" r:id="rId203"/>
    <p:sldId id="424" r:id="rId204"/>
    <p:sldId id="425" r:id="rId205"/>
    <p:sldId id="633" r:id="rId206"/>
    <p:sldId id="634" r:id="rId207"/>
    <p:sldId id="426" r:id="rId208"/>
    <p:sldId id="427" r:id="rId209"/>
    <p:sldId id="635" r:id="rId210"/>
    <p:sldId id="636" r:id="rId211"/>
    <p:sldId id="637" r:id="rId212"/>
    <p:sldId id="638" r:id="rId213"/>
    <p:sldId id="428" r:id="rId214"/>
    <p:sldId id="429" r:id="rId215"/>
    <p:sldId id="639" r:id="rId216"/>
    <p:sldId id="640" r:id="rId217"/>
    <p:sldId id="641" r:id="rId218"/>
    <p:sldId id="430" r:id="rId219"/>
    <p:sldId id="431" r:id="rId220"/>
    <p:sldId id="432" r:id="rId221"/>
    <p:sldId id="433" r:id="rId222"/>
    <p:sldId id="434" r:id="rId223"/>
    <p:sldId id="435" r:id="rId224"/>
    <p:sldId id="436" r:id="rId225"/>
    <p:sldId id="437" r:id="rId226"/>
    <p:sldId id="438" r:id="rId227"/>
    <p:sldId id="439" r:id="rId228"/>
    <p:sldId id="440" r:id="rId229"/>
    <p:sldId id="441" r:id="rId230"/>
    <p:sldId id="442" r:id="rId231"/>
    <p:sldId id="443" r:id="rId232"/>
    <p:sldId id="444" r:id="rId233"/>
    <p:sldId id="445" r:id="rId234"/>
    <p:sldId id="446" r:id="rId235"/>
    <p:sldId id="447" r:id="rId236"/>
    <p:sldId id="448" r:id="rId237"/>
    <p:sldId id="449" r:id="rId238"/>
    <p:sldId id="450" r:id="rId239"/>
    <p:sldId id="451" r:id="rId240"/>
    <p:sldId id="452" r:id="rId241"/>
    <p:sldId id="453" r:id="rId242"/>
    <p:sldId id="454" r:id="rId243"/>
    <p:sldId id="455" r:id="rId244"/>
    <p:sldId id="456" r:id="rId245"/>
    <p:sldId id="457" r:id="rId246"/>
    <p:sldId id="458" r:id="rId247"/>
    <p:sldId id="459" r:id="rId248"/>
    <p:sldId id="460" r:id="rId249"/>
    <p:sldId id="461" r:id="rId250"/>
    <p:sldId id="462" r:id="rId251"/>
    <p:sldId id="463" r:id="rId252"/>
    <p:sldId id="464" r:id="rId253"/>
    <p:sldId id="465" r:id="rId254"/>
    <p:sldId id="466" r:id="rId255"/>
    <p:sldId id="467" r:id="rId256"/>
    <p:sldId id="468" r:id="rId257"/>
    <p:sldId id="469" r:id="rId258"/>
    <p:sldId id="470" r:id="rId259"/>
    <p:sldId id="471" r:id="rId260"/>
    <p:sldId id="472" r:id="rId261"/>
    <p:sldId id="473" r:id="rId262"/>
    <p:sldId id="474" r:id="rId263"/>
    <p:sldId id="475" r:id="rId264"/>
    <p:sldId id="476" r:id="rId265"/>
    <p:sldId id="477" r:id="rId266"/>
    <p:sldId id="478" r:id="rId267"/>
    <p:sldId id="479" r:id="rId268"/>
    <p:sldId id="480" r:id="rId269"/>
    <p:sldId id="481" r:id="rId270"/>
    <p:sldId id="482" r:id="rId271"/>
    <p:sldId id="483" r:id="rId272"/>
    <p:sldId id="484" r:id="rId273"/>
    <p:sldId id="485" r:id="rId274"/>
    <p:sldId id="486" r:id="rId275"/>
    <p:sldId id="487" r:id="rId276"/>
    <p:sldId id="488" r:id="rId277"/>
    <p:sldId id="489" r:id="rId278"/>
    <p:sldId id="490" r:id="rId279"/>
    <p:sldId id="491" r:id="rId280"/>
    <p:sldId id="492" r:id="rId281"/>
    <p:sldId id="493" r:id="rId282"/>
    <p:sldId id="494" r:id="rId283"/>
    <p:sldId id="495" r:id="rId284"/>
    <p:sldId id="496" r:id="rId285"/>
    <p:sldId id="497" r:id="rId286"/>
    <p:sldId id="498" r:id="rId287"/>
    <p:sldId id="499" r:id="rId288"/>
    <p:sldId id="500" r:id="rId289"/>
    <p:sldId id="501" r:id="rId290"/>
    <p:sldId id="502" r:id="rId291"/>
    <p:sldId id="503" r:id="rId292"/>
    <p:sldId id="504" r:id="rId293"/>
    <p:sldId id="505" r:id="rId294"/>
    <p:sldId id="506" r:id="rId295"/>
    <p:sldId id="507" r:id="rId296"/>
    <p:sldId id="508" r:id="rId297"/>
    <p:sldId id="509" r:id="rId298"/>
    <p:sldId id="510" r:id="rId299"/>
    <p:sldId id="511" r:id="rId300"/>
    <p:sldId id="512" r:id="rId301"/>
    <p:sldId id="513" r:id="rId302"/>
    <p:sldId id="514" r:id="rId303"/>
    <p:sldId id="515" r:id="rId304"/>
    <p:sldId id="516" r:id="rId305"/>
    <p:sldId id="517" r:id="rId306"/>
    <p:sldId id="518" r:id="rId307"/>
    <p:sldId id="519" r:id="rId308"/>
    <p:sldId id="520" r:id="rId309"/>
    <p:sldId id="521" r:id="rId310"/>
    <p:sldId id="522" r:id="rId311"/>
    <p:sldId id="523" r:id="rId312"/>
    <p:sldId id="524" r:id="rId313"/>
    <p:sldId id="525" r:id="rId314"/>
    <p:sldId id="526" r:id="rId315"/>
    <p:sldId id="527" r:id="rId316"/>
    <p:sldId id="528" r:id="rId317"/>
    <p:sldId id="529" r:id="rId318"/>
    <p:sldId id="530" r:id="rId319"/>
    <p:sldId id="531" r:id="rId320"/>
    <p:sldId id="532" r:id="rId321"/>
    <p:sldId id="533" r:id="rId322"/>
    <p:sldId id="534" r:id="rId323"/>
    <p:sldId id="535" r:id="rId324"/>
    <p:sldId id="536" r:id="rId325"/>
    <p:sldId id="537" r:id="rId326"/>
    <p:sldId id="538" r:id="rId327"/>
    <p:sldId id="539" r:id="rId328"/>
    <p:sldId id="540" r:id="rId329"/>
    <p:sldId id="541" r:id="rId330"/>
    <p:sldId id="542" r:id="rId331"/>
    <p:sldId id="543" r:id="rId332"/>
    <p:sldId id="544" r:id="rId333"/>
    <p:sldId id="545" r:id="rId334"/>
    <p:sldId id="546" r:id="rId335"/>
    <p:sldId id="547" r:id="rId336"/>
    <p:sldId id="548" r:id="rId337"/>
    <p:sldId id="549" r:id="rId338"/>
    <p:sldId id="550" r:id="rId339"/>
    <p:sldId id="551" r:id="rId340"/>
    <p:sldId id="552" r:id="rId341"/>
    <p:sldId id="553" r:id="rId342"/>
    <p:sldId id="554" r:id="rId343"/>
    <p:sldId id="555" r:id="rId344"/>
    <p:sldId id="556" r:id="rId345"/>
    <p:sldId id="557" r:id="rId346"/>
    <p:sldId id="558" r:id="rId347"/>
    <p:sldId id="559" r:id="rId348"/>
    <p:sldId id="560" r:id="rId349"/>
    <p:sldId id="561" r:id="rId350"/>
    <p:sldId id="562" r:id="rId351"/>
    <p:sldId id="563" r:id="rId352"/>
    <p:sldId id="564" r:id="rId353"/>
    <p:sldId id="565" r:id="rId354"/>
    <p:sldId id="566" r:id="rId355"/>
    <p:sldId id="567" r:id="rId356"/>
    <p:sldId id="568" r:id="rId357"/>
    <p:sldId id="569" r:id="rId358"/>
    <p:sldId id="570" r:id="rId359"/>
    <p:sldId id="571" r:id="rId360"/>
    <p:sldId id="572" r:id="rId361"/>
    <p:sldId id="573" r:id="rId362"/>
    <p:sldId id="574" r:id="rId363"/>
    <p:sldId id="575" r:id="rId364"/>
    <p:sldId id="576" r:id="rId365"/>
    <p:sldId id="577" r:id="rId366"/>
    <p:sldId id="578" r:id="rId367"/>
    <p:sldId id="579" r:id="rId368"/>
    <p:sldId id="580" r:id="rId369"/>
    <p:sldId id="581" r:id="rId370"/>
    <p:sldId id="582" r:id="rId371"/>
    <p:sldId id="583" r:id="rId372"/>
    <p:sldId id="584" r:id="rId373"/>
    <p:sldId id="585" r:id="rId374"/>
    <p:sldId id="586" r:id="rId375"/>
    <p:sldId id="587" r:id="rId376"/>
    <p:sldId id="588" r:id="rId377"/>
    <p:sldId id="589" r:id="rId378"/>
    <p:sldId id="590" r:id="rId379"/>
    <p:sldId id="591" r:id="rId380"/>
    <p:sldId id="592" r:id="rId381"/>
    <p:sldId id="593" r:id="rId382"/>
    <p:sldId id="594" r:id="rId383"/>
    <p:sldId id="595" r:id="rId3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166" userDrawn="1">
          <p15:clr>
            <a:srgbClr val="A4A3A4"/>
          </p15:clr>
        </p15:guide>
        <p15:guide id="4" pos="75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76" autoAdjust="0"/>
    <p:restoredTop sz="82694" autoAdjust="0"/>
  </p:normalViewPr>
  <p:slideViewPr>
    <p:cSldViewPr snapToGrid="0" showGuides="1">
      <p:cViewPr varScale="1">
        <p:scale>
          <a:sx n="80" d="100"/>
          <a:sy n="80" d="100"/>
        </p:scale>
        <p:origin x="866" y="34"/>
      </p:cViewPr>
      <p:guideLst>
        <p:guide orient="horz" pos="2160"/>
        <p:guide pos="3840"/>
        <p:guide pos="166"/>
        <p:guide pos="7514"/>
      </p:guideLst>
    </p:cSldViewPr>
  </p:slideViewPr>
  <p:outlineViewPr>
    <p:cViewPr>
      <p:scale>
        <a:sx n="33" d="100"/>
        <a:sy n="33" d="100"/>
      </p:scale>
      <p:origin x="0" y="-4505"/>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366" Type="http://schemas.openxmlformats.org/officeDocument/2006/relationships/slide" Target="slides/slide365.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377" Type="http://schemas.openxmlformats.org/officeDocument/2006/relationships/slide" Target="slides/slide376.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388" Type="http://schemas.openxmlformats.org/officeDocument/2006/relationships/theme" Target="theme/theme1.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357" Type="http://schemas.openxmlformats.org/officeDocument/2006/relationships/slide" Target="slides/slide356.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368" Type="http://schemas.openxmlformats.org/officeDocument/2006/relationships/slide" Target="slides/slide367.xml"/><Relationship Id="rId172" Type="http://schemas.openxmlformats.org/officeDocument/2006/relationships/slide" Target="slides/slide171.xml"/><Relationship Id="rId228" Type="http://schemas.openxmlformats.org/officeDocument/2006/relationships/slide" Target="slides/slide227.xml"/><Relationship Id="rId281" Type="http://schemas.openxmlformats.org/officeDocument/2006/relationships/slide" Target="slides/slide280.xml"/><Relationship Id="rId337" Type="http://schemas.openxmlformats.org/officeDocument/2006/relationships/slide" Target="slides/slide336.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379" Type="http://schemas.openxmlformats.org/officeDocument/2006/relationships/slide" Target="slides/slide378.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348" Type="http://schemas.openxmlformats.org/officeDocument/2006/relationships/slide" Target="slides/slide347.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261" Type="http://schemas.openxmlformats.org/officeDocument/2006/relationships/slide" Target="slides/slide260.xml"/><Relationship Id="rId14" Type="http://schemas.openxmlformats.org/officeDocument/2006/relationships/slide" Target="slides/slide13.xml"/><Relationship Id="rId56" Type="http://schemas.openxmlformats.org/officeDocument/2006/relationships/slide" Target="slides/slide55.xml"/><Relationship Id="rId317" Type="http://schemas.openxmlformats.org/officeDocument/2006/relationships/slide" Target="slides/slide316.xml"/><Relationship Id="rId359" Type="http://schemas.openxmlformats.org/officeDocument/2006/relationships/slide" Target="slides/slide358.xml"/><Relationship Id="rId98" Type="http://schemas.openxmlformats.org/officeDocument/2006/relationships/slide" Target="slides/slide97.xml"/><Relationship Id="rId121" Type="http://schemas.openxmlformats.org/officeDocument/2006/relationships/slide" Target="slides/slide120.xml"/><Relationship Id="rId163" Type="http://schemas.openxmlformats.org/officeDocument/2006/relationships/slide" Target="slides/slide162.xml"/><Relationship Id="rId219" Type="http://schemas.openxmlformats.org/officeDocument/2006/relationships/slide" Target="slides/slide218.xml"/><Relationship Id="rId370" Type="http://schemas.openxmlformats.org/officeDocument/2006/relationships/slide" Target="slides/slide369.xml"/><Relationship Id="rId230" Type="http://schemas.openxmlformats.org/officeDocument/2006/relationships/slide" Target="slides/slide229.xml"/><Relationship Id="rId25" Type="http://schemas.openxmlformats.org/officeDocument/2006/relationships/slide" Target="slides/slide24.xml"/><Relationship Id="rId67" Type="http://schemas.openxmlformats.org/officeDocument/2006/relationships/slide" Target="slides/slide66.xml"/><Relationship Id="rId272" Type="http://schemas.openxmlformats.org/officeDocument/2006/relationships/slide" Target="slides/slide271.xml"/><Relationship Id="rId328" Type="http://schemas.openxmlformats.org/officeDocument/2006/relationships/slide" Target="slides/slide327.xml"/><Relationship Id="rId132" Type="http://schemas.openxmlformats.org/officeDocument/2006/relationships/slide" Target="slides/slide131.xml"/><Relationship Id="rId174" Type="http://schemas.openxmlformats.org/officeDocument/2006/relationships/slide" Target="slides/slide173.xml"/><Relationship Id="rId381" Type="http://schemas.openxmlformats.org/officeDocument/2006/relationships/slide" Target="slides/slide380.xml"/><Relationship Id="rId241" Type="http://schemas.openxmlformats.org/officeDocument/2006/relationships/slide" Target="slides/slide240.xml"/><Relationship Id="rId36" Type="http://schemas.openxmlformats.org/officeDocument/2006/relationships/slide" Target="slides/slide35.xml"/><Relationship Id="rId283" Type="http://schemas.openxmlformats.org/officeDocument/2006/relationships/slide" Target="slides/slide282.xml"/><Relationship Id="rId339" Type="http://schemas.openxmlformats.org/officeDocument/2006/relationships/slide" Target="slides/slide338.xml"/><Relationship Id="rId78" Type="http://schemas.openxmlformats.org/officeDocument/2006/relationships/slide" Target="slides/slide77.xml"/><Relationship Id="rId101" Type="http://schemas.openxmlformats.org/officeDocument/2006/relationships/slide" Target="slides/slide100.xml"/><Relationship Id="rId143" Type="http://schemas.openxmlformats.org/officeDocument/2006/relationships/slide" Target="slides/slide142.xml"/><Relationship Id="rId185" Type="http://schemas.openxmlformats.org/officeDocument/2006/relationships/slide" Target="slides/slide184.xml"/><Relationship Id="rId350" Type="http://schemas.openxmlformats.org/officeDocument/2006/relationships/slide" Target="slides/slide349.xml"/><Relationship Id="rId9" Type="http://schemas.openxmlformats.org/officeDocument/2006/relationships/slide" Target="slides/slide8.xml"/><Relationship Id="rId210" Type="http://schemas.openxmlformats.org/officeDocument/2006/relationships/slide" Target="slides/slide209.xml"/><Relationship Id="rId252" Type="http://schemas.openxmlformats.org/officeDocument/2006/relationships/slide" Target="slides/slide251.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89" Type="http://schemas.openxmlformats.org/officeDocument/2006/relationships/slide" Target="slides/slide88.xml"/><Relationship Id="rId112" Type="http://schemas.openxmlformats.org/officeDocument/2006/relationships/slide" Target="slides/slide111.xml"/><Relationship Id="rId154" Type="http://schemas.openxmlformats.org/officeDocument/2006/relationships/slide" Target="slides/slide153.xml"/><Relationship Id="rId361" Type="http://schemas.openxmlformats.org/officeDocument/2006/relationships/slide" Target="slides/slide360.xml"/><Relationship Id="rId196" Type="http://schemas.openxmlformats.org/officeDocument/2006/relationships/slide" Target="slides/slide195.xml"/><Relationship Id="rId200" Type="http://schemas.openxmlformats.org/officeDocument/2006/relationships/slide" Target="slides/slide199.xml"/><Relationship Id="rId382" Type="http://schemas.openxmlformats.org/officeDocument/2006/relationships/slide" Target="slides/slide381.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351" Type="http://schemas.openxmlformats.org/officeDocument/2006/relationships/slide" Target="slides/slide350.xml"/><Relationship Id="rId372" Type="http://schemas.openxmlformats.org/officeDocument/2006/relationships/slide" Target="slides/slide371.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362" Type="http://schemas.openxmlformats.org/officeDocument/2006/relationships/slide" Target="slides/slide361.xml"/><Relationship Id="rId383" Type="http://schemas.openxmlformats.org/officeDocument/2006/relationships/slide" Target="slides/slide382.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352" Type="http://schemas.openxmlformats.org/officeDocument/2006/relationships/slide" Target="slides/slide351.xml"/><Relationship Id="rId373" Type="http://schemas.openxmlformats.org/officeDocument/2006/relationships/slide" Target="slides/slide372.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363" Type="http://schemas.openxmlformats.org/officeDocument/2006/relationships/slide" Target="slides/slide362.xml"/><Relationship Id="rId384" Type="http://schemas.openxmlformats.org/officeDocument/2006/relationships/slide" Target="slides/slide383.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slide" Target="slides/slide352.xml"/><Relationship Id="rId374" Type="http://schemas.openxmlformats.org/officeDocument/2006/relationships/slide" Target="slides/slide373.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364" Type="http://schemas.openxmlformats.org/officeDocument/2006/relationships/slide" Target="slides/slide363.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385" Type="http://schemas.openxmlformats.org/officeDocument/2006/relationships/notesMaster" Target="notesMasters/notesMaster1.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75" Type="http://schemas.openxmlformats.org/officeDocument/2006/relationships/slide" Target="slides/slide374.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365" Type="http://schemas.openxmlformats.org/officeDocument/2006/relationships/slide" Target="slides/slide364.xml"/><Relationship Id="rId386" Type="http://schemas.openxmlformats.org/officeDocument/2006/relationships/presProps" Target="presProps.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376" Type="http://schemas.openxmlformats.org/officeDocument/2006/relationships/slide" Target="slides/slide375.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387" Type="http://schemas.openxmlformats.org/officeDocument/2006/relationships/viewProps" Target="viewProps.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slide" Target="slides/slide355.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367" Type="http://schemas.openxmlformats.org/officeDocument/2006/relationships/slide" Target="slides/slide366.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378" Type="http://schemas.openxmlformats.org/officeDocument/2006/relationships/slide" Target="slides/slide377.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389" Type="http://schemas.openxmlformats.org/officeDocument/2006/relationships/tableStyles" Target="tableStyles.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358" Type="http://schemas.openxmlformats.org/officeDocument/2006/relationships/slide" Target="slides/slide357.xml"/><Relationship Id="rId162" Type="http://schemas.openxmlformats.org/officeDocument/2006/relationships/slide" Target="slides/slide161.xml"/><Relationship Id="rId218" Type="http://schemas.openxmlformats.org/officeDocument/2006/relationships/slide" Target="slides/slide217.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369" Type="http://schemas.openxmlformats.org/officeDocument/2006/relationships/slide" Target="slides/slide368.xml"/><Relationship Id="rId173" Type="http://schemas.openxmlformats.org/officeDocument/2006/relationships/slide" Target="slides/slide172.xml"/><Relationship Id="rId229" Type="http://schemas.openxmlformats.org/officeDocument/2006/relationships/slide" Target="slides/slide228.xml"/><Relationship Id="rId380" Type="http://schemas.openxmlformats.org/officeDocument/2006/relationships/slide" Target="slides/slide379.xml"/><Relationship Id="rId240" Type="http://schemas.openxmlformats.org/officeDocument/2006/relationships/slide" Target="slides/slide239.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 Id="rId8" Type="http://schemas.openxmlformats.org/officeDocument/2006/relationships/slide" Target="slides/slide7.xml"/><Relationship Id="rId142" Type="http://schemas.openxmlformats.org/officeDocument/2006/relationships/slide" Target="slides/slide141.xml"/><Relationship Id="rId184" Type="http://schemas.openxmlformats.org/officeDocument/2006/relationships/slide" Target="slides/slide183.xml"/><Relationship Id="rId251" Type="http://schemas.openxmlformats.org/officeDocument/2006/relationships/slide" Target="slides/slide250.xml"/><Relationship Id="rId46" Type="http://schemas.openxmlformats.org/officeDocument/2006/relationships/slide" Target="slides/slide45.xml"/><Relationship Id="rId293" Type="http://schemas.openxmlformats.org/officeDocument/2006/relationships/slide" Target="slides/slide292.xml"/><Relationship Id="rId307" Type="http://schemas.openxmlformats.org/officeDocument/2006/relationships/slide" Target="slides/slide306.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53" Type="http://schemas.openxmlformats.org/officeDocument/2006/relationships/slide" Target="slides/slide152.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220" Type="http://schemas.openxmlformats.org/officeDocument/2006/relationships/slide" Target="slides/slide219.xml"/><Relationship Id="rId15" Type="http://schemas.openxmlformats.org/officeDocument/2006/relationships/slide" Target="slides/slide14.xml"/><Relationship Id="rId57" Type="http://schemas.openxmlformats.org/officeDocument/2006/relationships/slide" Target="slides/slide56.xml"/><Relationship Id="rId262" Type="http://schemas.openxmlformats.org/officeDocument/2006/relationships/slide" Target="slides/slide261.xml"/><Relationship Id="rId318" Type="http://schemas.openxmlformats.org/officeDocument/2006/relationships/slide" Target="slides/slide317.xml"/><Relationship Id="rId99" Type="http://schemas.openxmlformats.org/officeDocument/2006/relationships/slide" Target="slides/slide98.xml"/><Relationship Id="rId122" Type="http://schemas.openxmlformats.org/officeDocument/2006/relationships/slide" Target="slides/slide121.xml"/><Relationship Id="rId164" Type="http://schemas.openxmlformats.org/officeDocument/2006/relationships/slide" Target="slides/slide163.xml"/><Relationship Id="rId371" Type="http://schemas.openxmlformats.org/officeDocument/2006/relationships/slide" Target="slides/slide370.xml"/><Relationship Id="rId26" Type="http://schemas.openxmlformats.org/officeDocument/2006/relationships/slide" Target="slides/slide25.xml"/><Relationship Id="rId231" Type="http://schemas.openxmlformats.org/officeDocument/2006/relationships/slide" Target="slides/slide230.xml"/><Relationship Id="rId273" Type="http://schemas.openxmlformats.org/officeDocument/2006/relationships/slide" Target="slides/slide272.xml"/><Relationship Id="rId329" Type="http://schemas.openxmlformats.org/officeDocument/2006/relationships/slide" Target="slides/slide328.xml"/><Relationship Id="rId68" Type="http://schemas.openxmlformats.org/officeDocument/2006/relationships/slide" Target="slides/slide67.xml"/><Relationship Id="rId133" Type="http://schemas.openxmlformats.org/officeDocument/2006/relationships/slide" Target="slides/slide132.xml"/><Relationship Id="rId175" Type="http://schemas.openxmlformats.org/officeDocument/2006/relationships/slide" Target="slides/slide174.xml"/><Relationship Id="rId340" Type="http://schemas.openxmlformats.org/officeDocument/2006/relationships/slide" Target="slides/slide339.xml"/></Relationships>
</file>

<file path=ppt/ink/ink1.xml><?xml version="1.0" encoding="utf-8"?>
<inkml:ink xmlns:inkml="http://www.w3.org/2003/InkML">
  <inkml:definitions>
    <inkml:context xml:id="ctx0">
      <inkml:inkSource xml:id="inkSrc0">
        <inkml:traceFormat>
          <inkml:channel name="X" type="integer" max="5760" units="cm"/>
          <inkml:channel name="Y" type="integer" max="2400" units="cm"/>
          <inkml:channel name="T" type="integer" max="2.14748E9" units="dev"/>
        </inkml:traceFormat>
        <inkml:channelProperties>
          <inkml:channelProperty channel="X" name="resolution" value="171.42857" units="1/cm"/>
          <inkml:channelProperty channel="Y" name="resolution" value="114.28571" units="1/cm"/>
          <inkml:channelProperty channel="T" name="resolution" value="1" units="1/dev"/>
        </inkml:channelProperties>
      </inkml:inkSource>
      <inkml:timestamp xml:id="ts0" timeString="2026-10-22T08:50:05.794"/>
    </inkml:context>
    <inkml:brush xml:id="br0">
      <inkml:brushProperty name="width" value="0.05292" units="cm"/>
      <inkml:brushProperty name="height" value="0.05292" units="cm"/>
      <inkml:brushProperty name="color" value="#FF0000"/>
    </inkml:brush>
  </inkml:definitions>
  <inkml:trace contextRef="#ctx0" brushRef="#br0">10037 7355 0,'0'-17'109,"52"17"-78,54 0 1,106 0-1,88 0 0,-89 0 0,-158 0-15,36 0 0,-37 0-16,1 0 15,36 0 1,-36 0-1,-18 0 1,0 0 0,0 0-1,54 0 1,-19 0 0,54 0-1,-36 0 1,0 0-1,35 0 1,-70 0 0,0-36-1,35 36 1,-52-17 0,17 17-1,-18 0 1,0 0-1,18 0 1,-18 0 0,1 0-1,-1 0 1,0 0 0,1 0-1,-19 0-15,18 0 16,89 0-1,-36 17 1,-17 1 15,17 17-15,-53-17 0,36 0-1,-18-18 1,-18 17-1,-17-17 1,17 18 0,18-18-1,0 0 17,0 0-17,-18 0 1,35 0-1,-34 0 1,17 0 15,-1 0-15,-16 0 0,17 0-1,-36 0 1,19 0-1,-19 0 1,1 0 15,0 0-15,-1 0 0,1 0 46,-1 0 16</inkml:trace>
</inkml:ink>
</file>

<file path=ppt/ink/ink2.xml><?xml version="1.0" encoding="utf-8"?>
<inkml:ink xmlns:inkml="http://www.w3.org/2003/InkML">
  <inkml:definitions>
    <inkml:context xml:id="ctx0">
      <inkml:inkSource xml:id="inkSrc0">
        <inkml:traceFormat>
          <inkml:channel name="X" type="integer" max="5760" units="cm"/>
          <inkml:channel name="Y" type="integer" max="2400" units="cm"/>
          <inkml:channel name="T" type="integer" max="2.14748E9" units="dev"/>
        </inkml:traceFormat>
        <inkml:channelProperties>
          <inkml:channelProperty channel="X" name="resolution" value="171.42857" units="1/cm"/>
          <inkml:channelProperty channel="Y" name="resolution" value="114.28571" units="1/cm"/>
          <inkml:channelProperty channel="T" name="resolution" value="1" units="1/dev"/>
        </inkml:channelProperties>
      </inkml:inkSource>
      <inkml:timestamp xml:id="ts0" timeString="2026-10-22T08:50:42.290"/>
    </inkml:context>
    <inkml:brush xml:id="br0">
      <inkml:brushProperty name="width" value="0.05292" units="cm"/>
      <inkml:brushProperty name="height" value="0.05292" units="cm"/>
      <inkml:brushProperty name="color" value="#FF0000"/>
    </inkml:brush>
  </inkml:definitions>
  <inkml:trace contextRef="#ctx0" brushRef="#br0">18838 12418 0,'18'0'140,"0"0"-124,-1 0-16,19 0 31,-1 0-15,0 0-1,-17 0 1,17-18 0,0 18-1,36 0 1,-18 0-1,35-18 1,-18 18 15,-34-17-31,-1 17 32,0 0-17,1 0 1,-19 0 15,19 0-15,-19 0-1,18 0 1,-17 0 0,17 0-1,-17 0 1,17 0-1,-17 0 1,17 0 0,0 0-1,1 0 1,-19 0 0,1 0-1,17 0 1,1 0-1,-19 0 1,18 0 0,1 0-1,-19 0 1,36 17 0,0-17-1,-35 18 16,0-18 1,-1 0-1,1 0 47</inkml:trace>
  <inkml:trace contextRef="#ctx0" brushRef="#br0" timeOffset="11664.5">2822 12524 0,'18'0'203,"-1"0"-187,72 0-1,17 17 1,176 19 0,-53-19-1,-70-17 1,-18 0 0,-71 0-16,36 18 15,0-1 1,-53-17-1,71 18 1,-1 0 15,-17 17-15,-36-35 0,-17 0-1,-35 0 16,17 0-15,-17 0 0,-1 0-1,1 0-15,17 0 16,1 0 0,-1 0-1,53 0 1,18 0-1,88 0 17,0 0-17,18 0 1,-36 0 0,-88 0-1,18 0 1,-35 0-1,-36 0-15,53 0 16,-35-18 0,35 18-1,-17 0 1,-18-35 0,0 35-1,0-18 1,-18 18-1,0 0 17,-17 0-17,-1 0 17,1 0-17,0 0 32,17 0-31,-17-17-1,-1 17 1,19-18 15,-19 18 32</inkml:trace>
</inkml:ink>
</file>

<file path=ppt/ink/ink3.xml><?xml version="1.0" encoding="utf-8"?>
<inkml:ink xmlns:inkml="http://www.w3.org/2003/InkML">
  <inkml:definitions>
    <inkml:context xml:id="ctx0">
      <inkml:inkSource xml:id="inkSrc0">
        <inkml:traceFormat>
          <inkml:channel name="X" type="integer" max="5760" units="cm"/>
          <inkml:channel name="Y" type="integer" max="2400" units="cm"/>
          <inkml:channel name="T" type="integer" max="2.14748E9" units="dev"/>
        </inkml:traceFormat>
        <inkml:channelProperties>
          <inkml:channelProperty channel="X" name="resolution" value="171.42857" units="1/cm"/>
          <inkml:channelProperty channel="Y" name="resolution" value="114.28571" units="1/cm"/>
          <inkml:channelProperty channel="T" name="resolution" value="1" units="1/dev"/>
        </inkml:channelProperties>
      </inkml:inkSource>
      <inkml:timestamp xml:id="ts0" timeString="2026-10-22T08:51:15.435"/>
    </inkml:context>
    <inkml:brush xml:id="br0">
      <inkml:brushProperty name="width" value="0.05292" units="cm"/>
      <inkml:brushProperty name="height" value="0.05292" units="cm"/>
      <inkml:brushProperty name="color" value="#FF0000"/>
    </inkml:brush>
  </inkml:definitions>
  <inkml:trace contextRef="#ctx0" brushRef="#br0">2487 5715 0,'18'-18'78,"-1"1"-47,19 17 1,-1 0-17,-17 0 1,17-18 0,-18 18-16,36 0 31,36 0-16,69 0 17,19 0-17,-54 0 1,-52 0 0,-18 0-1,-36 0 1,54 0-1,-54 0 1,1 0-16,0 0 16,17 0-16,18 0 31,-18 18-15,-17-18-1,17 0 1,-17 0-1,-1 17 17,19-17-17,-1 0 1,18 0 0,17 18-1,1 0 1,-18-18-1,-18 0-15,0 0 16,54 0 0,17 0-1,-18 0 1,-35 0 0,17 0-1,-35 0 1,36 0-1,52 0 17,-34 0-17,-36 0-15,-18 0 16,35 0 0,-52 0-16,17 0 15,54 0 1,-19 0-1,36 0 1,-18 0 0,0 0-1,1 0 1,-54 0 0,0 0-1,18 0 1,0 0-1,0 0 1,17 0 15,-17 0-15,-17 0 0,-19 0-1,1 0 1,-1 0-1,1 0 1,0 0 0,-1 0-1,1 0-15,0 0 47,-1 0-31,1 0-1,0 0 17,-1 0-17,1 0 17,17 0-17,-17 0 16,-1 0-15,1 0-16,0 0 31,-1 0-15,1 0 0,0 0 46,-1 0-31</inkml:trace>
  <inkml:trace contextRef="#ctx0" brushRef="#br0" timeOffset="10231.08">7849 5697 0,'88'0'187,"212"0"-156,-17 0 1,-213 0-17,-35 0-15,36 0 16,52 0 0,-34 0-16,87 0 15,-35 0 1,-35 0-1,17 0 1,-34 0 0,-1 0-1,-18 0 1,19 0 0,-19 0-1,-17 0 1,88 18-1,0-18 17,-17 0-17,-36 0 1,53 0 0,-70 0-1,34 0 1,-69 18-1,17-1 1,52-17 0,54 36-1,35-36 1,0 0 0,0 0-1,-123 0-15,52 0 16,-52 0-1,-1 0 17,1 0-17,17 0 1,-35 0 0,18 0-1,-18 0 1,17 0-1,-35 0 1,-17 0-16,17 0 16,1 0-16,17 0 15,70 0 1,-17 0 0,17 0-1,-52 0 1,-36 0-1,36 0 17,-18 0-17,-18 17 1,18-17 0,-18 0-1,-17 0 1,17 0-16,-17 0 31,-1 0-15,1 0-1,17 0 17,-17 0-17,-1 0 1</inkml:trace>
</inkml:ink>
</file>

<file path=ppt/ink/ink4.xml><?xml version="1.0" encoding="utf-8"?>
<inkml:ink xmlns:inkml="http://www.w3.org/2003/InkML">
  <inkml:definitions>
    <inkml:context xml:id="ctx0">
      <inkml:inkSource xml:id="inkSrc0">
        <inkml:traceFormat>
          <inkml:channel name="X" type="integer" max="5760" units="cm"/>
          <inkml:channel name="Y" type="integer" max="2400" units="cm"/>
          <inkml:channel name="T" type="integer" max="2.14748E9" units="dev"/>
        </inkml:traceFormat>
        <inkml:channelProperties>
          <inkml:channelProperty channel="X" name="resolution" value="171.42857" units="1/cm"/>
          <inkml:channelProperty channel="Y" name="resolution" value="114.28571" units="1/cm"/>
          <inkml:channelProperty channel="T" name="resolution" value="1" units="1/dev"/>
        </inkml:channelProperties>
      </inkml:inkSource>
      <inkml:timestamp xml:id="ts0" timeString="2026-10-22T08:52:17.892"/>
    </inkml:context>
    <inkml:brush xml:id="br0">
      <inkml:brushProperty name="width" value="0.05292" units="cm"/>
      <inkml:brushProperty name="height" value="0.05292" units="cm"/>
      <inkml:brushProperty name="color" value="#FF0000"/>
    </inkml:brush>
  </inkml:definitions>
  <inkml:trace contextRef="#ctx0" brushRef="#br0">2417 13988 0,'17'0'250,"1"0"-203,17 0 0,-17 0 62,-1 0-31,19 0-47,-19 0 1,1 0 15,0 0-16,-1 0 0,1 0-15,-1 0-16,1 0 15,0 0 1,-1 0 0,1 0-1,0 0 1,-1 0-1,1 0 32,0 0-31,17 0 0,0 0-1,-17 0-15,-1 0 16,19 0-1,-19 0 1,54 0 0,-36 17-1,36-17 1,-18 18 0,0 0-1,-1-18 1,-16 17-1,-19-17 17,1 0-17,17 0 32,1 0-16,-19 0-15,36 0 47,18 0-32,17 0 0,35 0 0,-34 0-15,-1 0 0,-35 0-1,52 0 1,-34 0-1,0 18 1,-1-18 0,-17 35-1,0-35 1,18 0 0,-36 0-16,0 0 15,71 0 1,-18 0-1,-70 0 17,35 0-17,-36 0 1,36 0 0,-17 0 15,-1 0 0,-18 0-15,19 0-1,34 0 1,1 0 0,-1 0-1,-17 0 1,35 0-1,18 0 17,-17 0-17,34 0 1,-35 0 0,36 0-1,-71 0-15,-1 0 16,19 0-1,0 0-15,17 0 16,0 0 0,18 0-1,-36 0 1,19 0 0,-37 0-1,-16 0 1,52 0-1,-17 0 17,-19 0-17,-16 0-15,-1 0 16,88 0 0,-70 0-16,53-18 15,-35 1 1,-18 17-1,17-18 1,1 1 0,-18 17-1,0 0 1,35 0 0,-18 0-1,1 0 1,-1 0-1,89 0 17,-71 0-17,36 0 1,17 0 0,-18 0-1,54 0 1,-71 0-1,-18 0 1,-35 0 0,70 0-1,-35 0 1,-52 0-16,17-18 16,-36 18-16,1 0 15,53-18 1,-36 18-1,-18 0 32,1 0-31,53 0 0,-36 0-1,18 0 1,-36 0-1,36 0 1,-17 0 0,-19-17-16,36 17 31,0-18-15,-18 18-1,36 0 1,-53 0-1,35 0 17,-1-18-17,-52 1 1,18 17 0,0 0-1,17 0 32,0 0-31,-17 0-1,0 0 1,17 0 15,-18 0-15,36 0 31,-35 0-32,0 0-15,-1 0 16,19 0 0,-1 0-1,-18 0 16,1 0-15,0 0 0</inkml:trace>
</inkml:ink>
</file>

<file path=ppt/ink/ink5.xml><?xml version="1.0" encoding="utf-8"?>
<inkml:ink xmlns:inkml="http://www.w3.org/2003/InkML">
  <inkml:definitions>
    <inkml:context xml:id="ctx0">
      <inkml:inkSource xml:id="inkSrc0">
        <inkml:traceFormat>
          <inkml:channel name="X" type="integer" max="5760" units="cm"/>
          <inkml:channel name="Y" type="integer" max="2400" units="cm"/>
          <inkml:channel name="T" type="integer" max="2.14748E9" units="dev"/>
        </inkml:traceFormat>
        <inkml:channelProperties>
          <inkml:channelProperty channel="X" name="resolution" value="171.42857" units="1/cm"/>
          <inkml:channelProperty channel="Y" name="resolution" value="114.28571" units="1/cm"/>
          <inkml:channelProperty channel="T" name="resolution" value="1" units="1/dev"/>
        </inkml:channelProperties>
      </inkml:inkSource>
      <inkml:timestamp xml:id="ts0" timeString="2026-10-22T08:54:30.513"/>
    </inkml:context>
    <inkml:brush xml:id="br0">
      <inkml:brushProperty name="width" value="0.05292" units="cm"/>
      <inkml:brushProperty name="height" value="0.05292" units="cm"/>
      <inkml:brushProperty name="color" value="#FF0000"/>
    </inkml:brush>
  </inkml:definitions>
  <inkml:trace contextRef="#ctx0" brushRef="#br0">8925 5803 0,'0'-17'94,"18"17"-79,0 0 1,17-18 0,18 18-1,17 0 1,18 0 0,1 0-1,-54 0 1,0 0-16,89 0 31,-36 0-15,35-35-1,-52 35 1,-1 0 0,36 0-1,0 0 1,106 0-1,-18 0 1,-88 0 0,17 0-1,71 0 1,18 0 0,-142 0-16,72 0 15,34 0 1,-35 0 15,-53-18-15,18 18-1,-53 0 1,-35 0 0,17 0-1,18 0 1,35 0-1,-35 0-15,0 0 16,35 0-16,0 0 16,247 0-1,-141 0 1,0 0 0,0 0-1,-105 0 1,-1 0 15,53 0-15,0 0-1,-70 0 1,34 0 0,1 0-1,-70 0-15,-19 0 31,18 0 173,-17 0-204</inkml:trace>
  <inkml:trace contextRef="#ctx0" brushRef="#br0" timeOffset="9590.02">6050 13176 0,'18'0'47,"-1"0"-31,-17-17 249,18 17-234,17-18-15,1 18 31,-19 0 0,-17-18-16,18 18 0,0 0-15,-1 0 0,1 0-1,-1 0 1,19 0 15,-36-17-15,17 17-1,1 0 17,0 0-17,-1 0 1,19 0 15,16 0-15,37 0-1,-54 0 1,0 0 0,-17 0-16,-1 0 15,19 0 1,-1 0-16,0 0 15,36 0 1,-53 0 0,17 0-1,-18 0 1,19 0 0,-1 0-1,0 0 1,1 0 15,-1 0-15,0 0-16,0 0 15,18 0 1,-35 0 0,17 0-1,-17 0 1,-1 0-1,1 0 1,0 0 0,17 0-1,18 0 1,-18 0 0,18 0-1,-18 0 1,-17 0-16,17 0 15,1 0 1,69 0 0,-34 0-1,-18 0 1,0 0 0,-18 0-1,18 0 1,-18 0-1,71 0 1,18 0 0,-71 0-1,52 0 1,-52 0-16,0 0 16,53 17-1,-35-17 1,17 0-1,0 36 17,-35-19-17,0-17 1,0 0 0,-18 0-1,36 18 1,-54-18-1,36 0 1,-18 0-16,1 18 16,158-1-1,-71-17 1,54 0 0,17 0-1,17 0 1,-34 0-1,17 0 17,-88 0-17,35 0 1,-36 0 0,-34 0-1,-53 0-15,17 0 16,18 0-1,-36 0 1,1-17 0,0 17 15,-1 0-15,19 0 15,-1-18 0,0 18 0,18 0-15,0 0 0,0-18-1,53 18 1,-18 0-1,-17 0 1,-36 0 0,-18 0-1,19 0 1,-36-17 0,17 17 93</inkml:trace>
  <inkml:trace contextRef="#ctx0" brushRef="#br0" timeOffset="28047.26">22084 13264 0,'18'18'188,"158"0"-157,247 52 0,-70-17 1,-282-53-17,105 0 1,-105 0 0,-1 0-1,18 0 1,-52 0-1,16 0 1,1 0 0,0 0-1,-17 0 1,-1 0 0,35 0-1,-17 0 16,71 18-15,-1-18 0,18 0-1,36 0 1,-36 0 0,-18 0-1,-17 0 1,0 0-1,-18 0 1,53 0 0,-35 0-1,-53 0-15,-35 0 16,105 0 0,-70 0-1,0 0 1,-35 0 15,70 0-15,35 0-1,1 0 1,-54 0 0,1 0-1,-36 0-15,-17 0 31,-1 0-15,1 0-16,0 0 234,-18-18-218</inkml:trace>
</inkml:ink>
</file>

<file path=ppt/ink/ink6.xml><?xml version="1.0" encoding="utf-8"?>
<inkml:ink xmlns:inkml="http://www.w3.org/2003/InkML">
  <inkml:definitions>
    <inkml:context xml:id="ctx0">
      <inkml:inkSource xml:id="inkSrc0">
        <inkml:traceFormat>
          <inkml:channel name="X" type="integer" max="5760" units="cm"/>
          <inkml:channel name="Y" type="integer" max="2400" units="cm"/>
          <inkml:channel name="T" type="integer" max="2.14748E9" units="dev"/>
        </inkml:traceFormat>
        <inkml:channelProperties>
          <inkml:channelProperty channel="X" name="resolution" value="171.42857" units="1/cm"/>
          <inkml:channelProperty channel="Y" name="resolution" value="114.28571" units="1/cm"/>
          <inkml:channelProperty channel="T" name="resolution" value="1" units="1/dev"/>
        </inkml:channelProperties>
      </inkml:inkSource>
      <inkml:timestamp xml:id="ts0" timeString="2026-10-22T08:55:52.825"/>
    </inkml:context>
    <inkml:brush xml:id="br0">
      <inkml:brushProperty name="width" value="0.05292" units="cm"/>
      <inkml:brushProperty name="height" value="0.05292" units="cm"/>
      <inkml:brushProperty name="color" value="#FF0000"/>
    </inkml:brush>
  </inkml:definitions>
  <inkml:trace contextRef="#ctx0" brushRef="#br0">5433 12188 0,'53'0'250,"-18"0"-235,0 0-15,53 0 16,124 0 0,-36 0-1,36 0 16,-18 0-15,-17 0 0,-54 0-1,-35 0 1,0 0 0,18 0-1,-18 0 1,-17 0-1,0 0-15,-19 0 16,90 0 0,-54 0-1,18 0 1,35 0 0,0 0-1,35 0 1,36 0 15,-36-35-15,-17 35-1,-18 0-15,-35 0 16,53 0 0,-18 0-16,-71 0 15,230 0 1,-70 0-1,-1 0 1,0 0 0,-17 0-1,0 0 1,-54 0 0,-17 0-1,-17 0 1,35 0 15,-36 0-15,53 0-1,36 0 1,-71 0 0,-53 0-1,124 0 1,-18 0-1,0 0 1,18 0 0,35 0-1,-18 0 1,-53 0 0,-17 0-1,35 0 1,-17 0 15,-19 0-15,54 0-1,-71 0 1,-17 0 0,17-17-1,35 17 1,-52 0-1,17 0 1,35 0 0,-17 0-1,17 0 1,-105 0-16,140 0 16,-69 0-1,16 0 1,1 0 15,-18 0-15,18 0-1,-18 0 1,-35 0 0,0 0-1,35 0 1,-88 0-16,17 0 15,71 0 1,-52 0-16,-36 0 16,105-53-1,36 53 1,-53 0 0,-52-18-1,34 18 1,1 0 15,-36 0-15,70 0-1,-52 0 1,53 0 0,53 0-1,-71 0-15,123 0 16,-17 0-1,53 0 1,35 0 0,-88 0-1,-70 0 1,-36 0 0,-35 0-1,-18 0 1,-53 0 15,-17 0-31,-1 0 16,72 0-1,-19 0-15,36 0 16,17 0 0,1 0-1,-36 0 1,-35 0-1,-18 0 1,18 0 0,-35 0-1,35 0 1,17 0 0,19 0-1,69 0 1,-87 0-1,370 0 48,-388 0-47,17 0-1,18 0 1,36 0-1,-1 0 1,1 0 0,17 0-1,-88 0-15,17 0 16,195 0 0,-106 0-1,35 0 1,-35 0 15,-1 0-15,-17 0-1,-52 0 1,-36 0 0,-1 0-1,-16 0 1,34 0-1,-17 0 1,35 0 0,-35 0-1,53 0 1,0 0 0,-18 0-1,0 0 1,89 0 15,17 0-15,-35 0-1,17 0 1,18 0 0,-159 0-16,36 0 15,88 0 1,-54 0-1,1 0 1,18 0 0,17 0-1,-71 0 1,1 0 0,-18 0-1,17 0 1,-34 0 15,34 0-15,-52 0-1,17 0 1,-17 0 0,17 0-1,18 0 1,0 0-1,-35 0 1,-1 0 0</inkml:trace>
</inkml:ink>
</file>

<file path=ppt/ink/ink7.xml><?xml version="1.0" encoding="utf-8"?>
<inkml:ink xmlns:inkml="http://www.w3.org/2003/InkML">
  <inkml:definitions>
    <inkml:context xml:id="ctx0">
      <inkml:inkSource xml:id="inkSrc0">
        <inkml:traceFormat>
          <inkml:channel name="X" type="integer" max="5760" units="cm"/>
          <inkml:channel name="Y" type="integer" max="2400" units="cm"/>
          <inkml:channel name="T" type="integer" max="2.14748E9" units="dev"/>
        </inkml:traceFormat>
        <inkml:channelProperties>
          <inkml:channelProperty channel="X" name="resolution" value="171.42857" units="1/cm"/>
          <inkml:channelProperty channel="Y" name="resolution" value="114.28571" units="1/cm"/>
          <inkml:channelProperty channel="T" name="resolution" value="1" units="1/dev"/>
        </inkml:channelProperties>
      </inkml:inkSource>
      <inkml:timestamp xml:id="ts0" timeString="2026-10-22T08:56:19.373"/>
    </inkml:context>
    <inkml:brush xml:id="br0">
      <inkml:brushProperty name="width" value="0.05292" units="cm"/>
      <inkml:brushProperty name="height" value="0.05292" units="cm"/>
      <inkml:brushProperty name="color" value="#FF0000"/>
    </inkml:brush>
  </inkml:definitions>
  <inkml:trace contextRef="#ctx0" brushRef="#br0">11889 7426 0,'53'0'156,"35"0"-140,53 0-1,88 0 1,36 0-1,-1 0 1,-34 0 0,-54 0-1,-53 0 1,19 0 0,-54 0-1,0 0 1,-17 0 15,-36 0-15,0 0-1,18 0 1,-18 0 0,36 0-1,-54 0 1,19 0-1</inkml:trace>
  <inkml:trace contextRef="#ctx0" brushRef="#br0" timeOffset="2974.09">21431 7444 0,'71'0'94,"70"17"-79,229 36 1,-140-35 15,34-1-15,54 1-1,-18-18 1,35 35 0,-194-35-16,18 0 15,229 0 1,-159 0-1,-35 0 1,-53 0 0,53 0-1,-35 0 1,-18 0 0,0 36-1,0-36 1,-17 17 15,52 19-15,-88-36-16,36 0 15,140 17 1,-87-17 0,34 0-1,-70 0 1,36 0-1,35 0 1,-54 0 0,1 0-1,-71 0 1,18 0 0,-53 0-1,-18 0 1,-17 0-16,70 0 31,53 0-15,-17-17-1,34 17 1,89-18 0,-53-35-1,0 35 1,-70 1-1,-1-1 1,-34 18 0,-72-18-1,1 18 1,17 0 0,-17 0 15,17 0 0,-17 0 0,17 0 47</inkml:trace>
  <inkml:trace contextRef="#ctx0" brushRef="#br0" timeOffset="10189.45">25347 13388 0,'35'0'31,"1"0"1,69 0-17,107 0 1,88 0 0,35 0-1,0 0 1,-123 0-16,-53 0 15,370 0 1,-282 0 0,17 0-1,-70 0 1,18 0 0,-36 0-1,36 0 1,0 0 15,-36 0-15,-17 0-1,35 0 1,-123 0-16,17 0 16,70 0-1,-52 0-15,124 0 16,-19 0-1,-52 0 1,-36 0 0,-17-35-1,-88 17 1</inkml:trace>
</inkml:ink>
</file>

<file path=ppt/ink/ink8.xml><?xml version="1.0" encoding="utf-8"?>
<inkml:ink xmlns:inkml="http://www.w3.org/2003/InkML">
  <inkml:definitions>
    <inkml:context xml:id="ctx0">
      <inkml:inkSource xml:id="inkSrc0">
        <inkml:traceFormat>
          <inkml:channel name="X" type="integer" max="5760" units="cm"/>
          <inkml:channel name="Y" type="integer" max="2400" units="cm"/>
          <inkml:channel name="T" type="integer" max="2.14748E9" units="dev"/>
        </inkml:traceFormat>
        <inkml:channelProperties>
          <inkml:channelProperty channel="X" name="resolution" value="171.42857" units="1/cm"/>
          <inkml:channelProperty channel="Y" name="resolution" value="114.28571" units="1/cm"/>
          <inkml:channelProperty channel="T" name="resolution" value="1" units="1/dev"/>
        </inkml:channelProperties>
      </inkml:inkSource>
      <inkml:timestamp xml:id="ts0" timeString="2026-10-22T09:02:27.435"/>
    </inkml:context>
    <inkml:brush xml:id="br0">
      <inkml:brushProperty name="width" value="0.05292" units="cm"/>
      <inkml:brushProperty name="height" value="0.05292" units="cm"/>
      <inkml:brushProperty name="color" value="#FF0000"/>
    </inkml:brush>
  </inkml:definitions>
  <inkml:trace contextRef="#ctx0" brushRef="#br0">2734 5733 0,'-18'-18'63,"36"18"-1,0 0-46,17 0-1,-17 0 1,17 0 0,-18 0 15,1 0-16,17 0 1,1 0 0,34 0-1,36 0 1,35 0 0,-17 0-1,-1 0 1,-35 0-1,1 0 1,-54 0-16,18 0 16,53 0-1,-71 0 1,18 0-16,70 0 31,-52 0-31,35 0 31,-36 0-15,18 0 0,-17 0-1,-18 0 1,-18 0 0,18 0-1,0 0 1,17 0-1,-52 0 1,53 0 0,-18 0-1,-18 0 1,-17 0 0,70-18 15,70 18-16,36-35 1,53 17 0,-35 1-1,-88-1-15,-19 18 16,37-35 0,-54 17-1,-71 18 1,19 0-1,-19 0 1,1 0 47</inkml:trace>
</inkml:ink>
</file>

<file path=ppt/ink/ink9.xml><?xml version="1.0" encoding="utf-8"?>
<inkml:ink xmlns:inkml="http://www.w3.org/2003/InkML">
  <inkml:definitions>
    <inkml:context xml:id="ctx0">
      <inkml:inkSource xml:id="inkSrc0">
        <inkml:traceFormat>
          <inkml:channel name="X" type="integer" max="5760" units="cm"/>
          <inkml:channel name="Y" type="integer" max="2400" units="cm"/>
          <inkml:channel name="T" type="integer" max="2.14748E9" units="dev"/>
        </inkml:traceFormat>
        <inkml:channelProperties>
          <inkml:channelProperty channel="X" name="resolution" value="171.42857" units="1/cm"/>
          <inkml:channelProperty channel="Y" name="resolution" value="114.28571" units="1/cm"/>
          <inkml:channelProperty channel="T" name="resolution" value="1" units="1/dev"/>
        </inkml:channelProperties>
      </inkml:inkSource>
      <inkml:timestamp xml:id="ts0" timeString="2026-10-22T09:04:18.317"/>
    </inkml:context>
    <inkml:brush xml:id="br0">
      <inkml:brushProperty name="width" value="0.05292" units="cm"/>
      <inkml:brushProperty name="height" value="0.05292" units="cm"/>
      <inkml:brushProperty name="color" value="#FF0000"/>
    </inkml:brush>
  </inkml:definitions>
  <inkml:trace contextRef="#ctx0" brushRef="#br0">18115 8678 0,'18'0'219,"70"18"-188,-53-18-31,124 53 32,-71-53-17,-17 18 1,-1-18-1,-34 0 1,-19 0-16,18 0 16,-17 0-1,35 0 1,0 0 0,18 0-1,-19 0 1,19 0-1,-36 0 1,36 0 0,-36 0-1,-17 0 1,35 0 0,-18 0 15,-17 0-16,17 0 1,0 0 0,18 0-1,0 0 1,0 0 0,17 35-1,54-35 1,-36 0-1,18 0 1,-18 0 0,-35 0-16,-18 0 15,54 0 1,-19 0 0,36 17 15,-18-17-16,-35 18 1,35-18 0,0 35-1,-17-35 1,17 0 0,18 0-1,-18 0 1,-35 0-16,-35 0 15,140 0 1,-52 0 0,-17 0-1,-1 0 1,0 0 0,18 0 15,-36 0-16,1 0 1,17 0 0,-17 0-1,-1 0 1,1 0 0,105 0-1,18 0 1,18 0-1,35 0 1,-36 0 0,1 0-1,-106 0 1,17 0 15,1 0-15,-36 0-1,36 0 1,-54 0-16,-17 0 16,88 0-1,-88 0-15,18 0 16,34 0 0,19 0-1,-18 0 1,-36 0-1,18 0 1,-35 0 0,53 0-1,18 0 1,17 0 15,35 0-15,159 0-1,-158 0 1,52 0 0,-35 0-1,-35 0 1,-36 0 0,-52 0-1,-18 0 1,-18 0-1,18 0 17,-18-17-17,-17 17 1,17 0 15,-17 0 125,-1 0-140,36-36 0,18 19-1,-1-1 1,36 18 15,-88-17-15,35 17-1,0 0 1,-18-18 0,36 18-1,-36-18 1,-18 1 0,19-1 280</inkml:trace>
  <inkml:trace contextRef="#ctx0" brushRef="#br0" timeOffset="18773.61">3246 10354 0,'35'0'79,"-18"0"-48,19 0-16,-19 0 1,36 0 0,-17 0-16,34 0 15,89 0 1,17 0 0,36 0-1,35 18 1,-106-18-1,-35 0 1,17 17 0,36-17-1,-18 0 1,-35 0 15,-18 0-15,-35 0-16,0 0 15,0 0 1,17 0 0,19 0-1,34 0 1,-52 0 0,52 0-1,18 0 1,-53 0-1,18 0 1,-53 0 0,-17 0-1,-1 0-15,0 0 16,36 0 15,-36 0-15,-17 0-1,-1 0 17,18 0-1,-17 0 0,17 0-15,-17 0 15</inkml:trace>
</inkml:ink>
</file>

<file path=ppt/ink/ink10.xml><?xml version="1.0" encoding="utf-8"?>
<inkml:ink xmlns:inkml="http://www.w3.org/2003/InkML">
  <inkml:definitions>
    <inkml:context xml:id="ctx0">
      <inkml:inkSource xml:id="inkSrc0">
        <inkml:traceFormat>
          <inkml:channel name="X" type="integer" max="5760" units="cm"/>
          <inkml:channel name="Y" type="integer" max="2400" units="cm"/>
          <inkml:channel name="T" type="integer" max="2.14748E9" units="dev"/>
        </inkml:traceFormat>
        <inkml:channelProperties>
          <inkml:channelProperty channel="X" name="resolution" value="171.42857" units="1/cm"/>
          <inkml:channelProperty channel="Y" name="resolution" value="114.28571" units="1/cm"/>
          <inkml:channelProperty channel="T" name="resolution" value="1" units="1/dev"/>
        </inkml:channelProperties>
      </inkml:inkSource>
      <inkml:timestamp xml:id="ts0" timeString="2026-10-22T09:08:36.540"/>
    </inkml:context>
    <inkml:brush xml:id="br0">
      <inkml:brushProperty name="width" value="0.05292" units="cm"/>
      <inkml:brushProperty name="height" value="0.05292" units="cm"/>
      <inkml:brushProperty name="color" value="#FF0000"/>
    </inkml:brush>
  </inkml:definitions>
  <inkml:trace contextRef="#ctx0" brushRef="#br0">7408 14852 0,'18'0'156,"35"0"-125,106 0 1,158 0-1,54 0 16,-72 0-16,-105 0-15,-105 0-1,34 0 17,-17 0-17,-88 0-15,52 0 16,1 0-1,52 0 1,1 0 0,-1 0-1,36 0 1,-53 0 0,17 0-1,-52 0 1,52-18-1,-88 18-15,1 0 16,105 0 0,-53 0-1,18 0 17,88 0-17,-35 0 1,-36 0-1,54 0 1,-36 0 0,35-35-1,-53 17 1,-34 18 0,-19-17-16,18 17 15,36 0 1,-18-36-1,-18 19 1,-18 17 0,19 0-1,-1 0 17,-18 0-17,54 0 1,-54 0-1,1 0-15,-36 0 16,71 0 0,-71 0-16,18 0 15,18 0 1,-1 0 0,-17 0-1,0 0 1,-17 0 15,-19 0-15,1 0 31,17 0-32,-17 0 16,17 0-15,-17 0 15,-1 0-15,1 0 0,0 17-1,-1-17 1,1 0 15,-1 0-15</inkml:trace>
  <inkml:trace contextRef="#ctx0" brushRef="#br0" timeOffset="2238.25">16157 14746 0,'35'18'141,"142"17"-126,87 0 17,230 53-17,-141-88 1,0 0-1,-71 0 1,-35 0 0,-35 0-1,-18 0 1,17 0 0,-34 0-1,-89 0-15,18 0 16,35 0-1,-35 0-15,-18 0 16,53 0 0,-17 0-1,52 0 17,-53 0-17,19 0 1,-37 0-1,19 0 1,17 0 0,-18 0-1,-52 0-15,-53 0 16,87-17 0,-34 17-1,-18-18-15,-18 18 16,89-17-1,-36-1 1,-18 18 0,36-18-1,0 18 17,0 0-17,-71 0 1,0 0-1,-17 0 17</inkml:trace>
</inkml:ink>
</file>

<file path=ppt/ink/ink11.xml><?xml version="1.0" encoding="utf-8"?>
<inkml:ink xmlns:inkml="http://www.w3.org/2003/InkML">
  <inkml:definitions>
    <inkml:context xml:id="ctx0">
      <inkml:inkSource xml:id="inkSrc0">
        <inkml:traceFormat>
          <inkml:channel name="X" type="integer" max="5760" units="cm"/>
          <inkml:channel name="Y" type="integer" max="2400" units="cm"/>
          <inkml:channel name="T" type="integer" max="2.14748E9" units="dev"/>
        </inkml:traceFormat>
        <inkml:channelProperties>
          <inkml:channelProperty channel="X" name="resolution" value="171.42857" units="1/cm"/>
          <inkml:channelProperty channel="Y" name="resolution" value="114.28571" units="1/cm"/>
          <inkml:channelProperty channel="T" name="resolution" value="1" units="1/dev"/>
        </inkml:channelProperties>
      </inkml:inkSource>
      <inkml:timestamp xml:id="ts0" timeString="2026-10-22T09:09:27.370"/>
    </inkml:context>
    <inkml:brush xml:id="br0">
      <inkml:brushProperty name="width" value="0.05292" units="cm"/>
      <inkml:brushProperty name="height" value="0.05292" units="cm"/>
      <inkml:brushProperty name="color" value="#FF0000"/>
    </inkml:brush>
  </inkml:definitions>
  <inkml:trace contextRef="#ctx0" brushRef="#br0">8925 14146 0,'36'0'204,"-19"0"-189,18 0 1,-17 0-1,70 18 1,106 0 0,-35-1-1,35-17 17,106 0-17,-35 18 1,-1-18-1,-35 0 1,18 0 0,-35 0-1,-71 0 1,-17 0 0,-71 0-16,17 0 15,71 0 1,-35 0-1,0 0 1,35 0 0,-35 0-1,-36 0 17,-17 0-17,0 0 1,-18 0-1,1 0 1,17 0 0,-36 0-16,1 0 15,0 0 1,35 0 0,-18 0-1,-18 0 1,36 0-1,-35 0 1,17 0 0,-17 0 265</inkml:trace>
  <inkml:trace contextRef="#ctx0" brushRef="#br0" timeOffset="2399.01">13970 14076 0,'53'0'172,"70"0"-157,18 0 1,71 0 0,-71 0-1,71 0 1,35 0-1,17 0 1,-34 0 0,-1 0-1,18 0 17,18 0-17,-177 0-15,0 0 16,106-18-1,-88 18-15,70-17 16,-88 17 0,36-36-1,-18 19 1,-36 17 0,18-18-1,-52 0 1,52 18-1,-53-17 1,36 17 0,-1 0-1,-34 0 17,-19 0-1,1 0-16</inkml:trace>
  <inkml:trace contextRef="#ctx0" brushRef="#br0" timeOffset="5581.92">19879 14393 0,'35'0'172,"248"-35"-141,157-18 0,54-35 0,-229 70 1,-18 18-17,17 0 1,-34 0-1,70 0 1,-18 0 0,212 0-1,-177 0 1,54 0 0,87 0-1,-17 0 1,18 0-1,-195 0 1,19-17 0,34-19-1,-35 36 17,71 0-17,0 0 1,-36 0-1,-123 0-15,-52 0 16,369 0 0,-264-17-1,-106-1 1,-17 18 0,-89 0-1,-17-18 1,-1 1 78,18 17-48,-17 0-30,53 0 0,-1 0-1,-34 0 1,16 0 0,-34 0-1,17 0 48,18 0-32,-17 0 0,-19 0-15,1 0 15,-1 0 32</inkml:trace>
</inkml:ink>
</file>

<file path=ppt/ink/ink12.xml><?xml version="1.0" encoding="utf-8"?>
<inkml:ink xmlns:inkml="http://www.w3.org/2003/InkML">
  <inkml:definitions>
    <inkml:context xml:id="ctx0">
      <inkml:inkSource xml:id="inkSrc0">
        <inkml:traceFormat>
          <inkml:channel name="X" type="integer" max="5760" units="cm"/>
          <inkml:channel name="Y" type="integer" max="2400" units="cm"/>
          <inkml:channel name="T" type="integer" max="2.14748E9" units="dev"/>
        </inkml:traceFormat>
        <inkml:channelProperties>
          <inkml:channelProperty channel="X" name="resolution" value="171.42857" units="1/cm"/>
          <inkml:channelProperty channel="Y" name="resolution" value="114.28571" units="1/cm"/>
          <inkml:channelProperty channel="T" name="resolution" value="1" units="1/dev"/>
        </inkml:channelProperties>
      </inkml:inkSource>
      <inkml:timestamp xml:id="ts0" timeString="2026-10-22T09:17:49.838"/>
    </inkml:context>
    <inkml:brush xml:id="br0">
      <inkml:brushProperty name="width" value="0.05292" units="cm"/>
      <inkml:brushProperty name="height" value="0.05292" units="cm"/>
      <inkml:brushProperty name="color" value="#FF0000"/>
    </inkml:brush>
  </inkml:definitions>
  <inkml:trace contextRef="#ctx0" brushRef="#br0">7391 7355 0,'35'0'235,"-17"0"-220,17 0 1,-17 0-1,-1 0 17,1-17-17,-1-1 1,36 18 0,-35 0-16,35-18 31,53 1-16,-53 17 1,0-18 0,-1 18-1,-16 0 1,-1 0 0,-17 0 46,-1 0-31,1 0-15,0 0 0,35 0-1,-1 0 1,1 0-1,53 0 1,-35 0 0,-18 0-1,-36 0 1,1 0 0,17 0-1,-17 0 1,-1 0-1,1 0 1,-18 18 0,53-18-1,-35 0 1,52 35 0,36-17-1,-53-18 1,0 17-1,17-17 1,-34 18 0,34-18-1,-52 18-15,17-18 16,71 0 0,-53 0-16,53 17 15,-36-17 1,1 0-1,-1 0 17,-17 0-17,-17 0 1,34 0 0,-17 0-1,35 0 1,-17 0-1,-1 0 1,54 0 0,-71 0-16,0 0 15,123 18 1,-70 0 0,-35-1-1,-1-17 1,18 0-1,0 0 17,-35 0-17,18 0 1,-18 0 0,-36 0-16,36 0 15,-17 0-15,-1 0 16,0 0-1,-17 0 1,35 0 0,-36 0-1,36 0 1,18 0 0,-18 0-1,0 0 1,17 0-1,-34 0 17,-19 0-17,18 0-15,-17 0 32,17 0-17,18 0 1,-35 0-1,17 0 1,-17 0 0,35 0-1,0 0 17,-18 0-17,0 0 1,1 0 15,-19 0-31,18-17 16,71 17-1,-53 0 1,0 0 0,-18 0-1,1 0 1,-19 0 15,19 0 0,-19 0-15,19 0 0,-19 0-1,18 0 48</inkml:trace>
  <inkml:trace contextRef="#ctx0" brushRef="#br0" timeOffset="21906.55">3369 9578 0,'18'0'156,"-1"0"-140,19 0-1,105 0 1,123 0 0,1 0-1,-124 0-15,35 0 16,18 0-16,-53 0 16,54 0-16,-37 0 15,319 0 1,-178 35-1,-87-35 17,17 0-17,-52 0 1,87 35 0,1-17-1,-1 0 1,-17-18-1,-35 0 1,-88 0 0,-72 0-16,90 0 15,-54 0 1,18 0 0,105 0-1,-17 0 1,36 0-1,-72 0 17,-17 0-17,1 0 1,-1 0 0,-88 0-16,17 0 15,-17 0-15,18 0 16,123 0-1,-53 0 1,70 0 0,-69 0-1,16 0 1,-69 0 0,-1 0-1,-53 0 1,18 0-1,0 0 17,-18 0-17,-17 0-15,17 0 16,88-18 0,-52 0-1,35 18 1,17 0-1,-52-17 1,-1-18 0,-34 35-1,-19 0 1,19 0 0,17 0 15,-18 0-16,0-18 1,0 18 0,54-18-1,-19 18 1,-35 0 0,1 0-1,-19 0 1,1 0-1,17 0 1,-17 0 0,0 0-1,-1 0 1,18 0 15,-17 0 0,0 0 94</inkml:trace>
  <inkml:trace contextRef="#ctx0" brushRef="#br0" timeOffset="44642.68">23760 8696 0,'17'0'172,"18"0"-157,18 0 1,36 0 0,-19 0-16,-17 0 15,229 0 1,-123 0-1,0 0 17,-18 0-17,-35 0 1,-18 0 0,-18 0-1,-34 0 1,-1 0-1,18 0 1,-18 0 0,-17 0-16,52 0 15,-17 0 1,0 0 0,18 0-1,35 0 1,-36 0-1,18 0 17,18 0-17,-18 0 1,36 0 0,-1 0-1,-70 0 1,0 0-16,53 0 15,0 0 1,0 0 0,17 0-1,54 0 1,-36 0 0,-18 0-1,18 0 1,-35 0-1,-35 0 17,-54 0-17,54 0 1,-36 0 0,36 0-1,-1 0 1,-34 0-1,-1 0 1,-18 0 0</inkml:trace>
  <inkml:trace contextRef="#ctx0" brushRef="#br0" timeOffset="103703.09">4357 12665 0,'17'0'141,"1"0"-110,17 0-16,54 0 1,-19 0-16,54 0 16,264 53-1,-106-36 1,18 36 0,-106-18-1,-88 1 1,17-19-1,-52-17 17,52 0-17,-35 0 1,18 0 0,-18 0-1,-17 0-15,-18 0 16,123 0-1,-88 0 1,53 0 0,-17 0-1,-18 0 1,17 0 0,-52 0-1,17 0 1,-17 0-1,-19 0 17,37 0-17,-36 0 1,176 0 0,-88 0-1,18 0 1,-71 0-1,0 0 1,-53 0 0,1 0-1,-1 0 1,-17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4E4B81-BDE6-49C8-9544-8C846244D5A4}" type="datetimeFigureOut">
              <a:rPr lang="en-IN" smtClean="0"/>
              <a:t>22-10-2026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A13F0-87BC-45FC-946B-4F63472A487C}" type="slidenum">
              <a:rPr lang="en-IN" smtClean="0"/>
              <a:t>‹#›</a:t>
            </a:fld>
            <a:endParaRPr lang="en-IN"/>
          </a:p>
        </p:txBody>
      </p:sp>
    </p:spTree>
    <p:extLst>
      <p:ext uri="{BB962C8B-B14F-4D97-AF65-F5344CB8AC3E}">
        <p14:creationId xmlns:p14="http://schemas.microsoft.com/office/powerpoint/2010/main" val="761333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u="none" strike="noStrike" kern="1200" dirty="0" err="1">
                <a:solidFill>
                  <a:schemeClr val="tx1"/>
                </a:solidFill>
                <a:effectLst/>
                <a:latin typeface="+mn-lt"/>
                <a:ea typeface="+mn-ea"/>
                <a:cs typeface="+mn-cs"/>
              </a:rPr>
              <a:t>Transductive</a:t>
            </a:r>
            <a:r>
              <a:rPr lang="en-IN" dirty="0"/>
              <a:t> (adjective) refers to a reasoning process or machine learning approach that derives specific conclusions from specific cases. </a:t>
            </a:r>
          </a:p>
          <a:p>
            <a:r>
              <a:rPr lang="en-IN" dirty="0"/>
              <a:t>Unlike </a:t>
            </a:r>
            <a:r>
              <a:rPr lang="en-IN" b="1" dirty="0"/>
              <a:t>inductive</a:t>
            </a:r>
            <a:r>
              <a:rPr lang="en-IN" dirty="0"/>
              <a:t> reasoning, which builds a broad, generalized rule first,</a:t>
            </a:r>
          </a:p>
        </p:txBody>
      </p:sp>
      <p:sp>
        <p:nvSpPr>
          <p:cNvPr id="4" name="Slide Number Placeholder 3"/>
          <p:cNvSpPr>
            <a:spLocks noGrp="1"/>
          </p:cNvSpPr>
          <p:nvPr>
            <p:ph type="sldNum" sz="quarter" idx="5"/>
          </p:nvPr>
        </p:nvSpPr>
        <p:spPr/>
        <p:txBody>
          <a:bodyPr/>
          <a:lstStyle/>
          <a:p>
            <a:fld id="{D06A13F0-87BC-45FC-946B-4F63472A487C}" type="slidenum">
              <a:rPr lang="en-IN" smtClean="0"/>
              <a:t>9</a:t>
            </a:fld>
            <a:endParaRPr lang="en-IN"/>
          </a:p>
        </p:txBody>
      </p:sp>
    </p:spTree>
    <p:extLst>
      <p:ext uri="{BB962C8B-B14F-4D97-AF65-F5344CB8AC3E}">
        <p14:creationId xmlns:p14="http://schemas.microsoft.com/office/powerpoint/2010/main" val="1932937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high cardinality</a:t>
            </a:r>
            <a:r>
              <a:rPr lang="en-IN" dirty="0"/>
              <a:t> (features with a large number of unique categories, like ZIP codes, cities, or product IDs),</a:t>
            </a:r>
          </a:p>
          <a:p>
            <a:r>
              <a:rPr lang="en-IN" b="1" dirty="0"/>
              <a:t>Target Encoding </a:t>
            </a:r>
            <a:r>
              <a:rPr lang="en-IN" dirty="0"/>
              <a:t>(Mean Encoding) : replaces each categorical value with the expected value of the target variable for that specific category.</a:t>
            </a:r>
          </a:p>
          <a:p>
            <a:r>
              <a:rPr lang="en-IN" b="1" dirty="0"/>
              <a:t>Binary encoding </a:t>
            </a:r>
            <a:r>
              <a:rPr lang="en-IN" dirty="0"/>
              <a:t>:  combines the benefits of Hash encoding and One-Hot encoding.</a:t>
            </a:r>
            <a:br>
              <a:rPr lang="en-IN" dirty="0"/>
            </a:br>
            <a:r>
              <a:rPr lang="en-IN" dirty="0"/>
              <a:t>It first converts the categories into ordinal integers, then converts those integers into binary code, and finally splits the binary digits into separate columns.</a:t>
            </a:r>
          </a:p>
          <a:p>
            <a:endParaRPr lang="en-IN" dirty="0"/>
          </a:p>
        </p:txBody>
      </p:sp>
      <p:sp>
        <p:nvSpPr>
          <p:cNvPr id="4" name="Slide Number Placeholder 3"/>
          <p:cNvSpPr>
            <a:spLocks noGrp="1"/>
          </p:cNvSpPr>
          <p:nvPr>
            <p:ph type="sldNum" sz="quarter" idx="5"/>
          </p:nvPr>
        </p:nvSpPr>
        <p:spPr/>
        <p:txBody>
          <a:bodyPr/>
          <a:lstStyle/>
          <a:p>
            <a:fld id="{D06A13F0-87BC-45FC-946B-4F63472A487C}" type="slidenum">
              <a:rPr lang="en-IN" smtClean="0"/>
              <a:t>25</a:t>
            </a:fld>
            <a:endParaRPr lang="en-IN"/>
          </a:p>
        </p:txBody>
      </p:sp>
    </p:spTree>
    <p:extLst>
      <p:ext uri="{BB962C8B-B14F-4D97-AF65-F5344CB8AC3E}">
        <p14:creationId xmlns:p14="http://schemas.microsoft.com/office/powerpoint/2010/main" val="3950002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 </a:t>
            </a:r>
            <a:r>
              <a:rPr lang="en-IN" b="1" dirty="0"/>
              <a:t>Convolutional Neural Network (CNN)</a:t>
            </a:r>
            <a:r>
              <a:rPr lang="en-IN" dirty="0"/>
              <a:t> is a type of Artificial Intelligence specifically designed to look at images the same way our eyes do.</a:t>
            </a:r>
          </a:p>
          <a:p>
            <a:endParaRPr lang="en-IN" dirty="0"/>
          </a:p>
        </p:txBody>
      </p:sp>
      <p:sp>
        <p:nvSpPr>
          <p:cNvPr id="4" name="Slide Number Placeholder 3"/>
          <p:cNvSpPr>
            <a:spLocks noGrp="1"/>
          </p:cNvSpPr>
          <p:nvPr>
            <p:ph type="sldNum" sz="quarter" idx="5"/>
          </p:nvPr>
        </p:nvSpPr>
        <p:spPr/>
        <p:txBody>
          <a:bodyPr/>
          <a:lstStyle/>
          <a:p>
            <a:fld id="{D06A13F0-87BC-45FC-946B-4F63472A487C}" type="slidenum">
              <a:rPr lang="en-IN" smtClean="0"/>
              <a:t>29</a:t>
            </a:fld>
            <a:endParaRPr lang="en-IN"/>
          </a:p>
        </p:txBody>
      </p:sp>
    </p:spTree>
    <p:extLst>
      <p:ext uri="{BB962C8B-B14F-4D97-AF65-F5344CB8AC3E}">
        <p14:creationId xmlns:p14="http://schemas.microsoft.com/office/powerpoint/2010/main" val="1553629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ROI stands for </a:t>
            </a:r>
            <a:r>
              <a:rPr lang="en-IN" sz="1200" b="1" u="none" strike="noStrike" kern="1200" dirty="0">
                <a:solidFill>
                  <a:schemeClr val="tx1"/>
                </a:solidFill>
                <a:effectLst/>
                <a:latin typeface="+mn-lt"/>
                <a:ea typeface="+mn-ea"/>
                <a:cs typeface="+mn-cs"/>
              </a:rPr>
              <a:t>Return on Investment</a:t>
            </a:r>
            <a:r>
              <a:rPr lang="en-IN" dirty="0"/>
              <a:t>.</a:t>
            </a:r>
          </a:p>
        </p:txBody>
      </p:sp>
      <p:sp>
        <p:nvSpPr>
          <p:cNvPr id="4" name="Slide Number Placeholder 3"/>
          <p:cNvSpPr>
            <a:spLocks noGrp="1"/>
          </p:cNvSpPr>
          <p:nvPr>
            <p:ph type="sldNum" sz="quarter" idx="5"/>
          </p:nvPr>
        </p:nvSpPr>
        <p:spPr/>
        <p:txBody>
          <a:bodyPr/>
          <a:lstStyle/>
          <a:p>
            <a:fld id="{D06A13F0-87BC-45FC-946B-4F63472A487C}" type="slidenum">
              <a:rPr lang="en-IN" smtClean="0"/>
              <a:t>51</a:t>
            </a:fld>
            <a:endParaRPr lang="en-IN"/>
          </a:p>
        </p:txBody>
      </p:sp>
    </p:spTree>
    <p:extLst>
      <p:ext uri="{BB962C8B-B14F-4D97-AF65-F5344CB8AC3E}">
        <p14:creationId xmlns:p14="http://schemas.microsoft.com/office/powerpoint/2010/main" val="20001416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a:t>
            </a:r>
            <a:r>
              <a:rPr lang="en-IN" b="1" dirty="0"/>
              <a:t>AUC-ROC</a:t>
            </a:r>
            <a:r>
              <a:rPr lang="en-IN" dirty="0"/>
              <a:t> (Area Under the Receiver Operating Characteristic curve) is one of the most critical evaluation metrics for checking the performance of any </a:t>
            </a:r>
            <a:r>
              <a:rPr lang="en-IN" b="1" dirty="0"/>
              <a:t>binary classification</a:t>
            </a:r>
            <a:r>
              <a:rPr lang="en-IN" dirty="0"/>
              <a:t> model</a:t>
            </a:r>
          </a:p>
          <a:p>
            <a:endParaRPr lang="en-IN" dirty="0"/>
          </a:p>
          <a:p>
            <a:r>
              <a:rPr lang="en-IN" dirty="0"/>
              <a:t>The AUC (Area Under the Curve)</a:t>
            </a:r>
          </a:p>
          <a:p>
            <a:r>
              <a:rPr lang="en-IN" dirty="0"/>
              <a:t>ROC (Receiver Operating Characteristic) </a:t>
            </a:r>
          </a:p>
        </p:txBody>
      </p:sp>
      <p:sp>
        <p:nvSpPr>
          <p:cNvPr id="4" name="Slide Number Placeholder 3"/>
          <p:cNvSpPr>
            <a:spLocks noGrp="1"/>
          </p:cNvSpPr>
          <p:nvPr>
            <p:ph type="sldNum" sz="quarter" idx="5"/>
          </p:nvPr>
        </p:nvSpPr>
        <p:spPr/>
        <p:txBody>
          <a:bodyPr/>
          <a:lstStyle/>
          <a:p>
            <a:fld id="{D06A13F0-87BC-45FC-946B-4F63472A487C}" type="slidenum">
              <a:rPr lang="en-IN" smtClean="0"/>
              <a:t>57</a:t>
            </a:fld>
            <a:endParaRPr lang="en-IN"/>
          </a:p>
        </p:txBody>
      </p:sp>
    </p:spTree>
    <p:extLst>
      <p:ext uri="{BB962C8B-B14F-4D97-AF65-F5344CB8AC3E}">
        <p14:creationId xmlns:p14="http://schemas.microsoft.com/office/powerpoint/2010/main" val="1591641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Mitigate – less </a:t>
            </a:r>
            <a:r>
              <a:rPr lang="en-IN" dirty="0" err="1"/>
              <a:t>harmfull</a:t>
            </a:r>
            <a:endParaRPr lang="en-IN" dirty="0"/>
          </a:p>
        </p:txBody>
      </p:sp>
      <p:sp>
        <p:nvSpPr>
          <p:cNvPr id="4" name="Slide Number Placeholder 3"/>
          <p:cNvSpPr>
            <a:spLocks noGrp="1"/>
          </p:cNvSpPr>
          <p:nvPr>
            <p:ph type="sldNum" sz="quarter" idx="5"/>
          </p:nvPr>
        </p:nvSpPr>
        <p:spPr/>
        <p:txBody>
          <a:bodyPr/>
          <a:lstStyle/>
          <a:p>
            <a:fld id="{D06A13F0-87BC-45FC-946B-4F63472A487C}" type="slidenum">
              <a:rPr lang="en-IN" smtClean="0"/>
              <a:t>59</a:t>
            </a:fld>
            <a:endParaRPr lang="en-IN"/>
          </a:p>
        </p:txBody>
      </p:sp>
    </p:spTree>
    <p:extLst>
      <p:ext uri="{BB962C8B-B14F-4D97-AF65-F5344CB8AC3E}">
        <p14:creationId xmlns:p14="http://schemas.microsoft.com/office/powerpoint/2010/main" val="2647766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At its simplest, </a:t>
            </a:r>
            <a:r>
              <a:rPr lang="en-IN" sz="1200" b="1" kern="1200" dirty="0">
                <a:solidFill>
                  <a:schemeClr val="tx1"/>
                </a:solidFill>
                <a:effectLst/>
                <a:latin typeface="+mn-lt"/>
                <a:ea typeface="+mn-ea"/>
                <a:cs typeface="+mn-cs"/>
              </a:rPr>
              <a:t>Linear Regression</a:t>
            </a:r>
            <a:r>
              <a:rPr lang="en-IN" sz="1200" kern="1200" dirty="0">
                <a:solidFill>
                  <a:schemeClr val="tx1"/>
                </a:solidFill>
                <a:effectLst/>
                <a:latin typeface="+mn-lt"/>
                <a:ea typeface="+mn-ea"/>
                <a:cs typeface="+mn-cs"/>
              </a:rPr>
              <a:t> is a tool used to find a straight trendline through your data points so you can make predictions about the future.</a:t>
            </a:r>
          </a:p>
          <a:p>
            <a:r>
              <a:rPr lang="en-IN" sz="1200" kern="1200" dirty="0">
                <a:solidFill>
                  <a:schemeClr val="tx1"/>
                </a:solidFill>
                <a:effectLst/>
                <a:latin typeface="+mn-lt"/>
                <a:ea typeface="+mn-ea"/>
                <a:cs typeface="+mn-cs"/>
              </a:rPr>
              <a:t>Think of it as finding a clear connection between two things: a </a:t>
            </a:r>
            <a:r>
              <a:rPr lang="en-IN" sz="1200" b="1" kern="1200" dirty="0">
                <a:solidFill>
                  <a:schemeClr val="tx1"/>
                </a:solidFill>
                <a:effectLst/>
                <a:latin typeface="+mn-lt"/>
                <a:ea typeface="+mn-ea"/>
                <a:cs typeface="+mn-cs"/>
              </a:rPr>
              <a:t>cause</a:t>
            </a:r>
            <a:r>
              <a:rPr lang="en-IN" sz="1200" kern="1200" dirty="0">
                <a:solidFill>
                  <a:schemeClr val="tx1"/>
                </a:solidFill>
                <a:effectLst/>
                <a:latin typeface="+mn-lt"/>
                <a:ea typeface="+mn-ea"/>
                <a:cs typeface="+mn-cs"/>
              </a:rPr>
              <a:t> (an input feature) and an </a:t>
            </a:r>
            <a:r>
              <a:rPr lang="en-IN" sz="1200" b="1" kern="1200" dirty="0">
                <a:solidFill>
                  <a:schemeClr val="tx1"/>
                </a:solidFill>
                <a:effectLst/>
                <a:latin typeface="+mn-lt"/>
                <a:ea typeface="+mn-ea"/>
                <a:cs typeface="+mn-cs"/>
              </a:rPr>
              <a:t>effect</a:t>
            </a:r>
            <a:r>
              <a:rPr lang="en-IN" sz="1200" kern="1200" dirty="0">
                <a:solidFill>
                  <a:schemeClr val="tx1"/>
                </a:solidFill>
                <a:effectLst/>
                <a:latin typeface="+mn-lt"/>
                <a:ea typeface="+mn-ea"/>
                <a:cs typeface="+mn-cs"/>
              </a:rPr>
              <a:t> (a target result).</a:t>
            </a:r>
          </a:p>
          <a:p>
            <a:r>
              <a:rPr lang="en-IN" sz="1200" b="1" kern="1200" dirty="0">
                <a:solidFill>
                  <a:schemeClr val="tx1"/>
                </a:solidFill>
                <a:effectLst/>
                <a:latin typeface="+mn-lt"/>
                <a:ea typeface="+mn-ea"/>
                <a:cs typeface="+mn-cs"/>
              </a:rPr>
              <a:t>A Simple Real-World Analogy: Predicting Taxi Fares 🚖</a:t>
            </a:r>
          </a:p>
          <a:p>
            <a:r>
              <a:rPr lang="en-IN" sz="1200" kern="1200" dirty="0">
                <a:solidFill>
                  <a:schemeClr val="tx1"/>
                </a:solidFill>
                <a:effectLst/>
                <a:latin typeface="+mn-lt"/>
                <a:ea typeface="+mn-ea"/>
                <a:cs typeface="+mn-cs"/>
              </a:rPr>
              <a:t>Imagine you want to estimate how much a taxi ride will cost before you step into the car. You know that the cost depends on how many </a:t>
            </a:r>
            <a:r>
              <a:rPr lang="en-IN" sz="1200" kern="1200" dirty="0" err="1">
                <a:solidFill>
                  <a:schemeClr val="tx1"/>
                </a:solidFill>
                <a:effectLst/>
                <a:latin typeface="+mn-lt"/>
                <a:ea typeface="+mn-ea"/>
                <a:cs typeface="+mn-cs"/>
              </a:rPr>
              <a:t>kilometers</a:t>
            </a:r>
            <a:r>
              <a:rPr lang="en-IN" sz="1200" kern="1200" dirty="0">
                <a:solidFill>
                  <a:schemeClr val="tx1"/>
                </a:solidFill>
                <a:effectLst/>
                <a:latin typeface="+mn-lt"/>
                <a:ea typeface="+mn-ea"/>
                <a:cs typeface="+mn-cs"/>
              </a:rPr>
              <a:t> you travel.</a:t>
            </a:r>
          </a:p>
          <a:p>
            <a:r>
              <a:rPr lang="en-IN" sz="1200" b="1" kern="1200" dirty="0">
                <a:solidFill>
                  <a:schemeClr val="tx1"/>
                </a:solidFill>
                <a:effectLst/>
                <a:latin typeface="+mn-lt"/>
                <a:ea typeface="+mn-ea"/>
                <a:cs typeface="+mn-cs"/>
              </a:rPr>
              <a:t>The Input Feature ($X$):</a:t>
            </a:r>
            <a:r>
              <a:rPr lang="en-IN" sz="1200" kern="1200" dirty="0">
                <a:solidFill>
                  <a:schemeClr val="tx1"/>
                </a:solidFill>
                <a:effectLst/>
                <a:latin typeface="+mn-lt"/>
                <a:ea typeface="+mn-ea"/>
                <a:cs typeface="+mn-cs"/>
              </a:rPr>
              <a:t> The distance of your trip (e.g., 10 </a:t>
            </a:r>
            <a:r>
              <a:rPr lang="en-IN" sz="1200" kern="1200" dirty="0" err="1">
                <a:solidFill>
                  <a:schemeClr val="tx1"/>
                </a:solidFill>
                <a:effectLst/>
                <a:latin typeface="+mn-lt"/>
                <a:ea typeface="+mn-ea"/>
                <a:cs typeface="+mn-cs"/>
              </a:rPr>
              <a:t>kilometers</a:t>
            </a:r>
            <a:r>
              <a:rPr lang="en-IN" sz="1200" kern="1200" dirty="0">
                <a:solidFill>
                  <a:schemeClr val="tx1"/>
                </a:solidFill>
                <a:effectLst/>
                <a:latin typeface="+mn-lt"/>
                <a:ea typeface="+mn-ea"/>
                <a:cs typeface="+mn-cs"/>
              </a:rPr>
              <a:t>).</a:t>
            </a:r>
          </a:p>
          <a:p>
            <a:r>
              <a:rPr lang="en-IN" sz="1200" b="1" kern="1200" dirty="0">
                <a:solidFill>
                  <a:schemeClr val="tx1"/>
                </a:solidFill>
                <a:effectLst/>
                <a:latin typeface="+mn-lt"/>
                <a:ea typeface="+mn-ea"/>
                <a:cs typeface="+mn-cs"/>
              </a:rPr>
              <a:t>The Target ($Y$):</a:t>
            </a:r>
            <a:r>
              <a:rPr lang="en-IN" sz="1200" kern="1200" dirty="0">
                <a:solidFill>
                  <a:schemeClr val="tx1"/>
                </a:solidFill>
                <a:effectLst/>
                <a:latin typeface="+mn-lt"/>
                <a:ea typeface="+mn-ea"/>
                <a:cs typeface="+mn-cs"/>
              </a:rPr>
              <a:t> The final price of the ride.</a:t>
            </a:r>
          </a:p>
          <a:p>
            <a:r>
              <a:rPr lang="en-IN" sz="1200" kern="1200" dirty="0">
                <a:solidFill>
                  <a:schemeClr val="tx1"/>
                </a:solidFill>
                <a:effectLst/>
                <a:latin typeface="+mn-lt"/>
                <a:ea typeface="+mn-ea"/>
                <a:cs typeface="+mn-cs"/>
              </a:rPr>
              <a:t>If you plot a few past trips on a graph, you will notice a clear pattern: as the distance goes up, the price goes up in a relatively straight line.</a:t>
            </a:r>
          </a:p>
          <a:p>
            <a:endParaRPr lang="en-IN" dirty="0"/>
          </a:p>
        </p:txBody>
      </p:sp>
      <p:sp>
        <p:nvSpPr>
          <p:cNvPr id="4" name="Slide Number Placeholder 3"/>
          <p:cNvSpPr>
            <a:spLocks noGrp="1"/>
          </p:cNvSpPr>
          <p:nvPr>
            <p:ph type="sldNum" sz="quarter" idx="5"/>
          </p:nvPr>
        </p:nvSpPr>
        <p:spPr/>
        <p:txBody>
          <a:bodyPr/>
          <a:lstStyle/>
          <a:p>
            <a:fld id="{D06A13F0-87BC-45FC-946B-4F63472A487C}" type="slidenum">
              <a:rPr lang="en-IN" smtClean="0"/>
              <a:t>93</a:t>
            </a:fld>
            <a:endParaRPr lang="en-IN"/>
          </a:p>
        </p:txBody>
      </p:sp>
    </p:spTree>
    <p:extLst>
      <p:ext uri="{BB962C8B-B14F-4D97-AF65-F5344CB8AC3E}">
        <p14:creationId xmlns:p14="http://schemas.microsoft.com/office/powerpoint/2010/main" val="7362560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5EAC068-4C70-4F60-BC1F-61A7E7A329F2}" type="slidenum">
              <a:rPr lang="en-US" smtClean="0"/>
              <a:t>132</a:t>
            </a:fld>
            <a:endParaRPr lang="en-US"/>
          </a:p>
        </p:txBody>
      </p:sp>
    </p:spTree>
    <p:extLst>
      <p:ext uri="{BB962C8B-B14F-4D97-AF65-F5344CB8AC3E}">
        <p14:creationId xmlns:p14="http://schemas.microsoft.com/office/powerpoint/2010/main" val="7299111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06A13F0-87BC-45FC-946B-4F63472A487C}" type="slidenum">
              <a:rPr lang="en-IN" smtClean="0"/>
              <a:t>204</a:t>
            </a:fld>
            <a:endParaRPr lang="en-IN"/>
          </a:p>
        </p:txBody>
      </p:sp>
    </p:spTree>
    <p:extLst>
      <p:ext uri="{BB962C8B-B14F-4D97-AF65-F5344CB8AC3E}">
        <p14:creationId xmlns:p14="http://schemas.microsoft.com/office/powerpoint/2010/main" val="16875156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kern="1200" dirty="0">
                <a:solidFill>
                  <a:schemeClr val="tx1"/>
                </a:solidFill>
                <a:effectLst/>
                <a:latin typeface="+mn-lt"/>
                <a:ea typeface="+mn-ea"/>
                <a:cs typeface="+mn-cs"/>
              </a:rPr>
              <a:t>Core Characteristics Min-Max</a:t>
            </a:r>
          </a:p>
          <a:p>
            <a:r>
              <a:rPr lang="en-IN" sz="1200" b="1" kern="1200" dirty="0">
                <a:solidFill>
                  <a:schemeClr val="tx1"/>
                </a:solidFill>
                <a:effectLst/>
                <a:latin typeface="+mn-lt"/>
                <a:ea typeface="+mn-ea"/>
                <a:cs typeface="+mn-cs"/>
              </a:rPr>
              <a:t>Bounded Range:</a:t>
            </a:r>
            <a:r>
              <a:rPr lang="en-IN" sz="1200" kern="1200" dirty="0">
                <a:solidFill>
                  <a:schemeClr val="tx1"/>
                </a:solidFill>
                <a:effectLst/>
                <a:latin typeface="+mn-lt"/>
                <a:ea typeface="+mn-ea"/>
                <a:cs typeface="+mn-cs"/>
              </a:rPr>
              <a:t> You are guaranteed that your minimum value will become exactly $0$ and your maximum value will become exactly $1$.</a:t>
            </a:r>
          </a:p>
          <a:p>
            <a:r>
              <a:rPr lang="en-IN" sz="1200" b="1" kern="1200" dirty="0">
                <a:solidFill>
                  <a:schemeClr val="tx1"/>
                </a:solidFill>
                <a:effectLst/>
                <a:latin typeface="+mn-lt"/>
                <a:ea typeface="+mn-ea"/>
                <a:cs typeface="+mn-cs"/>
              </a:rPr>
              <a:t>Preserves Sparsity:</a:t>
            </a:r>
            <a:r>
              <a:rPr lang="en-IN" sz="1200" kern="1200" dirty="0">
                <a:solidFill>
                  <a:schemeClr val="tx1"/>
                </a:solidFill>
                <a:effectLst/>
                <a:latin typeface="+mn-lt"/>
                <a:ea typeface="+mn-ea"/>
                <a:cs typeface="+mn-cs"/>
              </a:rPr>
              <a:t> It preserves zero values in sparse datasets (like text word-counts), which is computationally efficient.</a:t>
            </a:r>
          </a:p>
          <a:p>
            <a:r>
              <a:rPr lang="en-IN" sz="1200" b="1" kern="1200" dirty="0">
                <a:solidFill>
                  <a:schemeClr val="tx1"/>
                </a:solidFill>
                <a:effectLst/>
                <a:latin typeface="+mn-lt"/>
                <a:ea typeface="+mn-ea"/>
                <a:cs typeface="+mn-cs"/>
              </a:rPr>
              <a:t>Highly Sensitive to Outliers:</a:t>
            </a:r>
            <a:r>
              <a:rPr lang="en-IN" sz="1200" kern="1200" dirty="0">
                <a:solidFill>
                  <a:schemeClr val="tx1"/>
                </a:solidFill>
                <a:effectLst/>
                <a:latin typeface="+mn-lt"/>
                <a:ea typeface="+mn-ea"/>
                <a:cs typeface="+mn-cs"/>
              </a:rPr>
              <a:t> If you have just </a:t>
            </a:r>
            <a:r>
              <a:rPr lang="en-IN" sz="1200" i="1" kern="1200" dirty="0">
                <a:solidFill>
                  <a:schemeClr val="tx1"/>
                </a:solidFill>
                <a:effectLst/>
                <a:latin typeface="+mn-lt"/>
                <a:ea typeface="+mn-ea"/>
                <a:cs typeface="+mn-cs"/>
              </a:rPr>
              <a:t>one</a:t>
            </a:r>
            <a:r>
              <a:rPr lang="en-IN" sz="1200" kern="1200" dirty="0">
                <a:solidFill>
                  <a:schemeClr val="tx1"/>
                </a:solidFill>
                <a:effectLst/>
                <a:latin typeface="+mn-lt"/>
                <a:ea typeface="+mn-ea"/>
                <a:cs typeface="+mn-cs"/>
              </a:rPr>
              <a:t> massive outlier, it will become $1$, and all your normal, valid data points will get compressed into a tiny, squished fraction between $0$ and $0.01$, destroying the underlying distribution.</a:t>
            </a:r>
          </a:p>
          <a:p>
            <a:endParaRPr lang="en-IN" sz="1200" b="1" kern="1200" dirty="0">
              <a:solidFill>
                <a:schemeClr val="tx1"/>
              </a:solidFill>
              <a:effectLst/>
              <a:latin typeface="+mn-lt"/>
              <a:ea typeface="+mn-ea"/>
              <a:cs typeface="+mn-cs"/>
            </a:endParaRPr>
          </a:p>
          <a:p>
            <a:endParaRPr lang="en-IN" sz="1200" b="1" kern="1200" dirty="0">
              <a:solidFill>
                <a:schemeClr val="tx1"/>
              </a:solidFill>
              <a:effectLst/>
              <a:latin typeface="+mn-lt"/>
              <a:ea typeface="+mn-ea"/>
              <a:cs typeface="+mn-cs"/>
            </a:endParaRPr>
          </a:p>
          <a:p>
            <a:r>
              <a:rPr lang="en-IN" sz="1200" b="1" kern="1200" dirty="0">
                <a:solidFill>
                  <a:schemeClr val="tx1"/>
                </a:solidFill>
                <a:effectLst/>
                <a:latin typeface="+mn-lt"/>
                <a:ea typeface="+mn-ea"/>
                <a:cs typeface="+mn-cs"/>
              </a:rPr>
              <a:t>Core Characteristics z-score</a:t>
            </a:r>
          </a:p>
          <a:p>
            <a:r>
              <a:rPr lang="en-IN" sz="1200" b="1" kern="1200" dirty="0">
                <a:solidFill>
                  <a:schemeClr val="tx1"/>
                </a:solidFill>
                <a:effectLst/>
                <a:latin typeface="+mn-lt"/>
                <a:ea typeface="+mn-ea"/>
                <a:cs typeface="+mn-cs"/>
              </a:rPr>
              <a:t>Unbounded Range:</a:t>
            </a:r>
            <a:r>
              <a:rPr lang="en-IN" sz="1200" kern="1200" dirty="0">
                <a:solidFill>
                  <a:schemeClr val="tx1"/>
                </a:solidFill>
                <a:effectLst/>
                <a:latin typeface="+mn-lt"/>
                <a:ea typeface="+mn-ea"/>
                <a:cs typeface="+mn-cs"/>
              </a:rPr>
              <a:t> It does not force the data into a strict 0-to-1 box. The resulting values can theoretically go to infinity in either direction, though most data will naturally fall between $-3$ and $+3$.</a:t>
            </a:r>
          </a:p>
          <a:p>
            <a:r>
              <a:rPr lang="en-IN" sz="1200" b="1" kern="1200" dirty="0">
                <a:solidFill>
                  <a:schemeClr val="tx1"/>
                </a:solidFill>
                <a:effectLst/>
                <a:latin typeface="+mn-lt"/>
                <a:ea typeface="+mn-ea"/>
                <a:cs typeface="+mn-cs"/>
              </a:rPr>
              <a:t>Transforms to Normal Distribution:</a:t>
            </a:r>
            <a:r>
              <a:rPr lang="en-IN" sz="1200" kern="1200" dirty="0">
                <a:solidFill>
                  <a:schemeClr val="tx1"/>
                </a:solidFill>
                <a:effectLst/>
                <a:latin typeface="+mn-lt"/>
                <a:ea typeface="+mn-ea"/>
                <a:cs typeface="+mn-cs"/>
              </a:rPr>
              <a:t> It </a:t>
            </a:r>
            <a:r>
              <a:rPr lang="en-IN" sz="1200" kern="1200" dirty="0" err="1">
                <a:solidFill>
                  <a:schemeClr val="tx1"/>
                </a:solidFill>
                <a:effectLst/>
                <a:latin typeface="+mn-lt"/>
                <a:ea typeface="+mn-ea"/>
                <a:cs typeface="+mn-cs"/>
              </a:rPr>
              <a:t>centers</a:t>
            </a:r>
            <a:r>
              <a:rPr lang="en-IN" sz="1200" kern="1200" dirty="0">
                <a:solidFill>
                  <a:schemeClr val="tx1"/>
                </a:solidFill>
                <a:effectLst/>
                <a:latin typeface="+mn-lt"/>
                <a:ea typeface="+mn-ea"/>
                <a:cs typeface="+mn-cs"/>
              </a:rPr>
              <a:t> the data at zero, which is heavily preferred by algorithms that assume a bell-curve shape.</a:t>
            </a:r>
          </a:p>
          <a:p>
            <a:r>
              <a:rPr lang="en-IN" sz="1200" b="1" kern="1200" dirty="0">
                <a:solidFill>
                  <a:schemeClr val="tx1"/>
                </a:solidFill>
                <a:effectLst/>
                <a:latin typeface="+mn-lt"/>
                <a:ea typeface="+mn-ea"/>
                <a:cs typeface="+mn-cs"/>
              </a:rPr>
              <a:t>Robust to Outliers:</a:t>
            </a:r>
            <a:r>
              <a:rPr lang="en-IN" sz="1200" kern="1200" dirty="0">
                <a:solidFill>
                  <a:schemeClr val="tx1"/>
                </a:solidFill>
                <a:effectLst/>
                <a:latin typeface="+mn-lt"/>
                <a:ea typeface="+mn-ea"/>
                <a:cs typeface="+mn-cs"/>
              </a:rPr>
              <a:t> Because it relies on the average and variance of the whole crowd rather than just the absolute highest and lowest points, outliers do not ruin the scaling of the normal data points. The outlier simply gets a very high Z-score (like $+7.5$), while normal data maintains its spread.</a:t>
            </a:r>
          </a:p>
          <a:p>
            <a:endParaRPr lang="en-IN" dirty="0"/>
          </a:p>
        </p:txBody>
      </p:sp>
      <p:sp>
        <p:nvSpPr>
          <p:cNvPr id="4" name="Slide Number Placeholder 3"/>
          <p:cNvSpPr>
            <a:spLocks noGrp="1"/>
          </p:cNvSpPr>
          <p:nvPr>
            <p:ph type="sldNum" sz="quarter" idx="5"/>
          </p:nvPr>
        </p:nvSpPr>
        <p:spPr/>
        <p:txBody>
          <a:bodyPr/>
          <a:lstStyle/>
          <a:p>
            <a:fld id="{D06A13F0-87BC-45FC-946B-4F63472A487C}" type="slidenum">
              <a:rPr lang="en-IN" smtClean="0"/>
              <a:t>206</a:t>
            </a:fld>
            <a:endParaRPr lang="en-IN"/>
          </a:p>
        </p:txBody>
      </p:sp>
    </p:spTree>
    <p:extLst>
      <p:ext uri="{BB962C8B-B14F-4D97-AF65-F5344CB8AC3E}">
        <p14:creationId xmlns:p14="http://schemas.microsoft.com/office/powerpoint/2010/main" val="34163320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Imagine you are trying to teach a computer how to predict car prices or sort customer reviews. Your data contains text categories like names of cities, </a:t>
            </a:r>
            <a:r>
              <a:rPr lang="en-IN" dirty="0" err="1"/>
              <a:t>colors</a:t>
            </a:r>
            <a:r>
              <a:rPr lang="en-IN" dirty="0"/>
              <a:t>, or rating scales.</a:t>
            </a:r>
          </a:p>
          <a:p>
            <a:r>
              <a:rPr lang="en-IN" dirty="0"/>
              <a:t>Here is the problem: </a:t>
            </a:r>
            <a:r>
              <a:rPr lang="en-IN" b="1" dirty="0"/>
              <a:t>Machine learning algorithms are just calculators. They only understand math, vectors, and numbers.</a:t>
            </a:r>
            <a:r>
              <a:rPr lang="en-IN" dirty="0"/>
              <a:t> They cannot process words like "Bengaluru," "Red," or "High."</a:t>
            </a:r>
          </a:p>
          <a:p>
            <a:r>
              <a:rPr lang="en-IN" b="1" dirty="0"/>
              <a:t>Categorical Encoding</a:t>
            </a:r>
            <a:r>
              <a:rPr lang="en-IN" dirty="0"/>
              <a:t> is the process in Stage 2 of the machine learning lifecycle where we translate these human words into numbers so the algorithms can understand them.</a:t>
            </a:r>
          </a:p>
          <a:p>
            <a:endParaRPr lang="en-IN" dirty="0"/>
          </a:p>
        </p:txBody>
      </p:sp>
      <p:sp>
        <p:nvSpPr>
          <p:cNvPr id="4" name="Slide Number Placeholder 3"/>
          <p:cNvSpPr>
            <a:spLocks noGrp="1"/>
          </p:cNvSpPr>
          <p:nvPr>
            <p:ph type="sldNum" sz="quarter" idx="5"/>
          </p:nvPr>
        </p:nvSpPr>
        <p:spPr/>
        <p:txBody>
          <a:bodyPr/>
          <a:lstStyle/>
          <a:p>
            <a:fld id="{D06A13F0-87BC-45FC-946B-4F63472A487C}" type="slidenum">
              <a:rPr lang="en-IN" smtClean="0"/>
              <a:t>208</a:t>
            </a:fld>
            <a:endParaRPr lang="en-IN"/>
          </a:p>
        </p:txBody>
      </p:sp>
    </p:spTree>
    <p:extLst>
      <p:ext uri="{BB962C8B-B14F-4D97-AF65-F5344CB8AC3E}">
        <p14:creationId xmlns:p14="http://schemas.microsoft.com/office/powerpoint/2010/main" val="901838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06A13F0-87BC-45FC-946B-4F63472A487C}" type="slidenum">
              <a:rPr lang="en-IN" smtClean="0"/>
              <a:t>214</a:t>
            </a:fld>
            <a:endParaRPr lang="en-IN"/>
          </a:p>
        </p:txBody>
      </p:sp>
    </p:spTree>
    <p:extLst>
      <p:ext uri="{BB962C8B-B14F-4D97-AF65-F5344CB8AC3E}">
        <p14:creationId xmlns:p14="http://schemas.microsoft.com/office/powerpoint/2010/main" val="3933060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8CAB6-0A18-B12A-06A5-CFD0B06665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A51E932-87D4-E4A3-5EC5-FD37D2ADBA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B361194-F8BE-C949-EFCA-00EE7F867912}"/>
              </a:ext>
            </a:extLst>
          </p:cNvPr>
          <p:cNvSpPr>
            <a:spLocks noGrp="1"/>
          </p:cNvSpPr>
          <p:nvPr>
            <p:ph type="dt" sz="half" idx="10"/>
          </p:nvPr>
        </p:nvSpPr>
        <p:spPr/>
        <p:txBody>
          <a:bodyPr/>
          <a:lstStyle/>
          <a:p>
            <a:fld id="{DF10130E-D3C0-4B5D-8C12-EBDFC4E82B3D}" type="datetimeFigureOut">
              <a:rPr lang="en-IN" smtClean="0"/>
              <a:pPr/>
              <a:t>22-10-2026</a:t>
            </a:fld>
            <a:endParaRPr lang="en-IN"/>
          </a:p>
        </p:txBody>
      </p:sp>
      <p:sp>
        <p:nvSpPr>
          <p:cNvPr id="5" name="Footer Placeholder 4">
            <a:extLst>
              <a:ext uri="{FF2B5EF4-FFF2-40B4-BE49-F238E27FC236}">
                <a16:creationId xmlns:a16="http://schemas.microsoft.com/office/drawing/2014/main" id="{FF334BE2-760E-FA63-F53E-6EC6D65C14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019652-B072-95C3-666A-824B223F073C}"/>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32081034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6250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55807-6537-7A6D-A641-B2A17376E9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5B0403-42FF-1C59-1D5B-32C3D76224A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186C83-3353-0411-EE9B-3502DB3E4588}"/>
              </a:ext>
            </a:extLst>
          </p:cNvPr>
          <p:cNvSpPr>
            <a:spLocks noGrp="1"/>
          </p:cNvSpPr>
          <p:nvPr>
            <p:ph type="dt" sz="half" idx="10"/>
          </p:nvPr>
        </p:nvSpPr>
        <p:spPr/>
        <p:txBody>
          <a:bodyPr/>
          <a:lstStyle/>
          <a:p>
            <a:fld id="{DF10130E-D3C0-4B5D-8C12-EBDFC4E82B3D}" type="datetimeFigureOut">
              <a:rPr lang="en-IN" smtClean="0"/>
              <a:pPr/>
              <a:t>22-10-2026</a:t>
            </a:fld>
            <a:endParaRPr lang="en-IN"/>
          </a:p>
        </p:txBody>
      </p:sp>
      <p:sp>
        <p:nvSpPr>
          <p:cNvPr id="5" name="Footer Placeholder 4">
            <a:extLst>
              <a:ext uri="{FF2B5EF4-FFF2-40B4-BE49-F238E27FC236}">
                <a16:creationId xmlns:a16="http://schemas.microsoft.com/office/drawing/2014/main" id="{470F388B-76FB-C020-4F27-4E8F47369B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013B55-0C9D-95FE-DE57-76D9CAC53846}"/>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40718621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0200A-4353-C353-E184-88D52DADCD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3E2DB6-9BB8-38D4-16CA-0544ED95B0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CE55387-24D0-58FA-83A3-7DE9457A88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6792733-6AE7-EB0F-FA3B-AF5CDFCC84AC}"/>
              </a:ext>
            </a:extLst>
          </p:cNvPr>
          <p:cNvSpPr>
            <a:spLocks noGrp="1"/>
          </p:cNvSpPr>
          <p:nvPr>
            <p:ph type="dt" sz="half" idx="10"/>
          </p:nvPr>
        </p:nvSpPr>
        <p:spPr/>
        <p:txBody>
          <a:bodyPr/>
          <a:lstStyle/>
          <a:p>
            <a:fld id="{DF10130E-D3C0-4B5D-8C12-EBDFC4E82B3D}" type="datetimeFigureOut">
              <a:rPr lang="en-IN" smtClean="0"/>
              <a:pPr/>
              <a:t>22-10-2026</a:t>
            </a:fld>
            <a:endParaRPr lang="en-IN"/>
          </a:p>
        </p:txBody>
      </p:sp>
      <p:sp>
        <p:nvSpPr>
          <p:cNvPr id="6" name="Footer Placeholder 5">
            <a:extLst>
              <a:ext uri="{FF2B5EF4-FFF2-40B4-BE49-F238E27FC236}">
                <a16:creationId xmlns:a16="http://schemas.microsoft.com/office/drawing/2014/main" id="{051F2C6F-7464-367E-E3F8-97DC8C8F38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816EA2-7E56-7BA3-2439-E543C4160FCD}"/>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2368239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5A9EF-5440-6E76-FF73-0CF065E3FE2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746708-25E5-77F6-A964-227D0EE4C5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0C22E3-5FB3-FA79-ED62-21819A6A00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E96025A-E802-D170-D6B8-690A286BCE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0B7203-20FE-415A-F923-11A30CAAC6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7DA1C9-7D6A-71D0-70D9-9B0828718429}"/>
              </a:ext>
            </a:extLst>
          </p:cNvPr>
          <p:cNvSpPr>
            <a:spLocks noGrp="1"/>
          </p:cNvSpPr>
          <p:nvPr>
            <p:ph type="dt" sz="half" idx="10"/>
          </p:nvPr>
        </p:nvSpPr>
        <p:spPr/>
        <p:txBody>
          <a:bodyPr/>
          <a:lstStyle/>
          <a:p>
            <a:fld id="{DF10130E-D3C0-4B5D-8C12-EBDFC4E82B3D}" type="datetimeFigureOut">
              <a:rPr lang="en-IN" smtClean="0"/>
              <a:pPr/>
              <a:t>22-10-2026</a:t>
            </a:fld>
            <a:endParaRPr lang="en-IN"/>
          </a:p>
        </p:txBody>
      </p:sp>
      <p:sp>
        <p:nvSpPr>
          <p:cNvPr id="8" name="Footer Placeholder 7">
            <a:extLst>
              <a:ext uri="{FF2B5EF4-FFF2-40B4-BE49-F238E27FC236}">
                <a16:creationId xmlns:a16="http://schemas.microsoft.com/office/drawing/2014/main" id="{C5FE8C4F-142A-8803-C2AD-C6393A49A31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A83C7CE-86E2-2A63-0ECE-6F7089A68601}"/>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1181712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AE12F-6D65-52A0-48AA-B03A63F84E5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2C2E755-9EA8-6439-9AA9-91FF3D9183D1}"/>
              </a:ext>
            </a:extLst>
          </p:cNvPr>
          <p:cNvSpPr>
            <a:spLocks noGrp="1"/>
          </p:cNvSpPr>
          <p:nvPr>
            <p:ph type="dt" sz="half" idx="10"/>
          </p:nvPr>
        </p:nvSpPr>
        <p:spPr/>
        <p:txBody>
          <a:bodyPr/>
          <a:lstStyle/>
          <a:p>
            <a:fld id="{DF10130E-D3C0-4B5D-8C12-EBDFC4E82B3D}" type="datetimeFigureOut">
              <a:rPr lang="en-IN" smtClean="0"/>
              <a:pPr/>
              <a:t>22-10-2026</a:t>
            </a:fld>
            <a:endParaRPr lang="en-IN"/>
          </a:p>
        </p:txBody>
      </p:sp>
      <p:sp>
        <p:nvSpPr>
          <p:cNvPr id="4" name="Footer Placeholder 3">
            <a:extLst>
              <a:ext uri="{FF2B5EF4-FFF2-40B4-BE49-F238E27FC236}">
                <a16:creationId xmlns:a16="http://schemas.microsoft.com/office/drawing/2014/main" id="{3DEB468B-111F-CF06-6C38-3BC8CFF43D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FD94801-333D-738E-07D1-D8DAF45C098D}"/>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465337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345271-495D-152E-CF4A-DF4710D8BEC2}"/>
              </a:ext>
            </a:extLst>
          </p:cNvPr>
          <p:cNvSpPr>
            <a:spLocks noGrp="1"/>
          </p:cNvSpPr>
          <p:nvPr>
            <p:ph type="dt" sz="half" idx="10"/>
          </p:nvPr>
        </p:nvSpPr>
        <p:spPr/>
        <p:txBody>
          <a:bodyPr/>
          <a:lstStyle/>
          <a:p>
            <a:fld id="{DF10130E-D3C0-4B5D-8C12-EBDFC4E82B3D}" type="datetimeFigureOut">
              <a:rPr lang="en-IN" smtClean="0"/>
              <a:pPr/>
              <a:t>22-10-2026</a:t>
            </a:fld>
            <a:endParaRPr lang="en-IN"/>
          </a:p>
        </p:txBody>
      </p:sp>
      <p:sp>
        <p:nvSpPr>
          <p:cNvPr id="3" name="Footer Placeholder 2">
            <a:extLst>
              <a:ext uri="{FF2B5EF4-FFF2-40B4-BE49-F238E27FC236}">
                <a16:creationId xmlns:a16="http://schemas.microsoft.com/office/drawing/2014/main" id="{24F704DD-032D-53A7-BFF6-45E5965DD43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3277178-4230-89A4-5872-75B349208232}"/>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3537007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A69D6-24F8-42C9-1D77-EC88669074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9D61D7-9867-D57B-393C-47C770AA65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ED94E2-1CFC-4DFF-4491-2085D8036D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0CD279-5116-5E15-60C5-9EF79DDB4C64}"/>
              </a:ext>
            </a:extLst>
          </p:cNvPr>
          <p:cNvSpPr>
            <a:spLocks noGrp="1"/>
          </p:cNvSpPr>
          <p:nvPr>
            <p:ph type="dt" sz="half" idx="10"/>
          </p:nvPr>
        </p:nvSpPr>
        <p:spPr/>
        <p:txBody>
          <a:bodyPr/>
          <a:lstStyle/>
          <a:p>
            <a:fld id="{DF10130E-D3C0-4B5D-8C12-EBDFC4E82B3D}" type="datetimeFigureOut">
              <a:rPr lang="en-IN" smtClean="0"/>
              <a:pPr/>
              <a:t>22-10-2026</a:t>
            </a:fld>
            <a:endParaRPr lang="en-IN"/>
          </a:p>
        </p:txBody>
      </p:sp>
      <p:sp>
        <p:nvSpPr>
          <p:cNvPr id="6" name="Footer Placeholder 5">
            <a:extLst>
              <a:ext uri="{FF2B5EF4-FFF2-40B4-BE49-F238E27FC236}">
                <a16:creationId xmlns:a16="http://schemas.microsoft.com/office/drawing/2014/main" id="{69031C19-F77D-04E3-B033-CF6338C139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8963EA-8864-E6BE-24F5-23AFDA15D8B9}"/>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1808667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56FE6-775B-5F83-EEAB-E36547DB11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1964366-F9DB-7570-8134-3DDD5A1017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EFF4E6-78FE-6A93-F107-25294F26CE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DA6E5D-D1B7-97B4-E5F0-293D2283C25B}"/>
              </a:ext>
            </a:extLst>
          </p:cNvPr>
          <p:cNvSpPr>
            <a:spLocks noGrp="1"/>
          </p:cNvSpPr>
          <p:nvPr>
            <p:ph type="dt" sz="half" idx="10"/>
          </p:nvPr>
        </p:nvSpPr>
        <p:spPr/>
        <p:txBody>
          <a:bodyPr/>
          <a:lstStyle/>
          <a:p>
            <a:fld id="{DF10130E-D3C0-4B5D-8C12-EBDFC4E82B3D}" type="datetimeFigureOut">
              <a:rPr lang="en-IN" smtClean="0"/>
              <a:pPr/>
              <a:t>22-10-2026</a:t>
            </a:fld>
            <a:endParaRPr lang="en-IN"/>
          </a:p>
        </p:txBody>
      </p:sp>
      <p:sp>
        <p:nvSpPr>
          <p:cNvPr id="6" name="Footer Placeholder 5">
            <a:extLst>
              <a:ext uri="{FF2B5EF4-FFF2-40B4-BE49-F238E27FC236}">
                <a16:creationId xmlns:a16="http://schemas.microsoft.com/office/drawing/2014/main" id="{7470F263-4F04-05C5-5AB8-17B4BF4369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8888F2-58F4-670D-C34D-AD8FC7455A6D}"/>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1408837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48A30-B913-89F3-B532-786CB42C2F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D29D4D-DEE7-6A1D-B42E-38574A7273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96FAF5-A696-3446-BF82-38164F6A8A2C}"/>
              </a:ext>
            </a:extLst>
          </p:cNvPr>
          <p:cNvSpPr>
            <a:spLocks noGrp="1"/>
          </p:cNvSpPr>
          <p:nvPr>
            <p:ph type="dt" sz="half" idx="10"/>
          </p:nvPr>
        </p:nvSpPr>
        <p:spPr/>
        <p:txBody>
          <a:bodyPr/>
          <a:lstStyle/>
          <a:p>
            <a:fld id="{DF10130E-D3C0-4B5D-8C12-EBDFC4E82B3D}" type="datetimeFigureOut">
              <a:rPr lang="en-IN" smtClean="0"/>
              <a:pPr/>
              <a:t>22-10-2026</a:t>
            </a:fld>
            <a:endParaRPr lang="en-IN"/>
          </a:p>
        </p:txBody>
      </p:sp>
      <p:sp>
        <p:nvSpPr>
          <p:cNvPr id="5" name="Footer Placeholder 4">
            <a:extLst>
              <a:ext uri="{FF2B5EF4-FFF2-40B4-BE49-F238E27FC236}">
                <a16:creationId xmlns:a16="http://schemas.microsoft.com/office/drawing/2014/main" id="{24EE94DE-54DD-A6A8-474C-AB93008EA0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98F6DA-A2A6-C945-BF21-6706B5FA6B69}"/>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4139727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308265-AD14-4580-CC74-9C4CF00E99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F309DA-5772-6FBD-97A3-F137B93F90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C1C790-714C-45F7-D996-F901BECA504F}"/>
              </a:ext>
            </a:extLst>
          </p:cNvPr>
          <p:cNvSpPr>
            <a:spLocks noGrp="1"/>
          </p:cNvSpPr>
          <p:nvPr>
            <p:ph type="dt" sz="half" idx="10"/>
          </p:nvPr>
        </p:nvSpPr>
        <p:spPr/>
        <p:txBody>
          <a:bodyPr/>
          <a:lstStyle/>
          <a:p>
            <a:fld id="{DF10130E-D3C0-4B5D-8C12-EBDFC4E82B3D}" type="datetimeFigureOut">
              <a:rPr lang="en-IN" smtClean="0"/>
              <a:pPr/>
              <a:t>22-10-2026</a:t>
            </a:fld>
            <a:endParaRPr lang="en-IN"/>
          </a:p>
        </p:txBody>
      </p:sp>
      <p:sp>
        <p:nvSpPr>
          <p:cNvPr id="5" name="Footer Placeholder 4">
            <a:extLst>
              <a:ext uri="{FF2B5EF4-FFF2-40B4-BE49-F238E27FC236}">
                <a16:creationId xmlns:a16="http://schemas.microsoft.com/office/drawing/2014/main" id="{7BF76402-000D-C35B-9564-25F55D31AC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067743-5BF8-DFC2-CBDC-EB27E01169C7}"/>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6375857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B05E56-8D2F-5F2F-8551-44A2B095FC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6445D5-7E47-8624-9AC3-BB3BCD2772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9B5D27-2F61-7E25-7C4F-55CEB62622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10130E-D3C0-4B5D-8C12-EBDFC4E82B3D}" type="datetimeFigureOut">
              <a:rPr lang="en-IN" smtClean="0"/>
              <a:pPr/>
              <a:t>22-10-2026</a:t>
            </a:fld>
            <a:endParaRPr lang="en-IN"/>
          </a:p>
        </p:txBody>
      </p:sp>
      <p:sp>
        <p:nvSpPr>
          <p:cNvPr id="5" name="Footer Placeholder 4">
            <a:extLst>
              <a:ext uri="{FF2B5EF4-FFF2-40B4-BE49-F238E27FC236}">
                <a16:creationId xmlns:a16="http://schemas.microsoft.com/office/drawing/2014/main" id="{628E40CC-F5EF-5459-5DE6-51B24194D7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C677AFA-267B-483B-8828-7D5EC7CBFD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0C9D19-9CC2-4BD0-80ED-38FDA6BAD898}" type="slidenum">
              <a:rPr lang="en-IN" smtClean="0"/>
              <a:pPr/>
              <a:t>‹#›</a:t>
            </a:fld>
            <a:endParaRPr lang="en-IN"/>
          </a:p>
        </p:txBody>
      </p:sp>
    </p:spTree>
    <p:extLst>
      <p:ext uri="{BB962C8B-B14F-4D97-AF65-F5344CB8AC3E}">
        <p14:creationId xmlns:p14="http://schemas.microsoft.com/office/powerpoint/2010/main" val="892197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Learning Objectives 1</a:t>
            </a:r>
            <a:endParaRPr lang="en-US" sz="2800" b="1" dirty="0">
              <a:solidFill>
                <a:srgbClr val="D9212B"/>
              </a:solidFill>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96;p3"/>
          <p:cNvSpPr txBox="1"/>
          <p:nvPr/>
        </p:nvSpPr>
        <p:spPr>
          <a:xfrm>
            <a:off x="773393" y="1672895"/>
            <a:ext cx="8074981" cy="57134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000"/>
              <a:buFont typeface="Arial"/>
              <a:buNone/>
            </a:pPr>
            <a:r>
              <a:rPr lang="en-US" sz="2000" b="1" dirty="0">
                <a:solidFill>
                  <a:schemeClr val="dk1"/>
                </a:solidFill>
                <a:latin typeface="Avenir"/>
                <a:ea typeface="Avenir"/>
                <a:cs typeface="Avenir"/>
                <a:sym typeface="Avenir"/>
              </a:rPr>
              <a:t>By the end of this session, you will be able to:</a:t>
            </a:r>
            <a:endParaRPr dirty="0"/>
          </a:p>
        </p:txBody>
      </p:sp>
      <p:sp>
        <p:nvSpPr>
          <p:cNvPr id="5" name="Google Shape;98;p3"/>
          <p:cNvSpPr txBox="1"/>
          <p:nvPr/>
        </p:nvSpPr>
        <p:spPr>
          <a:xfrm>
            <a:off x="885636" y="2326538"/>
            <a:ext cx="10132884" cy="3538364"/>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r>
              <a:rPr lang="en-US" dirty="0">
                <a:latin typeface=""/>
                <a:ea typeface="Times New Roman"/>
                <a:cs typeface="Times New Roman"/>
              </a:rPr>
              <a:t> </a:t>
            </a:r>
          </a:p>
          <a:p>
            <a:pPr>
              <a:lnSpc>
                <a:spcPct val="115000"/>
              </a:lnSpc>
              <a:spcAft>
                <a:spcPts val="1000"/>
              </a:spcAft>
            </a:pPr>
            <a:r>
              <a:rPr lang="en-US" dirty="0">
                <a:latin typeface=""/>
                <a:ea typeface="Times New Roman"/>
                <a:cs typeface="Times New Roman"/>
              </a:rPr>
              <a:t>•   Define machine learning and its core principles.</a:t>
            </a:r>
          </a:p>
          <a:p>
            <a:pPr>
              <a:lnSpc>
                <a:spcPct val="115000"/>
              </a:lnSpc>
              <a:spcAft>
                <a:spcPts val="1000"/>
              </a:spcAft>
            </a:pPr>
            <a:r>
              <a:rPr lang="en-US" dirty="0">
                <a:latin typeface=""/>
                <a:ea typeface="Times New Roman"/>
                <a:cs typeface="Times New Roman"/>
              </a:rPr>
              <a:t>•   Differentiate machine learning from traditional programming paradigms.</a:t>
            </a:r>
          </a:p>
          <a:p>
            <a:pPr>
              <a:lnSpc>
                <a:spcPct val="115000"/>
              </a:lnSpc>
              <a:spcAft>
                <a:spcPts val="1000"/>
              </a:spcAft>
            </a:pPr>
            <a:r>
              <a:rPr lang="en-US" dirty="0">
                <a:latin typeface=""/>
                <a:ea typeface="Times New Roman"/>
                <a:cs typeface="Times New Roman"/>
              </a:rPr>
              <a:t>•   Identify diverse real-world applications of machine learning.</a:t>
            </a:r>
          </a:p>
          <a:p>
            <a:pPr>
              <a:lnSpc>
                <a:spcPct val="115000"/>
              </a:lnSpc>
              <a:spcAft>
                <a:spcPts val="1000"/>
              </a:spcAft>
            </a:pPr>
            <a:r>
              <a:rPr lang="en-US" dirty="0">
                <a:latin typeface=""/>
                <a:ea typeface="Times New Roman"/>
                <a:cs typeface="Times New Roman"/>
              </a:rPr>
              <a:t>•   Recognize the main types of machine learning: supervised, unsupervised, semi-supervised, and reinforcement learning.</a:t>
            </a:r>
          </a:p>
          <a:p>
            <a:pPr>
              <a:lnSpc>
                <a:spcPct val="115000"/>
              </a:lnSpc>
              <a:spcAft>
                <a:spcPts val="1000"/>
              </a:spcAft>
            </a:pPr>
            <a:r>
              <a:rPr lang="en-US" dirty="0">
                <a:latin typeface=""/>
                <a:ea typeface="Times New Roman"/>
                <a:cs typeface="Times New Roman"/>
              </a:rPr>
              <a:t>•   Understand the key characteristics and use cases for each machine learning type.</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1635202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a:t>
            </a:r>
            <a:r>
              <a:rPr lang="en-US" dirty="0"/>
              <a:t>Machine learning is a transformative field within computer science and artificial intelligence.</a:t>
            </a:r>
          </a:p>
          <a:p>
            <a:endParaRPr lang="en-US" sz="2000" dirty="0"/>
          </a:p>
          <a:p>
            <a:r>
              <a:rPr lang="en-US" dirty="0"/>
              <a:t>•   It empowers computers to learn from data and enhance performance without explicit programming.</a:t>
            </a:r>
          </a:p>
          <a:p>
            <a:endParaRPr lang="en-US" sz="2000" dirty="0"/>
          </a:p>
          <a:p>
            <a:r>
              <a:rPr lang="en-US" sz="2000" dirty="0"/>
              <a:t>•   The core concept involves systems evolving and adapting by learning from new data.</a:t>
            </a:r>
          </a:p>
          <a:p>
            <a:endParaRPr lang="en-US" sz="2000" dirty="0"/>
          </a:p>
          <a:p>
            <a:r>
              <a:rPr lang="en-US" sz="2000" dirty="0"/>
              <a:t>•   It emerged as a solution to the rigid limitations of traditional, rule-based programming.</a:t>
            </a:r>
          </a:p>
          <a:p>
            <a:endParaRPr lang="en-US" sz="2000" dirty="0"/>
          </a:p>
          <a:p>
            <a:r>
              <a:rPr lang="en-US" sz="1600" dirty="0"/>
              <a:t>•   This field has garnered immense attention and found numerous applications across diverse industries.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Introduction to Machine Learning</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7F5D17FE-DDCD-CBB7-6614-C174ECC6B8C9}"/>
                  </a:ext>
                </a:extLst>
              </p14:cNvPr>
              <p14:cNvContentPartPr/>
              <p14:nvPr/>
            </p14:nvContentPartPr>
            <p14:xfrm>
              <a:off x="3613320" y="2622600"/>
              <a:ext cx="1390680" cy="51120"/>
            </p14:xfrm>
          </p:contentPart>
        </mc:Choice>
        <mc:Fallback>
          <p:pic>
            <p:nvPicPr>
              <p:cNvPr id="2" name="Ink 1">
                <a:extLst>
                  <a:ext uri="{FF2B5EF4-FFF2-40B4-BE49-F238E27FC236}">
                    <a16:creationId xmlns:a16="http://schemas.microsoft.com/office/drawing/2014/main" id="{7F5D17FE-DDCD-CBB7-6614-C174ECC6B8C9}"/>
                  </a:ext>
                </a:extLst>
              </p:cNvPr>
              <p:cNvPicPr/>
              <p:nvPr/>
            </p:nvPicPr>
            <p:blipFill>
              <a:blip r:embed="rId3"/>
              <a:stretch>
                <a:fillRect/>
              </a:stretch>
            </p:blipFill>
            <p:spPr>
              <a:xfrm>
                <a:off x="3603960" y="2613240"/>
                <a:ext cx="1409400" cy="6984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Machine learning is defined as a </a:t>
            </a:r>
            <a:r>
              <a:rPr lang="en-US" sz="2000" dirty="0">
                <a:solidFill>
                  <a:srgbClr val="FF0000"/>
                </a:solidFill>
              </a:rPr>
              <a:t>subset of AI</a:t>
            </a:r>
            <a:r>
              <a:rPr lang="en-US" sz="2000" dirty="0"/>
              <a:t>, enabling computers to </a:t>
            </a:r>
            <a:r>
              <a:rPr lang="en-US" sz="2000" dirty="0">
                <a:solidFill>
                  <a:srgbClr val="FF0000"/>
                </a:solidFill>
              </a:rPr>
              <a:t>learn from data </a:t>
            </a:r>
            <a:r>
              <a:rPr lang="en-US" sz="2000" dirty="0"/>
              <a:t>and improve on tasks.</a:t>
            </a:r>
          </a:p>
          <a:p>
            <a:endParaRPr lang="en-US" sz="2000" dirty="0"/>
          </a:p>
          <a:p>
            <a:r>
              <a:rPr lang="en-US" sz="2000" dirty="0"/>
              <a:t>•   It involves developing algorithms and models that </a:t>
            </a:r>
            <a:r>
              <a:rPr lang="en-US" sz="2000" dirty="0">
                <a:solidFill>
                  <a:srgbClr val="FF0000"/>
                </a:solidFill>
              </a:rPr>
              <a:t>automatically identify patterns </a:t>
            </a:r>
            <a:r>
              <a:rPr lang="en-US" sz="2000" dirty="0"/>
              <a:t>and make </a:t>
            </a:r>
            <a:r>
              <a:rPr lang="en-US" sz="2000" dirty="0">
                <a:solidFill>
                  <a:srgbClr val="FF0000"/>
                </a:solidFill>
              </a:rPr>
              <a:t>data-driven decisions</a:t>
            </a:r>
            <a:r>
              <a:rPr lang="en-US" sz="2000" dirty="0"/>
              <a:t>.</a:t>
            </a:r>
          </a:p>
          <a:p>
            <a:endParaRPr lang="en-US" sz="2000" dirty="0"/>
          </a:p>
          <a:p>
            <a:r>
              <a:rPr lang="en-US" sz="2000" dirty="0"/>
              <a:t>•   The concept has a rich historical background, tracing back to the mid-20th century.</a:t>
            </a:r>
          </a:p>
          <a:p>
            <a:endParaRPr lang="en-US" sz="2000" dirty="0"/>
          </a:p>
          <a:p>
            <a:r>
              <a:rPr lang="en-US" sz="2000" dirty="0"/>
              <a:t>•   </a:t>
            </a:r>
            <a:r>
              <a:rPr lang="en-US" sz="2000" dirty="0">
                <a:solidFill>
                  <a:srgbClr val="FF0000"/>
                </a:solidFill>
              </a:rPr>
              <a:t>Arthur Samuel </a:t>
            </a:r>
            <a:r>
              <a:rPr lang="en-US" sz="2000" dirty="0"/>
              <a:t>coined the term "machine learning" in </a:t>
            </a:r>
            <a:r>
              <a:rPr lang="en-US" sz="2000" dirty="0">
                <a:solidFill>
                  <a:srgbClr val="FF0000"/>
                </a:solidFill>
              </a:rPr>
              <a:t>1959</a:t>
            </a:r>
            <a:r>
              <a:rPr lang="en-US" sz="2000" dirty="0"/>
              <a:t> with a program that learned to play checkers.</a:t>
            </a:r>
          </a:p>
          <a:p>
            <a:endParaRPr lang="en-US" sz="2000" dirty="0"/>
          </a:p>
          <a:p>
            <a:r>
              <a:rPr lang="en-US" sz="2000" dirty="0"/>
              <a:t>•   The field's evolution is marked by advancements in statistics, optimization, and computing power.</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Definitions and History</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5E6148AC-88FB-29C2-4E99-566C6EB6D92B}"/>
                  </a:ext>
                </a:extLst>
              </p14:cNvPr>
              <p14:cNvContentPartPr/>
              <p14:nvPr/>
            </p14:nvContentPartPr>
            <p14:xfrm>
              <a:off x="1015920" y="4451400"/>
              <a:ext cx="6267960" cy="120960"/>
            </p14:xfrm>
          </p:contentPart>
        </mc:Choice>
        <mc:Fallback>
          <p:pic>
            <p:nvPicPr>
              <p:cNvPr id="2" name="Ink 1">
                <a:extLst>
                  <a:ext uri="{FF2B5EF4-FFF2-40B4-BE49-F238E27FC236}">
                    <a16:creationId xmlns:a16="http://schemas.microsoft.com/office/drawing/2014/main" id="{5E6148AC-88FB-29C2-4E99-566C6EB6D92B}"/>
                  </a:ext>
                </a:extLst>
              </p:cNvPr>
              <p:cNvPicPr/>
              <p:nvPr/>
            </p:nvPicPr>
            <p:blipFill>
              <a:blip r:embed="rId3"/>
              <a:stretch>
                <a:fillRect/>
              </a:stretch>
            </p:blipFill>
            <p:spPr>
              <a:xfrm>
                <a:off x="1006560" y="4442040"/>
                <a:ext cx="6286680" cy="13968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Explicit Rules vs. Data-Driven Learning: Traditional programming relies on hard-coded rules, while ML learns rules automatically from data.</a:t>
            </a:r>
          </a:p>
          <a:p>
            <a:endParaRPr lang="en-US" sz="2000" dirty="0"/>
          </a:p>
          <a:p>
            <a:r>
              <a:rPr lang="en-US" sz="2000" dirty="0"/>
              <a:t>• Flexibility: Traditional programs are rigid; ML systems adapt gracefully to new data and unforeseen scenarios.</a:t>
            </a:r>
          </a:p>
          <a:p>
            <a:endParaRPr lang="en-US" sz="2000" dirty="0"/>
          </a:p>
          <a:p>
            <a:r>
              <a:rPr lang="en-US" sz="2000" dirty="0"/>
              <a:t>• Performance Improvement: ML systems improve their performance over time as they encounter more data.</a:t>
            </a:r>
          </a:p>
          <a:p>
            <a:endParaRPr lang="en-US" sz="2000" dirty="0"/>
          </a:p>
          <a:p>
            <a:r>
              <a:rPr lang="en-US" sz="2000" dirty="0"/>
              <a:t>• Consistent Performance: Traditional programs generally maintain performance unless explicitly updated by human programmers.</a:t>
            </a:r>
          </a:p>
          <a:p>
            <a:endParaRPr lang="en-US" sz="2000" dirty="0"/>
          </a:p>
          <a:p>
            <a:r>
              <a:rPr lang="en-US" sz="2000" dirty="0"/>
              <a:t>• Complexity: ML is ideal for complex tasks with vast datasets where traditional human programming would be impractical.</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Machine Learning vs. Traditional Programming</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690C5009-9E82-DE5C-E68B-09B47B9B21B4}"/>
                  </a:ext>
                </a:extLst>
              </p14:cNvPr>
              <p14:cNvContentPartPr/>
              <p14:nvPr/>
            </p14:nvContentPartPr>
            <p14:xfrm>
              <a:off x="895320" y="2038320"/>
              <a:ext cx="3949920" cy="51120"/>
            </p14:xfrm>
          </p:contentPart>
        </mc:Choice>
        <mc:Fallback>
          <p:pic>
            <p:nvPicPr>
              <p:cNvPr id="2" name="Ink 1">
                <a:extLst>
                  <a:ext uri="{FF2B5EF4-FFF2-40B4-BE49-F238E27FC236}">
                    <a16:creationId xmlns:a16="http://schemas.microsoft.com/office/drawing/2014/main" id="{690C5009-9E82-DE5C-E68B-09B47B9B21B4}"/>
                  </a:ext>
                </a:extLst>
              </p:cNvPr>
              <p:cNvPicPr/>
              <p:nvPr/>
            </p:nvPicPr>
            <p:blipFill>
              <a:blip r:embed="rId3"/>
              <a:stretch>
                <a:fillRect/>
              </a:stretch>
            </p:blipFill>
            <p:spPr>
              <a:xfrm>
                <a:off x="885960" y="2028960"/>
                <a:ext cx="3968640" cy="6984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589181" y="1041212"/>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 Healthcare: Used for disease diagnosis, drug discovery, and creating personalized treatment plans.</a:t>
            </a:r>
          </a:p>
          <a:p>
            <a:endParaRPr lang="en-US" sz="2000" dirty="0"/>
          </a:p>
          <a:p>
            <a:r>
              <a:rPr lang="en-US" sz="2000" dirty="0"/>
              <a:t>• Finance: Aids in fraud detection, stock market forecasting, and credit risk assessment.</a:t>
            </a:r>
          </a:p>
          <a:p>
            <a:endParaRPr lang="en-US" sz="2000" dirty="0"/>
          </a:p>
          <a:p>
            <a:r>
              <a:rPr lang="en-US" sz="2000" dirty="0"/>
              <a:t>• Natural Language Processing (NLP): Powers language translation, sentiment analysis, and conversational AI (</a:t>
            </a:r>
            <a:r>
              <a:rPr lang="en-US" sz="2000" dirty="0" err="1"/>
              <a:t>chatbots</a:t>
            </a:r>
            <a:r>
              <a:rPr lang="en-US" sz="2000" dirty="0"/>
              <a:t>).</a:t>
            </a:r>
          </a:p>
          <a:p>
            <a:endParaRPr lang="en-US" sz="2000" dirty="0"/>
          </a:p>
          <a:p>
            <a:r>
              <a:rPr lang="en-US" sz="2000" dirty="0"/>
              <a:t>• Autonomous Vehicles: Enables self-driving cars to perceive environments, make decisions, and navigate safely.</a:t>
            </a:r>
          </a:p>
          <a:p>
            <a:endParaRPr lang="en-US" sz="2000" dirty="0"/>
          </a:p>
          <a:p>
            <a:r>
              <a:rPr lang="en-US" sz="2000" dirty="0"/>
              <a:t>• Recommendation Systems: Personalizes content suggestions for users on platforms like Netflix and Amazon.</a:t>
            </a:r>
          </a:p>
          <a:p>
            <a:endParaRPr lang="en-US" sz="2000" dirty="0"/>
          </a:p>
          <a:p>
            <a:r>
              <a:rPr lang="en-US" sz="2000" dirty="0"/>
              <a:t>• Image and Video Analysis: Applied in facial recognition, object detection for security and entertainment.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Real-World Applications</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52A6F35F-19C0-CBB2-4B3C-975AD83E1037}"/>
                  </a:ext>
                </a:extLst>
              </p14:cNvPr>
              <p14:cNvContentPartPr/>
              <p14:nvPr/>
            </p14:nvContentPartPr>
            <p14:xfrm>
              <a:off x="870120" y="5016600"/>
              <a:ext cx="2914920" cy="63720"/>
            </p14:xfrm>
          </p:contentPart>
        </mc:Choice>
        <mc:Fallback>
          <p:pic>
            <p:nvPicPr>
              <p:cNvPr id="2" name="Ink 1">
                <a:extLst>
                  <a:ext uri="{FF2B5EF4-FFF2-40B4-BE49-F238E27FC236}">
                    <a16:creationId xmlns:a16="http://schemas.microsoft.com/office/drawing/2014/main" id="{52A6F35F-19C0-CBB2-4B3C-975AD83E1037}"/>
                  </a:ext>
                </a:extLst>
              </p:cNvPr>
              <p:cNvPicPr/>
              <p:nvPr/>
            </p:nvPicPr>
            <p:blipFill>
              <a:blip r:embed="rId3"/>
              <a:stretch>
                <a:fillRect/>
              </a:stretch>
            </p:blipFill>
            <p:spPr>
              <a:xfrm>
                <a:off x="860760" y="5007240"/>
                <a:ext cx="2933640" cy="8244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   Machine learning algorithms are broadly categorized based on how they learn from data.</a:t>
            </a:r>
          </a:p>
          <a:p>
            <a:endParaRPr lang="en-US" sz="2000" dirty="0"/>
          </a:p>
          <a:p>
            <a:r>
              <a:rPr lang="en-US" sz="2000" dirty="0"/>
              <a:t>•   These categories define the fundamental approaches to problem-solving within the field.</a:t>
            </a:r>
          </a:p>
          <a:p>
            <a:endParaRPr lang="en-US" sz="2000" dirty="0"/>
          </a:p>
          <a:p>
            <a:r>
              <a:rPr lang="en-US" sz="2000" dirty="0"/>
              <a:t>•   The four primary types are </a:t>
            </a:r>
            <a:r>
              <a:rPr lang="en-US" sz="2000" dirty="0">
                <a:solidFill>
                  <a:srgbClr val="FF0000"/>
                </a:solidFill>
              </a:rPr>
              <a:t>supervised</a:t>
            </a:r>
            <a:r>
              <a:rPr lang="en-US" sz="2000" dirty="0"/>
              <a:t>, </a:t>
            </a:r>
            <a:r>
              <a:rPr lang="en-US" sz="2000" dirty="0">
                <a:solidFill>
                  <a:srgbClr val="FF0000"/>
                </a:solidFill>
              </a:rPr>
              <a:t>unsupervised</a:t>
            </a:r>
            <a:r>
              <a:rPr lang="en-US" sz="2000" dirty="0"/>
              <a:t>, </a:t>
            </a:r>
            <a:r>
              <a:rPr lang="en-US" sz="2000" dirty="0">
                <a:solidFill>
                  <a:srgbClr val="FF0000"/>
                </a:solidFill>
              </a:rPr>
              <a:t>semi-supervised</a:t>
            </a:r>
            <a:r>
              <a:rPr lang="en-US" sz="2000" dirty="0"/>
              <a:t>, and </a:t>
            </a:r>
            <a:r>
              <a:rPr lang="en-US" sz="2000" dirty="0">
                <a:solidFill>
                  <a:srgbClr val="FF0000"/>
                </a:solidFill>
              </a:rPr>
              <a:t>reinforcement</a:t>
            </a:r>
            <a:r>
              <a:rPr lang="en-US" sz="2000" dirty="0"/>
              <a:t> learning.</a:t>
            </a:r>
          </a:p>
          <a:p>
            <a:endParaRPr lang="en-US" sz="2000" dirty="0"/>
          </a:p>
          <a:p>
            <a:r>
              <a:rPr lang="en-US" sz="2000" dirty="0"/>
              <a:t>•   Each type possesses unique characteristics, employs specific techniques, and addresses different problem types.</a:t>
            </a:r>
          </a:p>
          <a:p>
            <a:endParaRPr lang="en-US" sz="2000" dirty="0"/>
          </a:p>
          <a:p>
            <a:r>
              <a:rPr lang="en-US" sz="2000" dirty="0"/>
              <a:t>•   Understanding these distinctions is crucial for selecting the most appropriate ML approach for a given task.</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Types of Machine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 </a:t>
            </a:r>
            <a:r>
              <a:rPr lang="en-US" sz="2000" dirty="0">
                <a:solidFill>
                  <a:srgbClr val="FF0000"/>
                </a:solidFill>
              </a:rPr>
              <a:t>Models are trained on labeled datasets</a:t>
            </a:r>
            <a:r>
              <a:rPr lang="en-US" sz="2000" dirty="0"/>
              <a:t>, comprising input-output pairs.</a:t>
            </a:r>
          </a:p>
          <a:p>
            <a:endParaRPr lang="en-US" sz="2000" dirty="0"/>
          </a:p>
          <a:p>
            <a:r>
              <a:rPr lang="en-US" dirty="0"/>
              <a:t>•   The objective is to learn a mapping function to predict outputs accurately for new, unseen inputs.</a:t>
            </a:r>
          </a:p>
          <a:p>
            <a:endParaRPr lang="en-US" sz="2000" dirty="0"/>
          </a:p>
          <a:p>
            <a:r>
              <a:rPr lang="en-US" dirty="0"/>
              <a:t>•   Requires that each input in the training data is associated with a known output or target variable.</a:t>
            </a:r>
          </a:p>
          <a:p>
            <a:endParaRPr lang="en-US" sz="2000" dirty="0"/>
          </a:p>
          <a:p>
            <a:r>
              <a:rPr lang="en-US" sz="2000" dirty="0"/>
              <a:t>•   During training, the algorithm adjusts parameters to minimize the error between its predictions and true values.</a:t>
            </a:r>
          </a:p>
          <a:p>
            <a:endParaRPr lang="en-US" sz="2000" dirty="0"/>
          </a:p>
          <a:p>
            <a:r>
              <a:rPr lang="en-US" sz="2000" dirty="0"/>
              <a:t>• Use Cases: </a:t>
            </a:r>
            <a:r>
              <a:rPr lang="en-US" sz="2000" dirty="0">
                <a:solidFill>
                  <a:srgbClr val="FF0000"/>
                </a:solidFill>
              </a:rPr>
              <a:t>Image classification </a:t>
            </a:r>
            <a:r>
              <a:rPr lang="en-US" sz="2000" dirty="0"/>
              <a:t>(e.g., identifying cats vs. dogs), spam email detection, predicting house prices.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Supervised Learning</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BE777EC1-BF8B-EAA5-DF04-1D9C92CBBD99}"/>
                  </a:ext>
                </a:extLst>
              </p14:cNvPr>
              <p14:cNvContentPartPr/>
              <p14:nvPr/>
            </p14:nvContentPartPr>
            <p14:xfrm>
              <a:off x="2178000" y="2057400"/>
              <a:ext cx="7252200" cy="2781720"/>
            </p14:xfrm>
          </p:contentPart>
        </mc:Choice>
        <mc:Fallback>
          <p:pic>
            <p:nvPicPr>
              <p:cNvPr id="2" name="Ink 1">
                <a:extLst>
                  <a:ext uri="{FF2B5EF4-FFF2-40B4-BE49-F238E27FC236}">
                    <a16:creationId xmlns:a16="http://schemas.microsoft.com/office/drawing/2014/main" id="{BE777EC1-BF8B-EAA5-DF04-1D9C92CBBD99}"/>
                  </a:ext>
                </a:extLst>
              </p:cNvPr>
              <p:cNvPicPr/>
              <p:nvPr/>
            </p:nvPicPr>
            <p:blipFill>
              <a:blip r:embed="rId3"/>
              <a:stretch>
                <a:fillRect/>
              </a:stretch>
            </p:blipFill>
            <p:spPr>
              <a:xfrm>
                <a:off x="2168640" y="2048040"/>
                <a:ext cx="7270920" cy="280044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 Algorithms </a:t>
            </a:r>
            <a:r>
              <a:rPr lang="en-US" sz="2000" dirty="0">
                <a:solidFill>
                  <a:srgbClr val="FF0000"/>
                </a:solidFill>
              </a:rPr>
              <a:t>learn patterns and structures from unlabeled data </a:t>
            </a:r>
            <a:r>
              <a:rPr lang="en-US" sz="2000" dirty="0"/>
              <a:t>without explicit guidance.</a:t>
            </a:r>
          </a:p>
          <a:p>
            <a:endParaRPr lang="en-US" sz="2000" dirty="0"/>
          </a:p>
          <a:p>
            <a:r>
              <a:rPr lang="en-US" sz="2000" dirty="0"/>
              <a:t>•   Its primary goal is to discover hidden relationships or intrinsic groupings within the data.</a:t>
            </a:r>
          </a:p>
          <a:p>
            <a:endParaRPr lang="en-US" sz="2000" dirty="0"/>
          </a:p>
          <a:p>
            <a:r>
              <a:rPr lang="en-US" sz="1600" dirty="0"/>
              <a:t>•   Operates solely on raw data, seeking inherent structures rather than mapping inputs to known outputs.</a:t>
            </a:r>
          </a:p>
          <a:p>
            <a:endParaRPr lang="en-US" sz="2000" dirty="0"/>
          </a:p>
          <a:p>
            <a:r>
              <a:rPr lang="en-US" dirty="0"/>
              <a:t>•   Common techniques include clustering data into natural groups and reducing data dimensionality.</a:t>
            </a:r>
          </a:p>
          <a:p>
            <a:endParaRPr lang="en-US" sz="2000" dirty="0"/>
          </a:p>
          <a:p>
            <a:r>
              <a:rPr lang="en-US" sz="1600" dirty="0"/>
              <a:t>• Use Cases: </a:t>
            </a:r>
            <a:r>
              <a:rPr lang="en-US" sz="1600" dirty="0">
                <a:solidFill>
                  <a:srgbClr val="FF0000"/>
                </a:solidFill>
              </a:rPr>
              <a:t>Customer segmentation, anomaly detection in network traffic</a:t>
            </a:r>
            <a:r>
              <a:rPr lang="en-US" sz="1600" dirty="0"/>
              <a:t>, </a:t>
            </a:r>
            <a:r>
              <a:rPr lang="en-US" sz="1600" dirty="0">
                <a:solidFill>
                  <a:srgbClr val="FF0000"/>
                </a:solidFill>
              </a:rPr>
              <a:t>topic modeling of documents.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Unsupervised Learning</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CC898C24-84CE-8A59-3516-58B35CD600BB}"/>
                  </a:ext>
                </a:extLst>
              </p14:cNvPr>
              <p14:cNvContentPartPr/>
              <p14:nvPr/>
            </p14:nvContentPartPr>
            <p14:xfrm>
              <a:off x="1955880" y="4343400"/>
              <a:ext cx="8134560" cy="44640"/>
            </p14:xfrm>
          </p:contentPart>
        </mc:Choice>
        <mc:Fallback>
          <p:pic>
            <p:nvPicPr>
              <p:cNvPr id="2" name="Ink 1">
                <a:extLst>
                  <a:ext uri="{FF2B5EF4-FFF2-40B4-BE49-F238E27FC236}">
                    <a16:creationId xmlns:a16="http://schemas.microsoft.com/office/drawing/2014/main" id="{CC898C24-84CE-8A59-3516-58B35CD600BB}"/>
                  </a:ext>
                </a:extLst>
              </p:cNvPr>
              <p:cNvPicPr/>
              <p:nvPr/>
            </p:nvPicPr>
            <p:blipFill>
              <a:blip r:embed="rId3"/>
              <a:stretch>
                <a:fillRect/>
              </a:stretch>
            </p:blipFill>
            <p:spPr>
              <a:xfrm>
                <a:off x="1946520" y="4334040"/>
                <a:ext cx="8153280" cy="6336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dirty="0"/>
              <a:t>•   A hybrid approach that merges elements of both supervised and unsupervised learning techniques.</a:t>
            </a:r>
          </a:p>
          <a:p>
            <a:endParaRPr lang="en-US" sz="2000" dirty="0"/>
          </a:p>
          <a:p>
            <a:r>
              <a:rPr lang="en-US" sz="2000" dirty="0"/>
              <a:t>•   Leverages a </a:t>
            </a:r>
            <a:r>
              <a:rPr lang="en-US" sz="2000" dirty="0">
                <a:solidFill>
                  <a:srgbClr val="FF0000"/>
                </a:solidFill>
              </a:rPr>
              <a:t>limited amount of labeled data combined with a larger pool of unlabeled data</a:t>
            </a:r>
            <a:r>
              <a:rPr lang="en-US" sz="2000" dirty="0"/>
              <a:t>.</a:t>
            </a:r>
          </a:p>
          <a:p>
            <a:endParaRPr lang="en-US" sz="2000" dirty="0"/>
          </a:p>
          <a:p>
            <a:r>
              <a:rPr lang="en-US" dirty="0"/>
              <a:t>•   Especially useful when obtaining extensive labeled datasets is costly or logistically challenging.</a:t>
            </a:r>
          </a:p>
          <a:p>
            <a:endParaRPr lang="en-US" sz="2000" dirty="0"/>
          </a:p>
          <a:p>
            <a:r>
              <a:rPr lang="en-US" sz="2000" dirty="0"/>
              <a:t>•   Can involve </a:t>
            </a:r>
            <a:r>
              <a:rPr lang="en-US" sz="2000" dirty="0" err="1"/>
              <a:t>transductive</a:t>
            </a:r>
            <a:r>
              <a:rPr lang="en-US" sz="2000" dirty="0"/>
              <a:t> learning (predicting for specific unlabeled points) or inductive learning (generalizing patterns).</a:t>
            </a:r>
          </a:p>
          <a:p>
            <a:endParaRPr lang="en-US" sz="2000" dirty="0"/>
          </a:p>
          <a:p>
            <a:r>
              <a:rPr lang="en-US" sz="2000" dirty="0"/>
              <a:t>• Use Cases: Improving </a:t>
            </a:r>
            <a:r>
              <a:rPr lang="en-US" sz="2000" dirty="0">
                <a:solidFill>
                  <a:srgbClr val="FF0000"/>
                </a:solidFill>
              </a:rPr>
              <a:t>text classification </a:t>
            </a:r>
            <a:r>
              <a:rPr lang="en-US" sz="2000" dirty="0"/>
              <a:t>models with few labeled examples, </a:t>
            </a:r>
            <a:r>
              <a:rPr lang="en-US" sz="2000" dirty="0">
                <a:solidFill>
                  <a:srgbClr val="FF0000"/>
                </a:solidFill>
              </a:rPr>
              <a:t>medical image </a:t>
            </a:r>
            <a:r>
              <a:rPr lang="en-US" sz="2000" dirty="0"/>
              <a:t>analysis using combined data.</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Semi-Supervised Learning</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EAA54E6-D22C-BA78-C8D6-2887CCEE84C1}"/>
                  </a:ext>
                </a:extLst>
              </p14:cNvPr>
              <p14:cNvContentPartPr/>
              <p14:nvPr/>
            </p14:nvContentPartPr>
            <p14:xfrm>
              <a:off x="4280040" y="2673360"/>
              <a:ext cx="6851880" cy="2146680"/>
            </p14:xfrm>
          </p:contentPart>
        </mc:Choice>
        <mc:Fallback>
          <p:pic>
            <p:nvPicPr>
              <p:cNvPr id="2" name="Ink 1">
                <a:extLst>
                  <a:ext uri="{FF2B5EF4-FFF2-40B4-BE49-F238E27FC236}">
                    <a16:creationId xmlns:a16="http://schemas.microsoft.com/office/drawing/2014/main" id="{6EAA54E6-D22C-BA78-C8D6-2887CCEE84C1}"/>
                  </a:ext>
                </a:extLst>
              </p:cNvPr>
              <p:cNvPicPr/>
              <p:nvPr/>
            </p:nvPicPr>
            <p:blipFill>
              <a:blip r:embed="rId4"/>
              <a:stretch>
                <a:fillRect/>
              </a:stretch>
            </p:blipFill>
            <p:spPr>
              <a:xfrm>
                <a:off x="4270680" y="2664000"/>
                <a:ext cx="6870600" cy="2165400"/>
              </a:xfrm>
              <a:prstGeom prst="rect">
                <a:avLst/>
              </a:prstGeom>
            </p:spPr>
          </p:pic>
        </mc:Fallback>
      </mc:AlternateContent>
    </p:spTree>
    <p:extLst>
      <p:ext uri="{BB962C8B-B14F-4D97-AF65-F5344CB8AC3E}">
        <p14:creationId xmlns:p14="http://schemas.microsoft.com/office/powerpoint/2010/main" val="1635202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dirty="0"/>
              <a:t>•   An agent learns optimal actions by interacting with an environment to achieve a specific goal.</a:t>
            </a:r>
          </a:p>
          <a:p>
            <a:endParaRPr lang="en-US" sz="2000" dirty="0"/>
          </a:p>
          <a:p>
            <a:r>
              <a:rPr lang="en-US" sz="2000" dirty="0"/>
              <a:t>•   It </a:t>
            </a:r>
            <a:r>
              <a:rPr lang="en-US" sz="2000" dirty="0">
                <a:solidFill>
                  <a:srgbClr val="FF0000"/>
                </a:solidFill>
              </a:rPr>
              <a:t>learns through trial and error</a:t>
            </a:r>
            <a:r>
              <a:rPr lang="en-US" sz="2000" dirty="0"/>
              <a:t>, receiving </a:t>
            </a:r>
            <a:r>
              <a:rPr lang="en-US" sz="2000" dirty="0">
                <a:solidFill>
                  <a:srgbClr val="FF0000"/>
                </a:solidFill>
              </a:rPr>
              <a:t>rewards</a:t>
            </a:r>
            <a:r>
              <a:rPr lang="en-US" sz="2000" dirty="0"/>
              <a:t> for desirable actions and </a:t>
            </a:r>
            <a:r>
              <a:rPr lang="en-US" sz="2000" dirty="0">
                <a:solidFill>
                  <a:srgbClr val="FF0000"/>
                </a:solidFill>
              </a:rPr>
              <a:t>penalties</a:t>
            </a:r>
            <a:r>
              <a:rPr lang="en-US" sz="2000" dirty="0"/>
              <a:t> for undesirable ones.</a:t>
            </a:r>
          </a:p>
          <a:p>
            <a:endParaRPr lang="en-US" sz="2000" dirty="0"/>
          </a:p>
          <a:p>
            <a:r>
              <a:rPr lang="en-US" dirty="0"/>
              <a:t>•   This approach is particularly well-suited for tasks involving a sequence of decisions over time.</a:t>
            </a:r>
          </a:p>
          <a:p>
            <a:endParaRPr lang="en-US" sz="2000" dirty="0"/>
          </a:p>
          <a:p>
            <a:r>
              <a:rPr lang="en-US" dirty="0"/>
              <a:t>•   The agent must effectively balance exploring new actions with exploiting known successful strategies.</a:t>
            </a:r>
          </a:p>
          <a:p>
            <a:endParaRPr lang="en-US" sz="2000" dirty="0"/>
          </a:p>
          <a:p>
            <a:r>
              <a:rPr lang="en-US" sz="2000" dirty="0"/>
              <a:t>• Use Cases: Training AI to play </a:t>
            </a:r>
            <a:r>
              <a:rPr lang="en-US" sz="2000" dirty="0">
                <a:solidFill>
                  <a:srgbClr val="FF0000"/>
                </a:solidFill>
              </a:rPr>
              <a:t>complex games </a:t>
            </a:r>
            <a:r>
              <a:rPr lang="en-US" sz="2000" dirty="0"/>
              <a:t>(e.g., </a:t>
            </a:r>
            <a:r>
              <a:rPr lang="en-US" sz="2000" dirty="0">
                <a:solidFill>
                  <a:srgbClr val="FF0000"/>
                </a:solidFill>
              </a:rPr>
              <a:t>chess</a:t>
            </a:r>
            <a:r>
              <a:rPr lang="en-US" sz="2000" dirty="0"/>
              <a:t>, Go), </a:t>
            </a:r>
            <a:r>
              <a:rPr lang="en-US" sz="2000" dirty="0">
                <a:solidFill>
                  <a:srgbClr val="FF0000"/>
                </a:solidFill>
              </a:rPr>
              <a:t>robotics for navigation</a:t>
            </a:r>
            <a:r>
              <a:rPr lang="en-US" sz="2000" dirty="0"/>
              <a:t>, </a:t>
            </a:r>
            <a:r>
              <a:rPr lang="en-US" sz="2000" dirty="0">
                <a:solidFill>
                  <a:srgbClr val="FF0000"/>
                </a:solidFill>
              </a:rPr>
              <a:t>developing autonomous vehicles</a:t>
            </a:r>
            <a:r>
              <a:rPr lang="en-US" sz="2000" dirty="0"/>
              <a:t>.</a:t>
            </a:r>
          </a:p>
          <a:p>
            <a:endParaRPr lang="en-US" sz="2000" dirty="0"/>
          </a:p>
          <a:p>
            <a:r>
              <a:rPr lang="en-US" sz="2000" dirty="0"/>
              <a: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Reinforcement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 What is the primary characteristic that distinguishes Machine Learning from Traditional Programming?</a:t>
            </a:r>
          </a:p>
          <a:p>
            <a:r>
              <a:rPr lang="en-US" sz="2000"/>
              <a:t>A) ML focuses on explicit rules, while Traditional Programming uses data-driven learning.</a:t>
            </a:r>
          </a:p>
          <a:p>
            <a:r>
              <a:rPr lang="en-US" sz="2000"/>
              <a:t>B) ML systems improve over time with more data, unlike Traditional Programming.</a:t>
            </a:r>
          </a:p>
          <a:p>
            <a:r>
              <a:rPr lang="en-US" sz="2000"/>
              <a:t>C) Traditional Programming is well-suited for complex tasks with large datasets.</a:t>
            </a:r>
          </a:p>
          <a:p>
            <a:r>
              <a:rPr lang="en-US" sz="2000"/>
              <a:t>D) ML is rigid and requires human experts to anticipate all scenarios.</a:t>
            </a:r>
          </a:p>
          <a:p>
            <a:endParaRPr lang="en-US" sz="200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dirty="0"/>
              <a:t>Question 1: What is the primary characteristic that distinguishes Machine Learning from Traditional Programming?</a:t>
            </a:r>
          </a:p>
          <a:p>
            <a:r>
              <a:rPr lang="en-US" sz="2000" dirty="0"/>
              <a:t>A) ML focuses on explicit rules, while Traditional Programming uses data-driven learning.</a:t>
            </a:r>
          </a:p>
          <a:p>
            <a:r>
              <a:rPr lang="en-US" sz="2000" dirty="0"/>
              <a:t>B) ML systems improve over time with more data, unlike Traditional Programming.</a:t>
            </a:r>
          </a:p>
          <a:p>
            <a:r>
              <a:rPr lang="en-US" sz="2000" dirty="0"/>
              <a:t>C) Traditional Programming is well-suited for complex tasks with large datasets.</a:t>
            </a:r>
          </a:p>
          <a:p>
            <a:r>
              <a:rPr lang="en-US" sz="2000" dirty="0"/>
              <a:t>D) ML is rigid and requires human experts to anticipate all scenarios.</a:t>
            </a:r>
          </a:p>
          <a:p>
            <a:endParaRPr lang="en-US" sz="2000" dirty="0"/>
          </a:p>
          <a:p>
            <a:endParaRPr lang="en-US" sz="2000" dirty="0"/>
          </a:p>
          <a:p>
            <a:endParaRPr lang="en-US" sz="2000" dirty="0"/>
          </a:p>
          <a:p>
            <a:r>
              <a:rPr lang="en-US" sz="2000" b="1" dirty="0"/>
              <a:t>Correct Answer: B</a:t>
            </a:r>
          </a:p>
          <a:p>
            <a:r>
              <a:rPr lang="en-US" sz="2000" b="1" dirty="0"/>
              <a:t>Explanation: Machine learning systems are designed to improve their performance as they are exposed to more data, a fundamental difference from traditional programs that maintain a consistent performance level unless explicitly updated.</a:t>
            </a:r>
          </a:p>
          <a:p>
            <a:endParaRPr lang="en-US" sz="2000" b="1" dirty="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 Which type of Machine Learning is characterized by training models on unlabeled data to discover hidden patterns and structures?</a:t>
            </a:r>
          </a:p>
          <a:p>
            <a:r>
              <a:rPr lang="en-US" sz="2000"/>
              <a:t>A) Supervised Learning</a:t>
            </a:r>
          </a:p>
          <a:p>
            <a:r>
              <a:rPr lang="en-US" sz="2000"/>
              <a:t>B) Unsupervised Learning</a:t>
            </a:r>
          </a:p>
          <a:p>
            <a:r>
              <a:rPr lang="en-US" sz="2000"/>
              <a:t>C) Semi-Supervised Learning</a:t>
            </a:r>
          </a:p>
          <a:p>
            <a:r>
              <a:rPr lang="en-US" sz="2000"/>
              <a:t>D) Reinforcement Learning</a:t>
            </a:r>
          </a:p>
          <a:p>
            <a:endParaRPr lang="en-US" sz="200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dirty="0"/>
              <a:t>Question 2: Which type of Machine Learning is characterized by training models on unlabeled data to discover hidden patterns and structures?</a:t>
            </a:r>
          </a:p>
          <a:p>
            <a:r>
              <a:rPr lang="en-US" sz="2000" dirty="0"/>
              <a:t>A) Supervised Learning</a:t>
            </a:r>
          </a:p>
          <a:p>
            <a:r>
              <a:rPr lang="en-US" sz="2000" dirty="0"/>
              <a:t>B) Unsupervised Learning</a:t>
            </a:r>
          </a:p>
          <a:p>
            <a:r>
              <a:rPr lang="en-US" sz="2000" dirty="0"/>
              <a:t>C) Semi-Supervised Learning</a:t>
            </a:r>
          </a:p>
          <a:p>
            <a:r>
              <a:rPr lang="en-US" sz="2000" dirty="0"/>
              <a:t>D) Reinforcement Learning</a:t>
            </a:r>
          </a:p>
          <a:p>
            <a:endParaRPr lang="en-US" sz="2000" dirty="0"/>
          </a:p>
          <a:p>
            <a:endParaRPr lang="en-US" sz="2000" dirty="0"/>
          </a:p>
          <a:p>
            <a:endParaRPr lang="en-US" sz="2000" dirty="0"/>
          </a:p>
          <a:p>
            <a:r>
              <a:rPr lang="en-US" sz="2000" b="1" dirty="0"/>
              <a:t>Correct Answer: B</a:t>
            </a:r>
          </a:p>
          <a:p>
            <a:r>
              <a:rPr lang="en-US" sz="2000" b="1" dirty="0"/>
              <a:t>Explanation: Unsupervised learning specifically deals with unlabeled data, aiming to find inherent structures, patterns, or groupings within it without any predefined output targets.</a:t>
            </a:r>
          </a:p>
          <a:p>
            <a:endParaRPr lang="en-US" sz="2000" b="1" dirty="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3: An agent learning to play a complex video game through trial and error, receiving points for good moves and penalties for bad ones, is an example of which type of machine learning?</a:t>
            </a:r>
          </a:p>
          <a:p>
            <a:r>
              <a:rPr lang="en-US" sz="2000"/>
              <a:t>A) Supervised Learning</a:t>
            </a:r>
          </a:p>
          <a:p>
            <a:r>
              <a:rPr lang="en-US" sz="2000"/>
              <a:t>B) Unsupervised Learning</a:t>
            </a:r>
          </a:p>
          <a:p>
            <a:r>
              <a:rPr lang="en-US" sz="2000"/>
              <a:t>C) Semi-Supervised Learning</a:t>
            </a:r>
          </a:p>
          <a:p>
            <a:r>
              <a:rPr lang="en-US" sz="2000"/>
              <a:t>D) Reinforcement Learning</a:t>
            </a:r>
          </a:p>
          <a:p>
            <a:endParaRPr lang="en-US" sz="200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lnSpcReduction="10000"/>
          </a:bodyPr>
          <a:lstStyle/>
          <a:p>
            <a:r>
              <a:rPr lang="en-US" sz="2000" dirty="0"/>
              <a:t>Question 3: An agent learning to play a complex video game through trial and error, receiving points for good moves and penalties for bad ones, is an example of which type of machine learning?</a:t>
            </a:r>
          </a:p>
          <a:p>
            <a:r>
              <a:rPr lang="en-US" sz="2000" dirty="0"/>
              <a:t>A) Supervised Learning</a:t>
            </a:r>
          </a:p>
          <a:p>
            <a:r>
              <a:rPr lang="en-US" sz="2000" dirty="0"/>
              <a:t>B) Unsupervised Learning</a:t>
            </a:r>
          </a:p>
          <a:p>
            <a:r>
              <a:rPr lang="en-US" sz="2000" dirty="0"/>
              <a:t>C) Semi-Supervised Learning</a:t>
            </a:r>
          </a:p>
          <a:p>
            <a:r>
              <a:rPr lang="en-US" sz="2000" dirty="0"/>
              <a:t>D) Reinforcement Learning</a:t>
            </a:r>
          </a:p>
          <a:p>
            <a:endParaRPr lang="en-US" sz="2000" dirty="0"/>
          </a:p>
          <a:p>
            <a:endParaRPr lang="en-US" sz="2000" dirty="0"/>
          </a:p>
          <a:p>
            <a:endParaRPr lang="en-US" sz="2000" dirty="0"/>
          </a:p>
          <a:p>
            <a:r>
              <a:rPr lang="en-US" sz="2000" b="1" dirty="0"/>
              <a:t>Correct Answer: D</a:t>
            </a:r>
          </a:p>
          <a:p>
            <a:r>
              <a:rPr lang="en-US" sz="2000" b="1" dirty="0"/>
              <a:t>Explanation: Reinforcement learning involves an agent interacting with an environment, learning through rewards and penalties to determine optimal actions in a sequence of decisions, which perfectly describes the scenario of an agent playing a game.</a:t>
            </a:r>
          </a:p>
          <a:p>
            <a:endParaRPr lang="en-US" sz="2000" b="1" dirty="0"/>
          </a:p>
          <a:p>
            <a:r>
              <a:rPr lang="en-US" sz="2000" b="1" dirty="0"/>
              <a:t>---</a:t>
            </a:r>
          </a:p>
          <a:p>
            <a:endParaRPr lang="en-US" sz="2000" b="1" dirty="0"/>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endParaRPr lang="en-US" sz="2000"/>
          </a:p>
          <a:p>
            <a:endParaRPr lang="en-US" sz="2000"/>
          </a:p>
          <a:p>
            <a:r>
              <a:rPr lang="en-US" sz="2000"/>
              <a:t>A new streaming service wants to recommend movies to its users. They have collected a vast amount of data, but only a small fraction of it includes user ratings for movies (labeled data). The majority of the data contains movie metadata (genres, actors, directors) and user viewing history without explicit ratings (unlabeled data). The service wants to leverage all available data to build an effective recommendation system. Which type of machine learning approach would be most suitable for this scenario, and why?</a:t>
            </a:r>
          </a:p>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1635202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fontScale="92500" lnSpcReduction="20000"/>
          </a:bodyPr>
          <a:lstStyle/>
          <a:p>
            <a:pPr algn="just"/>
            <a:r>
              <a:rPr lang="en-US" sz="2000" dirty="0"/>
              <a:t>Solution:</a:t>
            </a:r>
          </a:p>
          <a:p>
            <a:pPr algn="just"/>
            <a:endParaRPr lang="en-US" sz="2000" dirty="0"/>
          </a:p>
          <a:p>
            <a:pPr algn="just"/>
            <a:endParaRPr lang="en-US" sz="2000" dirty="0"/>
          </a:p>
          <a:p>
            <a:pPr algn="just"/>
            <a:r>
              <a:rPr lang="en-US" sz="2000" dirty="0"/>
              <a:t>The most suitable approach would be Semi-Supervised Learning.</a:t>
            </a:r>
          </a:p>
          <a:p>
            <a:pPr algn="just"/>
            <a:endParaRPr lang="en-US" sz="2000" dirty="0"/>
          </a:p>
          <a:p>
            <a:pPr algn="just"/>
            <a:r>
              <a:rPr lang="en-US" sz="2000" dirty="0"/>
              <a:t>Why:</a:t>
            </a:r>
          </a:p>
          <a:p>
            <a:pPr algn="just"/>
            <a:r>
              <a:rPr lang="en-US" sz="2000" dirty="0"/>
              <a:t>Leveraging Mixed Data: The problem presents a mix of both labeled data (user ratings) and a significantly larger amount of unlabeled data (movie metadata, viewing history). Semi-supervised learning is specifically designed to effectively utilize both these data types.</a:t>
            </a:r>
          </a:p>
          <a:p>
            <a:pPr algn="just"/>
            <a:r>
              <a:rPr lang="en-US" sz="2000" dirty="0"/>
              <a:t>Addressing Label Scarcity: Acquiring comprehensive user ratings for all movies can be challenging and costly. Semi-supervised learning addresses this by using the small amount of labeled data for direct learning and the abundant unlabeled data to infer underlying data structures and relationships, thereby improving model performance beyond what purely supervised learning could achieve with limited labels.</a:t>
            </a:r>
          </a:p>
          <a:p>
            <a:pPr algn="just"/>
            <a:r>
              <a:rPr lang="en-US" sz="2000" dirty="0"/>
              <a:t>Enhanced Recommendations: By learning from both explicit ratings and implicit viewing patterns and movie characteristics, the system can develop a more robust understanding of user preferences and movie relationships, leading to more accurate and personalized recommendations.</a:t>
            </a:r>
          </a:p>
          <a:p>
            <a:pPr algn="just"/>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1635202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Session Summary</a:t>
            </a:r>
            <a:endParaRPr lang="en-US" sz="2800" b="1" dirty="0">
              <a:solidFill>
                <a:srgbClr val="D9212B"/>
              </a:solidFill>
            </a:endParaRPr>
          </a:p>
        </p:txBody>
      </p:sp>
      <p:sp>
        <p:nvSpPr>
          <p:cNvPr id="5" name="Google Shape;135;p9"/>
          <p:cNvSpPr txBox="1"/>
          <p:nvPr/>
        </p:nvSpPr>
        <p:spPr>
          <a:xfrm>
            <a:off x="715540" y="1569935"/>
            <a:ext cx="9973796" cy="3538364"/>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r>
              <a:rPr lang="en-US" dirty="0">
                <a:latin typeface=""/>
                <a:ea typeface="Times New Roman"/>
                <a:cs typeface="Times New Roman"/>
              </a:rPr>
              <a:t> </a:t>
            </a:r>
          </a:p>
          <a:p>
            <a:pPr>
              <a:lnSpc>
                <a:spcPct val="115000"/>
              </a:lnSpc>
              <a:spcAft>
                <a:spcPts val="1000"/>
              </a:spcAft>
            </a:pPr>
            <a:r>
              <a:rPr lang="en-US" dirty="0">
                <a:latin typeface=""/>
                <a:ea typeface="Times New Roman"/>
                <a:cs typeface="Times New Roman"/>
              </a:rPr>
              <a:t>•   Define machine learning and its core principles.</a:t>
            </a:r>
          </a:p>
          <a:p>
            <a:pPr>
              <a:lnSpc>
                <a:spcPct val="115000"/>
              </a:lnSpc>
              <a:spcAft>
                <a:spcPts val="1000"/>
              </a:spcAft>
            </a:pPr>
            <a:r>
              <a:rPr lang="en-US" dirty="0">
                <a:latin typeface=""/>
                <a:ea typeface="Times New Roman"/>
                <a:cs typeface="Times New Roman"/>
              </a:rPr>
              <a:t>•   Differentiate machine learning from traditional programming paradigms.</a:t>
            </a:r>
          </a:p>
          <a:p>
            <a:pPr>
              <a:lnSpc>
                <a:spcPct val="115000"/>
              </a:lnSpc>
              <a:spcAft>
                <a:spcPts val="1000"/>
              </a:spcAft>
            </a:pPr>
            <a:r>
              <a:rPr lang="en-US" dirty="0">
                <a:latin typeface=""/>
                <a:ea typeface="Times New Roman"/>
                <a:cs typeface="Times New Roman"/>
              </a:rPr>
              <a:t>•   Identify diverse real-world applications of machine learning.</a:t>
            </a:r>
          </a:p>
          <a:p>
            <a:pPr>
              <a:lnSpc>
                <a:spcPct val="115000"/>
              </a:lnSpc>
              <a:spcAft>
                <a:spcPts val="1000"/>
              </a:spcAft>
            </a:pPr>
            <a:r>
              <a:rPr lang="en-US" dirty="0">
                <a:latin typeface=""/>
                <a:ea typeface="Times New Roman"/>
                <a:cs typeface="Times New Roman"/>
              </a:rPr>
              <a:t>•   Recognize the main types of machine learning: supervised, unsupervised, semi-supervised, and reinforcement learning.</a:t>
            </a:r>
          </a:p>
          <a:p>
            <a:pPr>
              <a:lnSpc>
                <a:spcPct val="115000"/>
              </a:lnSpc>
              <a:spcAft>
                <a:spcPts val="1000"/>
              </a:spcAft>
            </a:pPr>
            <a:r>
              <a:rPr lang="en-US" dirty="0">
                <a:latin typeface=""/>
                <a:ea typeface="Times New Roman"/>
                <a:cs typeface="Times New Roman"/>
              </a:rPr>
              <a:t>•   Understand the key characteristics and use cases for each machine learning type.</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1635202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Learning Objectives 2</a:t>
            </a:r>
            <a:endParaRPr lang="en-US" sz="2800" b="1" dirty="0">
              <a:solidFill>
                <a:srgbClr val="D9212B"/>
              </a:solidFill>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96;p3"/>
          <p:cNvSpPr txBox="1"/>
          <p:nvPr/>
        </p:nvSpPr>
        <p:spPr>
          <a:xfrm>
            <a:off x="773393" y="1672895"/>
            <a:ext cx="8074981" cy="57134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000"/>
              <a:buFont typeface="Arial"/>
              <a:buNone/>
            </a:pPr>
            <a:r>
              <a:rPr lang="en-US" sz="2000" b="1" dirty="0">
                <a:solidFill>
                  <a:schemeClr val="dk1"/>
                </a:solidFill>
                <a:latin typeface="Avenir"/>
                <a:ea typeface="Avenir"/>
                <a:cs typeface="Avenir"/>
                <a:sym typeface="Avenir"/>
              </a:rPr>
              <a:t>By the end of this session, you will be able to:</a:t>
            </a:r>
            <a:endParaRPr dirty="0"/>
          </a:p>
        </p:txBody>
      </p:sp>
      <p:sp>
        <p:nvSpPr>
          <p:cNvPr id="5" name="Google Shape;98;p3"/>
          <p:cNvSpPr txBox="1"/>
          <p:nvPr/>
        </p:nvSpPr>
        <p:spPr>
          <a:xfrm>
            <a:off x="885636" y="2326538"/>
            <a:ext cx="10782108" cy="3149027"/>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r>
              <a:rPr lang="en-US" dirty="0">
                <a:latin typeface=""/>
                <a:ea typeface="Times New Roman"/>
                <a:cs typeface="Times New Roman"/>
              </a:rPr>
              <a:t> </a:t>
            </a:r>
          </a:p>
          <a:p>
            <a:pPr>
              <a:lnSpc>
                <a:spcPct val="115000"/>
              </a:lnSpc>
              <a:spcAft>
                <a:spcPts val="1000"/>
              </a:spcAft>
            </a:pPr>
            <a:r>
              <a:rPr lang="en-US" dirty="0">
                <a:latin typeface=""/>
                <a:ea typeface="Times New Roman"/>
                <a:cs typeface="Times New Roman"/>
              </a:rPr>
              <a:t>•   Explain the critical role of data preprocessing in the machine learning pipeline.</a:t>
            </a:r>
          </a:p>
          <a:p>
            <a:pPr>
              <a:lnSpc>
                <a:spcPct val="115000"/>
              </a:lnSpc>
              <a:spcAft>
                <a:spcPts val="1000"/>
              </a:spcAft>
            </a:pPr>
            <a:r>
              <a:rPr lang="en-US" dirty="0">
                <a:latin typeface=""/>
                <a:ea typeface="Times New Roman"/>
                <a:cs typeface="Times New Roman"/>
              </a:rPr>
              <a:t>•   Identify and apply various data cleaning techniques, including handling missing data and outliers.</a:t>
            </a:r>
          </a:p>
          <a:p>
            <a:pPr>
              <a:lnSpc>
                <a:spcPct val="115000"/>
              </a:lnSpc>
              <a:spcAft>
                <a:spcPts val="1000"/>
              </a:spcAft>
            </a:pPr>
            <a:r>
              <a:rPr lang="en-US" sz="1400" dirty="0">
                <a:latin typeface=""/>
                <a:ea typeface="Times New Roman"/>
                <a:cs typeface="Times New Roman"/>
              </a:rPr>
              <a:t>•   Understand different data transformation methods, such as scaling, normalization, and encoding categorical variables.</a:t>
            </a:r>
          </a:p>
          <a:p>
            <a:pPr>
              <a:lnSpc>
                <a:spcPct val="115000"/>
              </a:lnSpc>
              <a:spcAft>
                <a:spcPts val="1000"/>
              </a:spcAft>
            </a:pPr>
            <a:r>
              <a:rPr lang="en-US" dirty="0">
                <a:latin typeface=""/>
                <a:ea typeface="Times New Roman"/>
                <a:cs typeface="Times New Roman"/>
              </a:rPr>
              <a:t>•   Implement feature engineering strategies to enhance model performance and interpretability.</a:t>
            </a:r>
          </a:p>
          <a:p>
            <a:pPr>
              <a:lnSpc>
                <a:spcPct val="115000"/>
              </a:lnSpc>
              <a:spcAft>
                <a:spcPts val="1000"/>
              </a:spcAft>
            </a:pPr>
            <a:r>
              <a:rPr lang="en-US" dirty="0">
                <a:latin typeface=""/>
                <a:ea typeface="Times New Roman"/>
                <a:cs typeface="Times New Roman"/>
              </a:rPr>
              <a:t>•   </a:t>
            </a:r>
            <a:r>
              <a:rPr lang="en-US" sz="1600" dirty="0">
                <a:latin typeface=""/>
                <a:ea typeface="Times New Roman"/>
                <a:cs typeface="Times New Roman"/>
              </a:rPr>
              <a:t>Recognize the importance of dimensionality reduction and strategies for addressing imbalanced datasets.</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39752431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dirty="0"/>
              <a:t>•   Data preprocessing is a fundamental and crucial initial step in any machine learning workflow.</a:t>
            </a:r>
          </a:p>
          <a:p>
            <a:endParaRPr lang="en-US" sz="1600" dirty="0"/>
          </a:p>
          <a:p>
            <a:r>
              <a:rPr lang="en-US" sz="1600" dirty="0"/>
              <a:t>•   It involves cleaning, transforming, and preparing raw data to make it suitable for analysis or model training.</a:t>
            </a:r>
          </a:p>
          <a:p>
            <a:endParaRPr lang="en-US" sz="2000" dirty="0"/>
          </a:p>
          <a:p>
            <a:r>
              <a:rPr lang="en-US" sz="2000" dirty="0"/>
              <a:t>•   The primary goal is to ensure the data is accurate, reliable, and in a format that machine learning algorithms can effectively process.</a:t>
            </a:r>
          </a:p>
          <a:p>
            <a:endParaRPr lang="en-US" sz="2000" dirty="0"/>
          </a:p>
          <a:p>
            <a:r>
              <a:rPr lang="en-US" sz="2000" dirty="0"/>
              <a:t>•   Effective preprocessing significantly impacts the performance, robustness, and interpretability of subsequent models.</a:t>
            </a:r>
          </a:p>
          <a:p>
            <a:endParaRPr lang="en-US" sz="2000" dirty="0"/>
          </a:p>
          <a:p>
            <a:r>
              <a:rPr lang="en-US" sz="2000" dirty="0"/>
              <a:t>•   Key aspects include </a:t>
            </a:r>
            <a:r>
              <a:rPr lang="en-US" sz="2000" dirty="0">
                <a:solidFill>
                  <a:srgbClr val="FF0000"/>
                </a:solidFill>
              </a:rPr>
              <a:t>data cleaning</a:t>
            </a:r>
            <a:r>
              <a:rPr lang="en-US" sz="2000" dirty="0"/>
              <a:t>, </a:t>
            </a:r>
            <a:r>
              <a:rPr lang="en-US" sz="2000" dirty="0">
                <a:solidFill>
                  <a:srgbClr val="FF0000"/>
                </a:solidFill>
              </a:rPr>
              <a:t>data transformation</a:t>
            </a:r>
            <a:r>
              <a:rPr lang="en-US" sz="2000" dirty="0"/>
              <a:t>, and </a:t>
            </a:r>
            <a:r>
              <a:rPr lang="en-US" sz="2000" dirty="0">
                <a:solidFill>
                  <a:srgbClr val="FF0000"/>
                </a:solidFill>
              </a:rPr>
              <a:t>feature engineering </a:t>
            </a:r>
            <a:r>
              <a:rPr lang="en-US" sz="2000" dirty="0"/>
              <a:t>strategies.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Introduction to Data Preprocessing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478333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Missing data refers to the absence of values for certain variables, which can severely impact analysis and model training.</a:t>
            </a:r>
          </a:p>
          <a:p>
            <a:endParaRPr lang="en-US" sz="2000" dirty="0"/>
          </a:p>
          <a:p>
            <a:r>
              <a:rPr lang="en-US" sz="2000" dirty="0"/>
              <a:t>•   Techniques to address missing data include </a:t>
            </a:r>
            <a:r>
              <a:rPr lang="en-US" sz="2000" dirty="0">
                <a:solidFill>
                  <a:srgbClr val="FF0000"/>
                </a:solidFill>
              </a:rPr>
              <a:t>imputation</a:t>
            </a:r>
            <a:r>
              <a:rPr lang="en-US" sz="2000" dirty="0"/>
              <a:t>, where missing values are replaced with estimated values.</a:t>
            </a:r>
          </a:p>
          <a:p>
            <a:endParaRPr lang="en-US" sz="2000" dirty="0"/>
          </a:p>
          <a:p>
            <a:r>
              <a:rPr lang="en-US" sz="2000" dirty="0"/>
              <a:t>•   Common </a:t>
            </a:r>
            <a:r>
              <a:rPr lang="en-US" sz="2000" dirty="0">
                <a:solidFill>
                  <a:srgbClr val="FF0000"/>
                </a:solidFill>
              </a:rPr>
              <a:t>imputation methods </a:t>
            </a:r>
            <a:r>
              <a:rPr lang="en-US" sz="2000" dirty="0"/>
              <a:t>involve using the </a:t>
            </a:r>
            <a:r>
              <a:rPr lang="en-US" sz="2000" dirty="0">
                <a:solidFill>
                  <a:srgbClr val="FF0000"/>
                </a:solidFill>
              </a:rPr>
              <a:t>mean</a:t>
            </a:r>
            <a:r>
              <a:rPr lang="en-US" sz="2000" dirty="0"/>
              <a:t>, </a:t>
            </a:r>
            <a:r>
              <a:rPr lang="en-US" sz="2000" dirty="0">
                <a:solidFill>
                  <a:srgbClr val="FF0000"/>
                </a:solidFill>
              </a:rPr>
              <a:t>median</a:t>
            </a:r>
            <a:r>
              <a:rPr lang="en-US" sz="2000" dirty="0"/>
              <a:t>, or </a:t>
            </a:r>
            <a:r>
              <a:rPr lang="en-US" sz="2000" dirty="0">
                <a:solidFill>
                  <a:srgbClr val="FF0000"/>
                </a:solidFill>
              </a:rPr>
              <a:t>mode</a:t>
            </a:r>
            <a:r>
              <a:rPr lang="en-US" sz="2000" dirty="0"/>
              <a:t> of the feature.</a:t>
            </a:r>
          </a:p>
          <a:p>
            <a:endParaRPr lang="en-US" sz="2000" dirty="0"/>
          </a:p>
          <a:p>
            <a:r>
              <a:rPr lang="en-US" sz="2000" dirty="0"/>
              <a:t>•   More </a:t>
            </a:r>
            <a:r>
              <a:rPr lang="en-US" sz="2000" dirty="0">
                <a:solidFill>
                  <a:srgbClr val="FF0000"/>
                </a:solidFill>
              </a:rPr>
              <a:t>advanced imputation </a:t>
            </a:r>
            <a:r>
              <a:rPr lang="en-US" sz="2000" dirty="0"/>
              <a:t>techniques like </a:t>
            </a:r>
            <a:r>
              <a:rPr lang="en-US" sz="2000" dirty="0">
                <a:solidFill>
                  <a:srgbClr val="FF0000"/>
                </a:solidFill>
              </a:rPr>
              <a:t>k-nearest neighbors </a:t>
            </a:r>
            <a:r>
              <a:rPr lang="en-US" sz="2000" dirty="0"/>
              <a:t>(k-NN) or </a:t>
            </a:r>
            <a:r>
              <a:rPr lang="en-US" sz="2000" dirty="0">
                <a:solidFill>
                  <a:srgbClr val="FF0000"/>
                </a:solidFill>
              </a:rPr>
              <a:t>regression</a:t>
            </a:r>
            <a:r>
              <a:rPr lang="en-US" sz="2000" dirty="0"/>
              <a:t> imputation can also be employed.</a:t>
            </a:r>
          </a:p>
          <a:p>
            <a:endParaRPr lang="en-US" sz="2000" dirty="0"/>
          </a:p>
          <a:p>
            <a:r>
              <a:rPr lang="en-US" sz="2000" dirty="0"/>
              <a:t>•   Alternatively, rows or columns with a high percentage of missing data might be </a:t>
            </a:r>
            <a:r>
              <a:rPr lang="en-US" sz="2000" dirty="0">
                <a:solidFill>
                  <a:srgbClr val="FF0000"/>
                </a:solidFill>
              </a:rPr>
              <a:t>removed</a:t>
            </a:r>
            <a:r>
              <a:rPr lang="en-US" sz="2000" dirty="0"/>
              <a:t>, but this can lead to </a:t>
            </a:r>
            <a:r>
              <a:rPr lang="en-US" sz="2000" dirty="0">
                <a:solidFill>
                  <a:srgbClr val="FF0000"/>
                </a:solidFill>
              </a:rPr>
              <a:t>data loss</a:t>
            </a:r>
            <a:r>
              <a:rPr lang="en-US" sz="2000" dirty="0"/>
              <a: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Data Cleaning: Handling Missing Data</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94B90E94-8313-902F-66B2-B83BEC8C94EE}"/>
                  </a:ext>
                </a:extLst>
              </p14:cNvPr>
              <p14:cNvContentPartPr/>
              <p14:nvPr/>
            </p14:nvContentPartPr>
            <p14:xfrm>
              <a:off x="977760" y="2000160"/>
              <a:ext cx="1327680" cy="64080"/>
            </p14:xfrm>
          </p:contentPart>
        </mc:Choice>
        <mc:Fallback>
          <p:pic>
            <p:nvPicPr>
              <p:cNvPr id="2" name="Ink 1">
                <a:extLst>
                  <a:ext uri="{FF2B5EF4-FFF2-40B4-BE49-F238E27FC236}">
                    <a16:creationId xmlns:a16="http://schemas.microsoft.com/office/drawing/2014/main" id="{94B90E94-8313-902F-66B2-B83BEC8C94EE}"/>
                  </a:ext>
                </a:extLst>
              </p:cNvPr>
              <p:cNvPicPr/>
              <p:nvPr/>
            </p:nvPicPr>
            <p:blipFill>
              <a:blip r:embed="rId3"/>
              <a:stretch>
                <a:fillRect/>
              </a:stretch>
            </p:blipFill>
            <p:spPr>
              <a:xfrm>
                <a:off x="968400" y="1990800"/>
                <a:ext cx="1346400" cy="82800"/>
              </a:xfrm>
              <a:prstGeom prst="rect">
                <a:avLst/>
              </a:prstGeom>
            </p:spPr>
          </p:pic>
        </mc:Fallback>
      </mc:AlternateContent>
    </p:spTree>
    <p:extLst>
      <p:ext uri="{BB962C8B-B14F-4D97-AF65-F5344CB8AC3E}">
        <p14:creationId xmlns:p14="http://schemas.microsoft.com/office/powerpoint/2010/main" val="15925928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dirty="0"/>
              <a:t>•   </a:t>
            </a:r>
            <a:r>
              <a:rPr lang="en-US" dirty="0">
                <a:solidFill>
                  <a:srgbClr val="FF0000"/>
                </a:solidFill>
              </a:rPr>
              <a:t>Outliers</a:t>
            </a:r>
            <a:r>
              <a:rPr lang="en-US" dirty="0"/>
              <a:t> are data points that </a:t>
            </a:r>
            <a:r>
              <a:rPr lang="en-US" dirty="0">
                <a:solidFill>
                  <a:srgbClr val="FF0000"/>
                </a:solidFill>
              </a:rPr>
              <a:t>deviate significantly</a:t>
            </a:r>
            <a:r>
              <a:rPr lang="en-US" dirty="0"/>
              <a:t> from the </a:t>
            </a:r>
            <a:r>
              <a:rPr lang="en-US" dirty="0">
                <a:solidFill>
                  <a:srgbClr val="FF0000"/>
                </a:solidFill>
              </a:rPr>
              <a:t>general pattern </a:t>
            </a:r>
            <a:r>
              <a:rPr lang="en-US" dirty="0"/>
              <a:t>or majority of the data.</a:t>
            </a:r>
          </a:p>
          <a:p>
            <a:endParaRPr lang="en-US" sz="2000" dirty="0"/>
          </a:p>
          <a:p>
            <a:r>
              <a:rPr lang="en-US" sz="1600" dirty="0"/>
              <a:t>•   These unusual values can distort statistical analyses and negatively influence machine learning models.</a:t>
            </a:r>
          </a:p>
          <a:p>
            <a:endParaRPr lang="en-US" sz="2000" dirty="0"/>
          </a:p>
          <a:p>
            <a:r>
              <a:rPr lang="en-US" sz="1600" dirty="0"/>
              <a:t>•   Outliers can be </a:t>
            </a:r>
            <a:r>
              <a:rPr lang="en-US" sz="1600" dirty="0">
                <a:solidFill>
                  <a:srgbClr val="FF0000"/>
                </a:solidFill>
              </a:rPr>
              <a:t>detected</a:t>
            </a:r>
            <a:r>
              <a:rPr lang="en-US" sz="1600" dirty="0"/>
              <a:t> through visualization methods such as </a:t>
            </a:r>
            <a:r>
              <a:rPr lang="en-US" sz="1600" dirty="0">
                <a:solidFill>
                  <a:srgbClr val="FF0000"/>
                </a:solidFill>
              </a:rPr>
              <a:t>box plots</a:t>
            </a:r>
            <a:r>
              <a:rPr lang="en-US" sz="1600" dirty="0"/>
              <a:t>, </a:t>
            </a:r>
            <a:r>
              <a:rPr lang="en-US" sz="1600" dirty="0">
                <a:solidFill>
                  <a:srgbClr val="FF0000"/>
                </a:solidFill>
              </a:rPr>
              <a:t>scatter plots</a:t>
            </a:r>
            <a:r>
              <a:rPr lang="en-US" sz="1600" dirty="0"/>
              <a:t>, or </a:t>
            </a:r>
            <a:r>
              <a:rPr lang="en-US" sz="1600" dirty="0">
                <a:solidFill>
                  <a:srgbClr val="FF0000"/>
                </a:solidFill>
              </a:rPr>
              <a:t>histograms</a:t>
            </a:r>
            <a:r>
              <a:rPr lang="en-US" sz="1600" dirty="0"/>
              <a:t>.</a:t>
            </a:r>
          </a:p>
          <a:p>
            <a:endParaRPr lang="en-US" sz="2000" dirty="0"/>
          </a:p>
          <a:p>
            <a:r>
              <a:rPr lang="en-US" dirty="0"/>
              <a:t>•   Statistical tests and clustering-based approaches are also used for more formal outlier detection.</a:t>
            </a:r>
          </a:p>
          <a:p>
            <a:endParaRPr lang="en-US" sz="2000" dirty="0"/>
          </a:p>
          <a:p>
            <a:r>
              <a:rPr lang="en-US" dirty="0"/>
              <a:t>•   Treatment options include </a:t>
            </a:r>
            <a:r>
              <a:rPr lang="en-US" dirty="0">
                <a:solidFill>
                  <a:srgbClr val="FF0000"/>
                </a:solidFill>
              </a:rPr>
              <a:t>removing</a:t>
            </a:r>
            <a:r>
              <a:rPr lang="en-US" dirty="0"/>
              <a:t> outliers, </a:t>
            </a:r>
            <a:r>
              <a:rPr lang="en-US" dirty="0">
                <a:solidFill>
                  <a:srgbClr val="FF0000"/>
                </a:solidFill>
              </a:rPr>
              <a:t>transforming</a:t>
            </a:r>
            <a:r>
              <a:rPr lang="en-US" dirty="0"/>
              <a:t> the data (e.g., using </a:t>
            </a:r>
            <a:r>
              <a:rPr lang="en-US" dirty="0">
                <a:solidFill>
                  <a:srgbClr val="FF0000"/>
                </a:solidFill>
              </a:rPr>
              <a:t>log transformations</a:t>
            </a:r>
            <a:r>
              <a:rPr lang="en-US" dirty="0"/>
              <a:t>), or employing </a:t>
            </a:r>
            <a:r>
              <a:rPr lang="en-US" dirty="0">
                <a:solidFill>
                  <a:srgbClr val="FF0000"/>
                </a:solidFill>
              </a:rPr>
              <a:t>robust statistical methods </a:t>
            </a:r>
            <a:r>
              <a:rPr lang="en-US" dirty="0"/>
              <a:t>that are less sensitive to extreme values.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Data Cleaning: Outlier Detection and Treatment</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B8966412-7699-78D0-800F-4B5331D5CEA1}"/>
                  </a:ext>
                </a:extLst>
              </p14:cNvPr>
              <p14:cNvContentPartPr/>
              <p14:nvPr/>
            </p14:nvContentPartPr>
            <p14:xfrm>
              <a:off x="1168560" y="3124080"/>
              <a:ext cx="8788680" cy="616320"/>
            </p14:xfrm>
          </p:contentPart>
        </mc:Choice>
        <mc:Fallback>
          <p:pic>
            <p:nvPicPr>
              <p:cNvPr id="2" name="Ink 1">
                <a:extLst>
                  <a:ext uri="{FF2B5EF4-FFF2-40B4-BE49-F238E27FC236}">
                    <a16:creationId xmlns:a16="http://schemas.microsoft.com/office/drawing/2014/main" id="{B8966412-7699-78D0-800F-4B5331D5CEA1}"/>
                  </a:ext>
                </a:extLst>
              </p:cNvPr>
              <p:cNvPicPr/>
              <p:nvPr/>
            </p:nvPicPr>
            <p:blipFill>
              <a:blip r:embed="rId3"/>
              <a:stretch>
                <a:fillRect/>
              </a:stretch>
            </p:blipFill>
            <p:spPr>
              <a:xfrm>
                <a:off x="1159200" y="3114720"/>
                <a:ext cx="8807400" cy="635040"/>
              </a:xfrm>
              <a:prstGeom prst="rect">
                <a:avLst/>
              </a:prstGeom>
            </p:spPr>
          </p:pic>
        </mc:Fallback>
      </mc:AlternateContent>
    </p:spTree>
    <p:extLst>
      <p:ext uri="{BB962C8B-B14F-4D97-AF65-F5344CB8AC3E}">
        <p14:creationId xmlns:p14="http://schemas.microsoft.com/office/powerpoint/2010/main" val="37396005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dirty="0"/>
              <a:t>•   Ensuring that data types are appropriate is essential for algorithms to correctly interpret variables.</a:t>
            </a:r>
          </a:p>
          <a:p>
            <a:endParaRPr lang="en-US" sz="2000" dirty="0"/>
          </a:p>
          <a:p>
            <a:r>
              <a:rPr lang="en-US" dirty="0"/>
              <a:t>•   Data type conversion often involves </a:t>
            </a:r>
            <a:r>
              <a:rPr lang="en-US" dirty="0">
                <a:solidFill>
                  <a:srgbClr val="FF0000"/>
                </a:solidFill>
              </a:rPr>
              <a:t>changing categorical text into numerical </a:t>
            </a:r>
            <a:r>
              <a:rPr lang="en-US" dirty="0"/>
              <a:t>representations.</a:t>
            </a:r>
          </a:p>
          <a:p>
            <a:endParaRPr lang="en-US" sz="2000" dirty="0"/>
          </a:p>
          <a:p>
            <a:r>
              <a:rPr lang="en-US" sz="2000" dirty="0"/>
              <a:t>•   Techniques like </a:t>
            </a:r>
            <a:r>
              <a:rPr lang="en-US" sz="2000" dirty="0">
                <a:solidFill>
                  <a:srgbClr val="FF0000"/>
                </a:solidFill>
              </a:rPr>
              <a:t>one-hot encoding </a:t>
            </a:r>
            <a:r>
              <a:rPr lang="en-US" sz="2000" dirty="0"/>
              <a:t>or </a:t>
            </a:r>
            <a:r>
              <a:rPr lang="en-US" sz="2000" dirty="0">
                <a:solidFill>
                  <a:srgbClr val="FF0000"/>
                </a:solidFill>
              </a:rPr>
              <a:t>label encoding</a:t>
            </a:r>
            <a:r>
              <a:rPr lang="en-US" sz="2000" dirty="0"/>
              <a:t> are commonly used for this purpose.</a:t>
            </a:r>
          </a:p>
          <a:p>
            <a:endParaRPr lang="en-US" sz="2000" dirty="0"/>
          </a:p>
          <a:p>
            <a:r>
              <a:rPr lang="en-US" dirty="0"/>
              <a:t>•   </a:t>
            </a:r>
            <a:r>
              <a:rPr lang="en-US" dirty="0">
                <a:solidFill>
                  <a:srgbClr val="FF0000"/>
                </a:solidFill>
              </a:rPr>
              <a:t>Data scaling </a:t>
            </a:r>
            <a:r>
              <a:rPr lang="en-US" dirty="0"/>
              <a:t>and </a:t>
            </a:r>
            <a:r>
              <a:rPr lang="en-US" dirty="0">
                <a:solidFill>
                  <a:srgbClr val="FF0000"/>
                </a:solidFill>
              </a:rPr>
              <a:t>normalization</a:t>
            </a:r>
            <a:r>
              <a:rPr lang="en-US" dirty="0"/>
              <a:t> are critical when features have different ranges or magnitudes.</a:t>
            </a:r>
          </a:p>
          <a:p>
            <a:endParaRPr lang="en-US" sz="2000" dirty="0"/>
          </a:p>
          <a:p>
            <a:r>
              <a:rPr lang="en-US" sz="2000" dirty="0">
                <a:solidFill>
                  <a:srgbClr val="FF0000"/>
                </a:solidFill>
              </a:rPr>
              <a:t>•   Min-Max scaling </a:t>
            </a:r>
            <a:r>
              <a:rPr lang="en-US" sz="2000" dirty="0"/>
              <a:t>normalizes data to a specific range (e.g., 0 to 1), while </a:t>
            </a:r>
            <a:r>
              <a:rPr lang="en-US" sz="2000" dirty="0">
                <a:solidFill>
                  <a:srgbClr val="FF0000"/>
                </a:solidFill>
              </a:rPr>
              <a:t>Z-score normalization </a:t>
            </a:r>
            <a:r>
              <a:rPr lang="en-US" sz="2000" dirty="0"/>
              <a:t>(</a:t>
            </a:r>
            <a:r>
              <a:rPr lang="en-US" sz="2000" dirty="0">
                <a:solidFill>
                  <a:srgbClr val="FF0000"/>
                </a:solidFill>
              </a:rPr>
              <a:t>standardization</a:t>
            </a:r>
            <a:r>
              <a:rPr lang="en-US" sz="2000" dirty="0"/>
              <a:t>) transforms data to have a mean of 0 and a standard deviation of 1, preventing features with larger values from dominating.</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Data Transformation: Data Type Conversion &amp; Scaling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9803636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   Categorical data, representing discrete values (e.g., colors, regions), requires specific treatment before modeling.</a:t>
            </a:r>
          </a:p>
          <a:p>
            <a:endParaRPr lang="en-US" sz="2000" dirty="0"/>
          </a:p>
          <a:p>
            <a:r>
              <a:rPr lang="en-US" sz="2000" dirty="0"/>
              <a:t>•   Beyond basic encoding, advanced methods like </a:t>
            </a:r>
            <a:r>
              <a:rPr lang="en-US" sz="2000" dirty="0">
                <a:solidFill>
                  <a:srgbClr val="FF0000"/>
                </a:solidFill>
              </a:rPr>
              <a:t>target encoding </a:t>
            </a:r>
            <a:r>
              <a:rPr lang="en-US" sz="2000" dirty="0"/>
              <a:t>or </a:t>
            </a:r>
            <a:r>
              <a:rPr lang="en-US" sz="2000" dirty="0">
                <a:solidFill>
                  <a:srgbClr val="FF0000"/>
                </a:solidFill>
              </a:rPr>
              <a:t>binary encoding </a:t>
            </a:r>
            <a:r>
              <a:rPr lang="en-US" sz="2000" dirty="0"/>
              <a:t>can be used for high-cardinality categorical features.</a:t>
            </a:r>
          </a:p>
          <a:p>
            <a:endParaRPr lang="en-US" sz="2000" dirty="0"/>
          </a:p>
          <a:p>
            <a:r>
              <a:rPr lang="en-US" sz="2000" dirty="0"/>
              <a:t>•   The choice of encoding technique depends on the nature of the categorical variable and the specific machine learning algorithm.</a:t>
            </a:r>
          </a:p>
          <a:p>
            <a:endParaRPr lang="en-US" sz="2000" dirty="0"/>
          </a:p>
          <a:p>
            <a:r>
              <a:rPr lang="en-US" dirty="0"/>
              <a:t>•   General data transformation techniques improve the linearity of relationships between variables.</a:t>
            </a:r>
          </a:p>
          <a:p>
            <a:endParaRPr lang="en-US" sz="2000" dirty="0"/>
          </a:p>
          <a:p>
            <a:r>
              <a:rPr lang="en-US" dirty="0"/>
              <a:t>•   </a:t>
            </a:r>
            <a:r>
              <a:rPr lang="en-US" sz="1600" dirty="0"/>
              <a:t>Examples include </a:t>
            </a:r>
            <a:r>
              <a:rPr lang="en-US" sz="1600" dirty="0">
                <a:solidFill>
                  <a:srgbClr val="FF0000"/>
                </a:solidFill>
              </a:rPr>
              <a:t>log transformations for skewed data</a:t>
            </a:r>
            <a:r>
              <a:rPr lang="en-US" sz="1600" dirty="0"/>
              <a:t>, </a:t>
            </a:r>
            <a:r>
              <a:rPr lang="en-US" sz="1600" dirty="0">
                <a:solidFill>
                  <a:srgbClr val="FF0000"/>
                </a:solidFill>
              </a:rPr>
              <a:t>Box-Cox transformations</a:t>
            </a:r>
            <a:r>
              <a:rPr lang="en-US" sz="1600" dirty="0"/>
              <a:t>, and </a:t>
            </a:r>
            <a:r>
              <a:rPr lang="en-US" sz="1600" dirty="0">
                <a:solidFill>
                  <a:srgbClr val="FF0000"/>
                </a:solidFill>
              </a:rPr>
              <a:t>polynomial transformations</a:t>
            </a:r>
            <a:r>
              <a:rPr lang="en-US" sz="1600" dirty="0"/>
              <a:t>, which can help meet model assumptions and improve performance.</a:t>
            </a:r>
            <a:endParaRPr lang="en-US"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Data Transformation: Categorical Data &amp; General Transformations</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508117E-63CE-75A0-B12D-BBCF130D3031}"/>
                  </a:ext>
                </a:extLst>
              </p14:cNvPr>
              <p14:cNvContentPartPr/>
              <p14:nvPr/>
            </p14:nvContentPartPr>
            <p14:xfrm>
              <a:off x="2666880" y="5295960"/>
              <a:ext cx="5226480" cy="76320"/>
            </p14:xfrm>
          </p:contentPart>
        </mc:Choice>
        <mc:Fallback>
          <p:pic>
            <p:nvPicPr>
              <p:cNvPr id="2" name="Ink 1">
                <a:extLst>
                  <a:ext uri="{FF2B5EF4-FFF2-40B4-BE49-F238E27FC236}">
                    <a16:creationId xmlns:a16="http://schemas.microsoft.com/office/drawing/2014/main" id="{6508117E-63CE-75A0-B12D-BBCF130D3031}"/>
                  </a:ext>
                </a:extLst>
              </p:cNvPr>
              <p:cNvPicPr/>
              <p:nvPr/>
            </p:nvPicPr>
            <p:blipFill>
              <a:blip r:embed="rId4"/>
              <a:stretch>
                <a:fillRect/>
              </a:stretch>
            </p:blipFill>
            <p:spPr>
              <a:xfrm>
                <a:off x="2657520" y="5286600"/>
                <a:ext cx="5245200" cy="95040"/>
              </a:xfrm>
              <a:prstGeom prst="rect">
                <a:avLst/>
              </a:prstGeom>
            </p:spPr>
          </p:pic>
        </mc:Fallback>
      </mc:AlternateContent>
    </p:spTree>
    <p:extLst>
      <p:ext uri="{BB962C8B-B14F-4D97-AF65-F5344CB8AC3E}">
        <p14:creationId xmlns:p14="http://schemas.microsoft.com/office/powerpoint/2010/main" val="10404127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   Feature engineering is the art and science of </a:t>
            </a:r>
            <a:r>
              <a:rPr lang="en-US" sz="2000" dirty="0">
                <a:solidFill>
                  <a:srgbClr val="FF0000"/>
                </a:solidFill>
              </a:rPr>
              <a:t>creating new features or transforming existing </a:t>
            </a:r>
            <a:r>
              <a:rPr lang="en-US" sz="2000" dirty="0"/>
              <a:t>ones from raw data.</a:t>
            </a:r>
          </a:p>
          <a:p>
            <a:endParaRPr lang="en-US" sz="2000" dirty="0"/>
          </a:p>
          <a:p>
            <a:r>
              <a:rPr lang="en-US" dirty="0"/>
              <a:t>•   Its primary objective is to improve the predictive power and performance of machine learning models.</a:t>
            </a:r>
          </a:p>
          <a:p>
            <a:endParaRPr lang="en-US" sz="2000" dirty="0"/>
          </a:p>
          <a:p>
            <a:r>
              <a:rPr lang="en-US" sz="2000" dirty="0"/>
              <a:t>•   Effective feature engineering leverages </a:t>
            </a:r>
            <a:r>
              <a:rPr lang="en-US" sz="2000" dirty="0">
                <a:solidFill>
                  <a:srgbClr val="FF0000"/>
                </a:solidFill>
              </a:rPr>
              <a:t>domain knowledge</a:t>
            </a:r>
            <a:r>
              <a:rPr lang="en-US" sz="2000" dirty="0"/>
              <a:t> and </a:t>
            </a:r>
            <a:r>
              <a:rPr lang="en-US" sz="2000" dirty="0">
                <a:solidFill>
                  <a:srgbClr val="FF0000"/>
                </a:solidFill>
              </a:rPr>
              <a:t>data insights </a:t>
            </a:r>
            <a:r>
              <a:rPr lang="en-US" sz="2000" dirty="0"/>
              <a:t>to generate more informative inputs for algorithms.</a:t>
            </a:r>
          </a:p>
          <a:p>
            <a:endParaRPr lang="en-US" sz="2000" dirty="0"/>
          </a:p>
          <a:p>
            <a:r>
              <a:rPr lang="en-US" sz="2000" dirty="0"/>
              <a:t>•   It can significantly differentiate between a mediocre model and a high-performing one.</a:t>
            </a:r>
          </a:p>
          <a:p>
            <a:endParaRPr lang="en-US" sz="2000" dirty="0"/>
          </a:p>
          <a:p>
            <a:r>
              <a:rPr lang="en-US" dirty="0"/>
              <a:t>•   Strategies encompass </a:t>
            </a:r>
            <a:r>
              <a:rPr lang="en-US" dirty="0">
                <a:solidFill>
                  <a:srgbClr val="FF0000"/>
                </a:solidFill>
              </a:rPr>
              <a:t>feature selection</a:t>
            </a:r>
            <a:r>
              <a:rPr lang="en-US" dirty="0"/>
              <a:t>, </a:t>
            </a:r>
            <a:r>
              <a:rPr lang="en-US" dirty="0">
                <a:solidFill>
                  <a:srgbClr val="FF0000"/>
                </a:solidFill>
              </a:rPr>
              <a:t>feature creation</a:t>
            </a:r>
            <a:r>
              <a:rPr lang="en-US" dirty="0"/>
              <a:t>, and </a:t>
            </a:r>
            <a:r>
              <a:rPr lang="en-US" dirty="0">
                <a:solidFill>
                  <a:srgbClr val="FF0000"/>
                </a:solidFill>
              </a:rPr>
              <a:t>advanced handling of data properties</a:t>
            </a:r>
            <a:r>
              <a:rPr lang="en-US" dirty="0"/>
              <a: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Introduction to Feature Engineering</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C8BF4B73-EF3A-131C-1FEC-08B420E773DE}"/>
                  </a:ext>
                </a:extLst>
              </p14:cNvPr>
              <p14:cNvContentPartPr/>
              <p14:nvPr/>
            </p14:nvContentPartPr>
            <p14:xfrm>
              <a:off x="3213000" y="5016600"/>
              <a:ext cx="7347240" cy="165240"/>
            </p14:xfrm>
          </p:contentPart>
        </mc:Choice>
        <mc:Fallback>
          <p:pic>
            <p:nvPicPr>
              <p:cNvPr id="2" name="Ink 1">
                <a:extLst>
                  <a:ext uri="{FF2B5EF4-FFF2-40B4-BE49-F238E27FC236}">
                    <a16:creationId xmlns:a16="http://schemas.microsoft.com/office/drawing/2014/main" id="{C8BF4B73-EF3A-131C-1FEC-08B420E773DE}"/>
                  </a:ext>
                </a:extLst>
              </p:cNvPr>
              <p:cNvPicPr/>
              <p:nvPr/>
            </p:nvPicPr>
            <p:blipFill>
              <a:blip r:embed="rId3"/>
              <a:stretch>
                <a:fillRect/>
              </a:stretch>
            </p:blipFill>
            <p:spPr>
              <a:xfrm>
                <a:off x="3203640" y="5007240"/>
                <a:ext cx="7365960" cy="183960"/>
              </a:xfrm>
              <a:prstGeom prst="rect">
                <a:avLst/>
              </a:prstGeom>
            </p:spPr>
          </p:pic>
        </mc:Fallback>
      </mc:AlternateContent>
    </p:spTree>
    <p:extLst>
      <p:ext uri="{BB962C8B-B14F-4D97-AF65-F5344CB8AC3E}">
        <p14:creationId xmlns:p14="http://schemas.microsoft.com/office/powerpoint/2010/main" val="29472300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dirty="0"/>
              <a:t>•   Feature selection involves identifying and </a:t>
            </a:r>
            <a:r>
              <a:rPr lang="en-US" dirty="0">
                <a:solidFill>
                  <a:srgbClr val="FF0000"/>
                </a:solidFill>
              </a:rPr>
              <a:t>choosing the most relevant features </a:t>
            </a:r>
            <a:r>
              <a:rPr lang="en-US" dirty="0"/>
              <a:t>from the dataset.</a:t>
            </a:r>
          </a:p>
          <a:p>
            <a:endParaRPr lang="en-US" sz="2000" dirty="0"/>
          </a:p>
          <a:p>
            <a:r>
              <a:rPr lang="en-US" sz="1600" dirty="0"/>
              <a:t>•   This process helps to </a:t>
            </a:r>
            <a:r>
              <a:rPr lang="en-US" sz="1600" dirty="0">
                <a:solidFill>
                  <a:srgbClr val="FF0000"/>
                </a:solidFill>
              </a:rPr>
              <a:t>reduce model complexity</a:t>
            </a:r>
            <a:r>
              <a:rPr lang="en-US" sz="1600" dirty="0"/>
              <a:t>, </a:t>
            </a:r>
            <a:r>
              <a:rPr lang="en-US" sz="1600" dirty="0">
                <a:solidFill>
                  <a:srgbClr val="FF0000"/>
                </a:solidFill>
              </a:rPr>
              <a:t>mitigate overfitting</a:t>
            </a:r>
            <a:r>
              <a:rPr lang="en-US" sz="1600" dirty="0"/>
              <a:t>, and </a:t>
            </a:r>
            <a:r>
              <a:rPr lang="en-US" sz="1600" dirty="0">
                <a:solidFill>
                  <a:srgbClr val="FF0000"/>
                </a:solidFill>
              </a:rPr>
              <a:t>enhance model interpretability.</a:t>
            </a:r>
          </a:p>
          <a:p>
            <a:endParaRPr lang="en-US" sz="2000" dirty="0"/>
          </a:p>
          <a:p>
            <a:r>
              <a:rPr lang="en-US" sz="2000" dirty="0"/>
              <a:t>•   Techniques include statistical tests like mutual information, correlation analysis, and methods based on feature importance scores from tree-based models.</a:t>
            </a:r>
          </a:p>
          <a:p>
            <a:endParaRPr lang="en-US" sz="2000" dirty="0"/>
          </a:p>
          <a:p>
            <a:r>
              <a:rPr lang="en-US" sz="2000" dirty="0"/>
              <a:t>•   </a:t>
            </a:r>
            <a:r>
              <a:rPr lang="en-US" sz="2000" dirty="0">
                <a:solidFill>
                  <a:srgbClr val="FF0000"/>
                </a:solidFill>
              </a:rPr>
              <a:t>Recursive Feature Elimination </a:t>
            </a:r>
            <a:r>
              <a:rPr lang="en-US" sz="2000" dirty="0"/>
              <a:t>(RFE) is an iterative method to select features by repeatedly building a model and eliminating the worst-performing ones.</a:t>
            </a:r>
          </a:p>
          <a:p>
            <a:endParaRPr lang="en-US" sz="2000" dirty="0"/>
          </a:p>
          <a:p>
            <a:r>
              <a:rPr lang="en-US" dirty="0"/>
              <a:t>•   Feature creation generates entirely </a:t>
            </a:r>
            <a:r>
              <a:rPr lang="en-US" dirty="0">
                <a:solidFill>
                  <a:srgbClr val="FF0000"/>
                </a:solidFill>
              </a:rPr>
              <a:t>new features </a:t>
            </a:r>
            <a:r>
              <a:rPr lang="en-US" dirty="0"/>
              <a:t>by combining or manipulating existing ones, often based on domain expertise (e.g., calculating ratios or differences, extracting day of week from date).</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Feature Engineering: Selection and Creation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9794617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1600" dirty="0"/>
          </a:p>
          <a:p>
            <a:r>
              <a:rPr lang="en-US" sz="1600" dirty="0"/>
              <a:t>•   </a:t>
            </a:r>
            <a:r>
              <a:rPr lang="en-US" sz="1600" dirty="0">
                <a:solidFill>
                  <a:srgbClr val="FF0000"/>
                </a:solidFill>
              </a:rPr>
              <a:t>Dimensionality reduction </a:t>
            </a:r>
            <a:r>
              <a:rPr lang="en-US" sz="1600" dirty="0"/>
              <a:t>techniques are employed to </a:t>
            </a:r>
            <a:r>
              <a:rPr lang="en-US" sz="1600" dirty="0">
                <a:solidFill>
                  <a:srgbClr val="FF0000"/>
                </a:solidFill>
              </a:rPr>
              <a:t>reduce the number of features </a:t>
            </a:r>
            <a:r>
              <a:rPr lang="en-US" sz="1600" dirty="0"/>
              <a:t>in a dataset, especially in high-dimensional scenarios.</a:t>
            </a:r>
          </a:p>
          <a:p>
            <a:endParaRPr lang="en-US" sz="1600" dirty="0"/>
          </a:p>
          <a:p>
            <a:r>
              <a:rPr lang="en-US" sz="1400" dirty="0"/>
              <a:t>•   This helps combat the "curse of dimensionality," reduces computational cost, and can improve model generalization.</a:t>
            </a:r>
          </a:p>
          <a:p>
            <a:endParaRPr lang="en-US" sz="1600" dirty="0"/>
          </a:p>
          <a:p>
            <a:r>
              <a:rPr lang="en-US" sz="1600" dirty="0"/>
              <a:t>•  </a:t>
            </a:r>
            <a:r>
              <a:rPr lang="en-US" sz="1600" dirty="0">
                <a:solidFill>
                  <a:srgbClr val="FF0000"/>
                </a:solidFill>
              </a:rPr>
              <a:t> Principal Component Analysis (PCA) </a:t>
            </a:r>
            <a:r>
              <a:rPr lang="en-US" sz="1600" dirty="0"/>
              <a:t>is a popular technique that transforms data into a new set of orthogonal components that capture the most variance.</a:t>
            </a:r>
          </a:p>
          <a:p>
            <a:endParaRPr lang="en-US" sz="1600" dirty="0"/>
          </a:p>
          <a:p>
            <a:r>
              <a:rPr lang="en-US" sz="1400" dirty="0"/>
              <a:t>•   </a:t>
            </a:r>
            <a:r>
              <a:rPr lang="en-US" sz="1400" dirty="0">
                <a:solidFill>
                  <a:srgbClr val="FF0000"/>
                </a:solidFill>
              </a:rPr>
              <a:t>t-Distributed Stochastic Neighbor Embedding (t-SNE) </a:t>
            </a:r>
            <a:r>
              <a:rPr lang="en-US" sz="1400" dirty="0"/>
              <a:t>is often used for visualizing high-dimensional data in 2D or 3D.</a:t>
            </a:r>
          </a:p>
          <a:p>
            <a:endParaRPr lang="en-US" sz="1600" dirty="0"/>
          </a:p>
          <a:p>
            <a:r>
              <a:rPr lang="en-US" sz="1600" dirty="0"/>
              <a:t>•   </a:t>
            </a:r>
            <a:r>
              <a:rPr lang="en-US" sz="1600" dirty="0">
                <a:solidFill>
                  <a:srgbClr val="FF0000"/>
                </a:solidFill>
              </a:rPr>
              <a:t>Handling imbalanced data </a:t>
            </a:r>
            <a:r>
              <a:rPr lang="en-US" sz="1600" dirty="0"/>
              <a:t>is crucial in classification tasks where one class significantly outnumbers others, leading to biased models.</a:t>
            </a:r>
          </a:p>
          <a:p>
            <a:endParaRPr lang="en-US" sz="1600" dirty="0"/>
          </a:p>
          <a:p>
            <a:r>
              <a:rPr lang="en-US" sz="1600" dirty="0"/>
              <a:t>•   Methods like </a:t>
            </a:r>
            <a:r>
              <a:rPr lang="en-US" sz="1600" dirty="0">
                <a:solidFill>
                  <a:srgbClr val="FF0000"/>
                </a:solidFill>
              </a:rPr>
              <a:t>oversampling</a:t>
            </a:r>
            <a:r>
              <a:rPr lang="en-US" sz="1600" dirty="0"/>
              <a:t> (e.g., SMOTE for synthetic data generation), </a:t>
            </a:r>
            <a:r>
              <a:rPr lang="en-US" sz="1600" dirty="0" err="1"/>
              <a:t>undersampling</a:t>
            </a:r>
            <a:r>
              <a:rPr lang="en-US" sz="1600" dirty="0"/>
              <a:t>, or adjusting class weights are used to address this.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Feature Engineering: Dimensionality Reduction &amp; Imbalanced Data</a:t>
            </a:r>
          </a:p>
          <a:p>
            <a:pPr lvl="0">
              <a:lnSpc>
                <a:spcPct val="90000"/>
              </a:lnSpc>
              <a:buClr>
                <a:srgbClr val="D9212B"/>
              </a:buClr>
              <a:buSzPts val="2800"/>
              <a:defRPr/>
            </a:pPr>
            <a:endParaRPr lang="en-US" sz="2800" b="1" dirty="0">
              <a:solidFill>
                <a:srgbClr val="D9212B"/>
              </a:solidFill>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E4C2A389-DC44-D5FD-E1CB-A921ADF90132}"/>
                  </a:ext>
                </a:extLst>
              </p14:cNvPr>
              <p14:cNvContentPartPr/>
              <p14:nvPr/>
            </p14:nvContentPartPr>
            <p14:xfrm>
              <a:off x="1212840" y="2616120"/>
              <a:ext cx="8820360" cy="2019600"/>
            </p14:xfrm>
          </p:contentPart>
        </mc:Choice>
        <mc:Fallback>
          <p:pic>
            <p:nvPicPr>
              <p:cNvPr id="2" name="Ink 1">
                <a:extLst>
                  <a:ext uri="{FF2B5EF4-FFF2-40B4-BE49-F238E27FC236}">
                    <a16:creationId xmlns:a16="http://schemas.microsoft.com/office/drawing/2014/main" id="{E4C2A389-DC44-D5FD-E1CB-A921ADF90132}"/>
                  </a:ext>
                </a:extLst>
              </p:cNvPr>
              <p:cNvPicPr/>
              <p:nvPr/>
            </p:nvPicPr>
            <p:blipFill>
              <a:blip r:embed="rId3"/>
              <a:stretch>
                <a:fillRect/>
              </a:stretch>
            </p:blipFill>
            <p:spPr>
              <a:xfrm>
                <a:off x="1203480" y="2606760"/>
                <a:ext cx="8839080" cy="2038320"/>
              </a:xfrm>
              <a:prstGeom prst="rect">
                <a:avLst/>
              </a:prstGeom>
            </p:spPr>
          </p:pic>
        </mc:Fallback>
      </mc:AlternateContent>
    </p:spTree>
    <p:extLst>
      <p:ext uri="{BB962C8B-B14F-4D97-AF65-F5344CB8AC3E}">
        <p14:creationId xmlns:p14="http://schemas.microsoft.com/office/powerpoint/2010/main" val="33366808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   </a:t>
            </a:r>
            <a:r>
              <a:rPr lang="en-US" sz="1600" dirty="0"/>
              <a:t>In customer churn prediction, data preprocessing involves cleaning transaction logs and customer demographics.</a:t>
            </a:r>
          </a:p>
          <a:p>
            <a:endParaRPr lang="en-US" sz="2000" dirty="0"/>
          </a:p>
          <a:p>
            <a:r>
              <a:rPr lang="en-US" sz="2000" dirty="0"/>
              <a:t>•   Feature engineering is critical, creating new metrics like customer lifetime value, recency, frequency, and monetary (RFM) values.</a:t>
            </a:r>
          </a:p>
          <a:p>
            <a:endParaRPr lang="en-US" sz="2000" dirty="0"/>
          </a:p>
          <a:p>
            <a:r>
              <a:rPr lang="en-US" sz="1600" dirty="0"/>
              <a:t>•   For image classification tasks, preprocessing techniques prepare raw pixel data for deep learning models.</a:t>
            </a:r>
          </a:p>
          <a:p>
            <a:endParaRPr lang="en-US" sz="2000" dirty="0"/>
          </a:p>
          <a:p>
            <a:r>
              <a:rPr lang="en-US" sz="2000" dirty="0"/>
              <a:t>•   This includes resizing images to a uniform dimension, normalizing pixel values, and data augmentation (e.g., rotation, flipping) to increase training data diversity.</a:t>
            </a:r>
          </a:p>
          <a:p>
            <a:endParaRPr lang="en-US" sz="2000" dirty="0"/>
          </a:p>
          <a:p>
            <a:r>
              <a:rPr lang="en-US" sz="1600" dirty="0"/>
              <a:t>•   Pre-trained convolutional neural networks (CNNs) are often used for efficient feature extraction from images.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Practical Applications: Customer Churn &amp; Image Data</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9412587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dirty="0"/>
          </a:p>
          <a:p>
            <a:r>
              <a:rPr lang="en-US" dirty="0"/>
              <a:t>•   Natural Language Processing (NLP) requires extensive text data preprocessing before analysis.</a:t>
            </a:r>
          </a:p>
          <a:p>
            <a:endParaRPr lang="en-US" dirty="0"/>
          </a:p>
          <a:p>
            <a:r>
              <a:rPr lang="en-US" dirty="0"/>
              <a:t>•   This involves tokenization (breaking text into words), removing stop words, stemming/lemmatization (reducing words to root form), and handling punctuation.</a:t>
            </a:r>
          </a:p>
          <a:p>
            <a:endParaRPr lang="en-US" dirty="0"/>
          </a:p>
          <a:p>
            <a:r>
              <a:rPr lang="en-US" dirty="0"/>
              <a:t>•   Text </a:t>
            </a:r>
            <a:r>
              <a:rPr lang="en-US" dirty="0" err="1"/>
              <a:t>vectorization</a:t>
            </a:r>
            <a:r>
              <a:rPr lang="en-US" dirty="0"/>
              <a:t> techniques like TF-IDF (Term Frequency-Inverse Document Frequency) or word embeddings (e.g., Word2Vec) convert text into numerical feature vectors.</a:t>
            </a:r>
          </a:p>
          <a:p>
            <a:endParaRPr lang="en-US" dirty="0"/>
          </a:p>
          <a:p>
            <a:r>
              <a:rPr lang="en-US" dirty="0"/>
              <a:t>•   For time series forecasting, specialized preprocessing techniques are essential to capture temporal dependencies.</a:t>
            </a:r>
          </a:p>
          <a:p>
            <a:endParaRPr lang="en-US" dirty="0"/>
          </a:p>
          <a:p>
            <a:r>
              <a:rPr lang="en-US" dirty="0"/>
              <a:t>•   These include creating lagged features (previous observations), calculating rolling statistics (e.g., moving averages), and decomposing time series into trend, seasonality, and residual components.</a:t>
            </a:r>
          </a:p>
          <a:p>
            <a:endParaRPr lang="en-US" dirty="0"/>
          </a:p>
          <a:p>
            <a:endParaRPr lang="en-US"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Practical Applications: NLP &amp; Time Series Data</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823554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a:t>
            </a:r>
          </a:p>
          <a:p>
            <a:r>
              <a:rPr lang="en-US" sz="2000"/>
              <a:t>Which of the following is NOT a primary goal of data preprocessing in machine learning?</a:t>
            </a:r>
          </a:p>
          <a:p>
            <a:r>
              <a:rPr lang="en-US" sz="2000"/>
              <a:t>a) To ensure data is in a suitable format for model training.</a:t>
            </a:r>
          </a:p>
          <a:p>
            <a:r>
              <a:rPr lang="en-US" sz="2000"/>
              <a:t>b) To reduce the computational cost of model deployment.</a:t>
            </a:r>
          </a:p>
          <a:p>
            <a:r>
              <a:rPr lang="en-US" sz="2000"/>
              <a:t>c) To improve the accuracy and robustness of machine learning models.</a:t>
            </a:r>
          </a:p>
          <a:p>
            <a:r>
              <a:rPr lang="en-US" sz="2000"/>
              <a:t>d) To handle inconsistencies and errors within the dataset.</a:t>
            </a:r>
          </a:p>
          <a:p>
            <a:endParaRPr lang="en-US" sz="2000"/>
          </a:p>
          <a:p>
            <a:endParaRPr lang="en-US" sz="2000" dirty="0"/>
          </a:p>
        </p:txBody>
      </p:sp>
    </p:spTree>
    <p:extLst>
      <p:ext uri="{BB962C8B-B14F-4D97-AF65-F5344CB8AC3E}">
        <p14:creationId xmlns:p14="http://schemas.microsoft.com/office/powerpoint/2010/main" val="7335407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dirty="0"/>
              <a:t>Question 1:</a:t>
            </a:r>
          </a:p>
          <a:p>
            <a:r>
              <a:rPr lang="en-US" sz="2000" dirty="0"/>
              <a:t>Which of the following is NOT a primary goal of data preprocessing in machine learning?</a:t>
            </a:r>
          </a:p>
          <a:p>
            <a:r>
              <a:rPr lang="en-US" sz="2000" dirty="0"/>
              <a:t>a) To ensure data is in a suitable format for model training.</a:t>
            </a:r>
          </a:p>
          <a:p>
            <a:r>
              <a:rPr lang="en-US" sz="2000" dirty="0"/>
              <a:t>b) To reduce the computational cost of model deployment.</a:t>
            </a:r>
          </a:p>
          <a:p>
            <a:r>
              <a:rPr lang="en-US" sz="2000" dirty="0"/>
              <a:t>c) To improve the accuracy and robustness of machine learning models.</a:t>
            </a:r>
          </a:p>
          <a:p>
            <a:r>
              <a:rPr lang="en-US" sz="2000" dirty="0"/>
              <a:t>d) To handle inconsistencies and errors within the dataset.</a:t>
            </a:r>
          </a:p>
          <a:p>
            <a:endParaRPr lang="en-US" sz="2000" dirty="0"/>
          </a:p>
          <a:p>
            <a:endParaRPr lang="en-US" sz="2000" dirty="0"/>
          </a:p>
          <a:p>
            <a:endParaRPr lang="en-US" sz="2000" dirty="0"/>
          </a:p>
          <a:p>
            <a:r>
              <a:rPr lang="en-US" sz="2000" b="1" dirty="0"/>
              <a:t>Correct Answer: b) To reduce the computational cost of model deployment.</a:t>
            </a:r>
          </a:p>
          <a:p>
            <a:r>
              <a:rPr lang="en-US" sz="2000" b="1" dirty="0"/>
              <a:t>Explanation: While some preprocessing steps like dimensionality reduction can indirectly help reduce deployment costs by simplifying models, the primary goals of preprocessing are focused on data quality and format before deployment, directly impacting model training and performance.</a:t>
            </a:r>
          </a:p>
          <a:p>
            <a:endParaRPr lang="en-US" sz="2000" b="1" dirty="0"/>
          </a:p>
          <a:p>
            <a:endParaRPr lang="en-US" sz="2000" dirty="0"/>
          </a:p>
        </p:txBody>
      </p:sp>
    </p:spTree>
    <p:extLst>
      <p:ext uri="{BB962C8B-B14F-4D97-AF65-F5344CB8AC3E}">
        <p14:creationId xmlns:p14="http://schemas.microsoft.com/office/powerpoint/2010/main" val="14309283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a:t>
            </a:r>
          </a:p>
          <a:p>
            <a:r>
              <a:rPr lang="en-US" sz="2000"/>
              <a:t>A dataset for a credit risk model contains numerous missing values in the 'Income' column. Which of the following imputation methods would typically introduce the least bias if the income distribution is skewed and contains outliers?</a:t>
            </a:r>
          </a:p>
          <a:p>
            <a:r>
              <a:rPr lang="en-US" sz="2000"/>
              <a:t>a) Replacing missing values with the mean income.</a:t>
            </a:r>
          </a:p>
          <a:p>
            <a:r>
              <a:rPr lang="en-US" sz="2000"/>
              <a:t>b) Removing all rows with missing income values.</a:t>
            </a:r>
          </a:p>
          <a:p>
            <a:r>
              <a:rPr lang="en-US" sz="2000"/>
              <a:t>c) Replacing missing values with the median income.</a:t>
            </a:r>
          </a:p>
          <a:p>
            <a:r>
              <a:rPr lang="en-US" sz="2000"/>
              <a:t>d) Using a constant value like 0 for all missing incomes.</a:t>
            </a:r>
          </a:p>
          <a:p>
            <a:endParaRPr lang="en-US" sz="2000"/>
          </a:p>
          <a:p>
            <a:endParaRPr lang="en-US" sz="2000" dirty="0"/>
          </a:p>
        </p:txBody>
      </p:sp>
    </p:spTree>
    <p:extLst>
      <p:ext uri="{BB962C8B-B14F-4D97-AF65-F5344CB8AC3E}">
        <p14:creationId xmlns:p14="http://schemas.microsoft.com/office/powerpoint/2010/main" val="7303678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10000"/>
          </a:bodyPr>
          <a:lstStyle/>
          <a:p>
            <a:r>
              <a:rPr lang="en-US" sz="2000" dirty="0"/>
              <a:t>Question 2:</a:t>
            </a:r>
          </a:p>
          <a:p>
            <a:r>
              <a:rPr lang="en-US" sz="2000" dirty="0"/>
              <a:t>A dataset for a credit risk model contains numerous missing values in the 'Income' column. Which of the following imputation methods would typically introduce the least bias if the income distribution is skewed and contains outliers?</a:t>
            </a:r>
          </a:p>
          <a:p>
            <a:r>
              <a:rPr lang="en-US" sz="2000" dirty="0"/>
              <a:t>a) Replacing missing values with the mean income.</a:t>
            </a:r>
          </a:p>
          <a:p>
            <a:r>
              <a:rPr lang="en-US" sz="2000" dirty="0"/>
              <a:t>b) Removing all rows with missing income values.</a:t>
            </a:r>
          </a:p>
          <a:p>
            <a:r>
              <a:rPr lang="en-US" sz="2000" dirty="0"/>
              <a:t>c) Replacing missing values with the median income.</a:t>
            </a:r>
          </a:p>
          <a:p>
            <a:r>
              <a:rPr lang="en-US" sz="2000" dirty="0"/>
              <a:t>d) Using a constant value like 0 for all missing incomes.</a:t>
            </a:r>
          </a:p>
          <a:p>
            <a:endParaRPr lang="en-US" sz="2000" dirty="0"/>
          </a:p>
          <a:p>
            <a:endParaRPr lang="en-US" sz="2000" dirty="0"/>
          </a:p>
          <a:p>
            <a:endParaRPr lang="en-US" sz="2000" dirty="0"/>
          </a:p>
          <a:p>
            <a:r>
              <a:rPr lang="en-US" sz="2000" b="1" dirty="0"/>
              <a:t>Correct Answer: c) Replacing missing values with the median income.</a:t>
            </a:r>
          </a:p>
          <a:p>
            <a:r>
              <a:rPr lang="en-US" sz="2000" b="1" dirty="0"/>
              <a:t>Explanation: If the data distribution is skewed or contains outliers, the mean can be heavily influenced by these extreme values, leading to a biased imputation. The median is a more robust measure of central tendency in such cases, making it a better choice than the mean. Removing rows (b) can lead to significant data loss, and using a constant (d) can distort the distribution and introduce artificial patterns.</a:t>
            </a:r>
          </a:p>
          <a:p>
            <a:endParaRPr lang="en-US" sz="2000" b="1" dirty="0"/>
          </a:p>
          <a:p>
            <a:endParaRPr lang="en-US" sz="2000" dirty="0"/>
          </a:p>
        </p:txBody>
      </p:sp>
    </p:spTree>
    <p:extLst>
      <p:ext uri="{BB962C8B-B14F-4D97-AF65-F5344CB8AC3E}">
        <p14:creationId xmlns:p14="http://schemas.microsoft.com/office/powerpoint/2010/main" val="11728787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3:</a:t>
            </a:r>
          </a:p>
          <a:p>
            <a:r>
              <a:rPr lang="en-US" sz="2000"/>
              <a:t>You are preparing a dataset for a house price prediction model. One feature, 'Square Footage', shows a few extremely large values compared to the rest. Which action is generally recommended for handling these potential outliers?</a:t>
            </a:r>
          </a:p>
          <a:p>
            <a:r>
              <a:rPr lang="en-US" sz="2000"/>
              <a:t>a) Always remove the rows containing these extreme values.</a:t>
            </a:r>
          </a:p>
          <a:p>
            <a:r>
              <a:rPr lang="en-US" sz="2000"/>
              <a:t>b) Transform the 'Square Footage' feature using a logarithmic scale.</a:t>
            </a:r>
          </a:p>
          <a:p>
            <a:r>
              <a:rPr lang="en-US" sz="2000"/>
              <a:t>c) Replace the extreme values with the mean of the 'Square Footage' column.</a:t>
            </a:r>
          </a:p>
          <a:p>
            <a:r>
              <a:rPr lang="en-US" sz="2000"/>
              <a:t>d) Do nothing, as machine learning models can inherently handle outliers.</a:t>
            </a:r>
          </a:p>
          <a:p>
            <a:endParaRPr lang="en-US" sz="2000"/>
          </a:p>
          <a:p>
            <a:endParaRPr lang="en-US" sz="2000" dirty="0"/>
          </a:p>
        </p:txBody>
      </p:sp>
    </p:spTree>
    <p:extLst>
      <p:ext uri="{BB962C8B-B14F-4D97-AF65-F5344CB8AC3E}">
        <p14:creationId xmlns:p14="http://schemas.microsoft.com/office/powerpoint/2010/main" val="32555919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20000"/>
          </a:bodyPr>
          <a:lstStyle/>
          <a:p>
            <a:r>
              <a:rPr lang="en-US" sz="2000" dirty="0"/>
              <a:t>Question 3:</a:t>
            </a:r>
          </a:p>
          <a:p>
            <a:r>
              <a:rPr lang="en-US" sz="2000" dirty="0"/>
              <a:t>You are preparing a dataset for a house price prediction model. One feature, 'Square Footage', shows a few extremely large values compared to the rest. Which action is generally recommended for handling these potential outliers?</a:t>
            </a:r>
          </a:p>
          <a:p>
            <a:r>
              <a:rPr lang="en-US" sz="2000" dirty="0"/>
              <a:t>a) Always remove the rows containing these extreme values.</a:t>
            </a:r>
          </a:p>
          <a:p>
            <a:r>
              <a:rPr lang="en-US" sz="2000" dirty="0"/>
              <a:t>b) Transform the 'Square Footage' feature using a logarithmic scale.</a:t>
            </a:r>
          </a:p>
          <a:p>
            <a:r>
              <a:rPr lang="en-US" sz="2000" dirty="0"/>
              <a:t>c) Replace the extreme values with the mean of the 'Square Footage' column.</a:t>
            </a:r>
          </a:p>
          <a:p>
            <a:r>
              <a:rPr lang="en-US" sz="2000" dirty="0"/>
              <a:t>d) Do nothing, as machine learning models can inherently handle outliers.</a:t>
            </a:r>
          </a:p>
          <a:p>
            <a:endParaRPr lang="en-US" sz="2000" dirty="0"/>
          </a:p>
          <a:p>
            <a:endParaRPr lang="en-US" sz="2000" dirty="0"/>
          </a:p>
          <a:p>
            <a:endParaRPr lang="en-US" sz="2000" dirty="0"/>
          </a:p>
          <a:p>
            <a:r>
              <a:rPr lang="en-US" sz="2000" b="1" dirty="0"/>
              <a:t>Correct Answer: b) Transform the 'Square Footage' feature using a logarithmic scale.</a:t>
            </a:r>
          </a:p>
          <a:p>
            <a:r>
              <a:rPr lang="en-US" sz="2000" b="1" dirty="0"/>
              <a:t>Explanation: Transforming skewed features like 'Square Footage' with a logarithmic scale can effectively reduce the impact of large outliers, making the distribution more symmetric and suitable for many models without losing the data points. Removing outliers (a) can lead to loss of valuable information. Replacing with the mean (c) can be problematic if the mean is heavily influenced by the outliers. Option (d) is incorrect, as many models are sensitive to outliers.</a:t>
            </a:r>
          </a:p>
          <a:p>
            <a:endParaRPr lang="en-US" sz="2000" b="1" dirty="0"/>
          </a:p>
          <a:p>
            <a:endParaRPr lang="en-US" sz="2000" dirty="0"/>
          </a:p>
        </p:txBody>
      </p:sp>
    </p:spTree>
    <p:extLst>
      <p:ext uri="{BB962C8B-B14F-4D97-AF65-F5344CB8AC3E}">
        <p14:creationId xmlns:p14="http://schemas.microsoft.com/office/powerpoint/2010/main" val="10793996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4:</a:t>
            </a:r>
          </a:p>
          <a:p>
            <a:r>
              <a:rPr lang="en-US" sz="2000"/>
              <a:t>Consider a 'City' feature with 100 unique city names in a dataset. Which encoding technique is most suitable to represent this categorical feature while potentially reducing the dimensionality compared to one-hot encoding for a tree-based model?</a:t>
            </a:r>
          </a:p>
          <a:p>
            <a:r>
              <a:rPr lang="en-US" sz="2000"/>
              <a:t>a) Label Encoding.</a:t>
            </a:r>
          </a:p>
          <a:p>
            <a:r>
              <a:rPr lang="en-US" sz="2000"/>
              <a:t>b) One-Hot Encoding.</a:t>
            </a:r>
          </a:p>
          <a:p>
            <a:r>
              <a:rPr lang="en-US" sz="2000"/>
              <a:t>c) Target Encoding.</a:t>
            </a:r>
          </a:p>
          <a:p>
            <a:r>
              <a:rPr lang="en-US" sz="2000"/>
              <a:t>d) Binary Encoding.</a:t>
            </a:r>
          </a:p>
          <a:p>
            <a:endParaRPr lang="en-US" sz="2000"/>
          </a:p>
          <a:p>
            <a:endParaRPr lang="en-US" sz="2000" dirty="0"/>
          </a:p>
        </p:txBody>
      </p:sp>
    </p:spTree>
    <p:extLst>
      <p:ext uri="{BB962C8B-B14F-4D97-AF65-F5344CB8AC3E}">
        <p14:creationId xmlns:p14="http://schemas.microsoft.com/office/powerpoint/2010/main" val="40736863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20000"/>
          </a:bodyPr>
          <a:lstStyle/>
          <a:p>
            <a:r>
              <a:rPr lang="en-US" sz="2000" dirty="0"/>
              <a:t>Question 4:</a:t>
            </a:r>
          </a:p>
          <a:p>
            <a:r>
              <a:rPr lang="en-US" sz="2000" dirty="0"/>
              <a:t>Consider a 'City' feature with 100 unique city names in a dataset. Which encoding technique is most suitable to represent this categorical feature while potentially reducing the dimensionality compared to one-hot encoding for a tree-based model?</a:t>
            </a:r>
          </a:p>
          <a:p>
            <a:r>
              <a:rPr lang="en-US" sz="2000" dirty="0"/>
              <a:t>a) Label Encoding.</a:t>
            </a:r>
          </a:p>
          <a:p>
            <a:r>
              <a:rPr lang="en-US" sz="2000" dirty="0"/>
              <a:t>b) One-Hot Encoding.</a:t>
            </a:r>
          </a:p>
          <a:p>
            <a:r>
              <a:rPr lang="en-US" sz="2000" dirty="0"/>
              <a:t>c) Target Encoding.</a:t>
            </a:r>
          </a:p>
          <a:p>
            <a:r>
              <a:rPr lang="en-US" sz="2000" dirty="0"/>
              <a:t>d) Binary Encoding.</a:t>
            </a:r>
          </a:p>
          <a:p>
            <a:endParaRPr lang="en-US" sz="2000" dirty="0"/>
          </a:p>
          <a:p>
            <a:endParaRPr lang="en-US" sz="2000" dirty="0"/>
          </a:p>
          <a:p>
            <a:endParaRPr lang="en-US" sz="2000" dirty="0"/>
          </a:p>
          <a:p>
            <a:r>
              <a:rPr lang="en-US" sz="2000" b="1" dirty="0"/>
              <a:t>Correct Answer: d) Binary Encoding.</a:t>
            </a:r>
          </a:p>
          <a:p>
            <a:r>
              <a:rPr lang="en-US" sz="2000" b="1" dirty="0"/>
              <a:t>Explanation: For a high-cardinality categorical feature like 'City' with 100 unique values, one-hot encoding would create 100 new features, leading to high dimensionality. Label encoding (a) assigns an arbitrary numerical order, which is not suitable for non-ordinal data as it implies a false relationship. Target encoding (c) replaces categories with the mean of the target variable, which is powerful but prone to overfitting. Binary encoding (d) converts categories to binary code, which then gets one-hot encoded, resulting in fewer features than direct one-hot encoding while retaining more information than label encoding, making it a good compromise for high-cardinality features.</a:t>
            </a:r>
          </a:p>
          <a:p>
            <a:endParaRPr lang="en-US" sz="2000" b="1" dirty="0"/>
          </a:p>
          <a:p>
            <a:endParaRPr lang="en-US" sz="2000" dirty="0"/>
          </a:p>
        </p:txBody>
      </p:sp>
    </p:spTree>
    <p:extLst>
      <p:ext uri="{BB962C8B-B14F-4D97-AF65-F5344CB8AC3E}">
        <p14:creationId xmlns:p14="http://schemas.microsoft.com/office/powerpoint/2010/main" val="19631393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a:t>
            </a:r>
          </a:p>
          <a:p>
            <a:r>
              <a:rPr lang="en-US" sz="2000"/>
              <a:t>Which of the following scenarios best exemplifies the application of "feature creation" in feature engineering?</a:t>
            </a:r>
          </a:p>
          <a:p>
            <a:r>
              <a:rPr lang="en-US" sz="2000"/>
              <a:t>a) Selecting the top 5 most correlated features with the target variable.</a:t>
            </a:r>
          </a:p>
          <a:p>
            <a:r>
              <a:rPr lang="en-US" sz="2000"/>
              <a:t>b) Normalizing all numerical features to a 0-1 range.</a:t>
            </a:r>
          </a:p>
          <a:p>
            <a:r>
              <a:rPr lang="en-US" sz="2000"/>
              <a:t>c) Deriving 'age_in_years' from a 'date_of_birth' column.</a:t>
            </a:r>
          </a:p>
          <a:p>
            <a:r>
              <a:rPr lang="en-US" sz="2000"/>
              <a:t>d) Removing redundant features to reduce multicollinearity.</a:t>
            </a:r>
          </a:p>
          <a:p>
            <a:endParaRPr lang="en-US" sz="2000"/>
          </a:p>
          <a:p>
            <a:endParaRPr lang="en-US" sz="2000" dirty="0"/>
          </a:p>
        </p:txBody>
      </p:sp>
    </p:spTree>
    <p:extLst>
      <p:ext uri="{BB962C8B-B14F-4D97-AF65-F5344CB8AC3E}">
        <p14:creationId xmlns:p14="http://schemas.microsoft.com/office/powerpoint/2010/main" val="12656785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dirty="0"/>
              <a:t>Question 5:</a:t>
            </a:r>
          </a:p>
          <a:p>
            <a:r>
              <a:rPr lang="en-US" sz="2000" dirty="0"/>
              <a:t>Which of the following scenarios best exemplifies the application of "feature creation" in feature engineering?</a:t>
            </a:r>
          </a:p>
          <a:p>
            <a:r>
              <a:rPr lang="en-US" sz="2000" dirty="0"/>
              <a:t>a) Selecting the top 5 most correlated features with the target variable.</a:t>
            </a:r>
          </a:p>
          <a:p>
            <a:r>
              <a:rPr lang="en-US" sz="2000" dirty="0"/>
              <a:t>b) Normalizing all numerical features to a 0-1 range.</a:t>
            </a:r>
          </a:p>
          <a:p>
            <a:r>
              <a:rPr lang="en-US" sz="2000" dirty="0"/>
              <a:t>c) Deriving '</a:t>
            </a:r>
            <a:r>
              <a:rPr lang="en-US" sz="2000" dirty="0" err="1"/>
              <a:t>age_in_years</a:t>
            </a:r>
            <a:r>
              <a:rPr lang="en-US" sz="2000" dirty="0"/>
              <a:t>' from a '</a:t>
            </a:r>
            <a:r>
              <a:rPr lang="en-US" sz="2000" dirty="0" err="1"/>
              <a:t>date_of_birth</a:t>
            </a:r>
            <a:r>
              <a:rPr lang="en-US" sz="2000" dirty="0"/>
              <a:t>' column.</a:t>
            </a:r>
          </a:p>
          <a:p>
            <a:r>
              <a:rPr lang="en-US" sz="2000" dirty="0"/>
              <a:t>d) Removing redundant features to reduce multicollinearity.</a:t>
            </a:r>
          </a:p>
          <a:p>
            <a:endParaRPr lang="en-US" sz="2000" dirty="0"/>
          </a:p>
          <a:p>
            <a:endParaRPr lang="en-US" sz="2000" dirty="0"/>
          </a:p>
          <a:p>
            <a:endParaRPr lang="en-US" sz="2000" dirty="0"/>
          </a:p>
          <a:p>
            <a:r>
              <a:rPr lang="en-US" sz="2000" b="1" dirty="0"/>
              <a:t>Correct Answer: c) Deriving '</a:t>
            </a:r>
            <a:r>
              <a:rPr lang="en-US" sz="2000" b="1" dirty="0" err="1"/>
              <a:t>age_in_years</a:t>
            </a:r>
            <a:r>
              <a:rPr lang="en-US" sz="2000" b="1" dirty="0"/>
              <a:t>' from a '</a:t>
            </a:r>
            <a:r>
              <a:rPr lang="en-US" sz="2000" b="1" dirty="0" err="1"/>
              <a:t>date_of_birth</a:t>
            </a:r>
            <a:r>
              <a:rPr lang="en-US" sz="2000" b="1" dirty="0"/>
              <a:t>' column.</a:t>
            </a:r>
          </a:p>
          <a:p>
            <a:r>
              <a:rPr lang="en-US" sz="2000" b="1" dirty="0"/>
              <a:t>Explanation: Feature creation involves generating new, informative features from existing ones. Calculating '</a:t>
            </a:r>
            <a:r>
              <a:rPr lang="en-US" sz="2000" b="1" dirty="0" err="1"/>
              <a:t>age_in_years</a:t>
            </a:r>
            <a:r>
              <a:rPr lang="en-US" sz="2000" b="1" dirty="0"/>
              <a:t>' from '</a:t>
            </a:r>
            <a:r>
              <a:rPr lang="en-US" sz="2000" b="1" dirty="0" err="1"/>
              <a:t>date_of_birth</a:t>
            </a:r>
            <a:r>
              <a:rPr lang="en-US" sz="2000" b="1" dirty="0"/>
              <a:t>' is a classic example of creating a new feature using domain knowledge and existing data. Options (a) and (d) describe feature selection, while (b) describes feature scaling/transformation.</a:t>
            </a:r>
          </a:p>
          <a:p>
            <a:endParaRPr lang="en-US" sz="2000" b="1" dirty="0"/>
          </a:p>
          <a:p>
            <a:endParaRPr lang="en-US" sz="2000" dirty="0"/>
          </a:p>
        </p:txBody>
      </p:sp>
    </p:spTree>
    <p:extLst>
      <p:ext uri="{BB962C8B-B14F-4D97-AF65-F5344CB8AC3E}">
        <p14:creationId xmlns:p14="http://schemas.microsoft.com/office/powerpoint/2010/main" val="25184009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6:</a:t>
            </a:r>
          </a:p>
          <a:p>
            <a:r>
              <a:rPr lang="en-US" sz="2000"/>
              <a:t>In a dataset with hundreds of features, a data scientist decides to apply Principal Component Analysis (PCA). What is the primary benefit of using PCA in this context?</a:t>
            </a:r>
          </a:p>
          <a:p>
            <a:r>
              <a:rPr lang="en-US" sz="2000"/>
              <a:t>a) To convert categorical features into numerical ones.</a:t>
            </a:r>
          </a:p>
          <a:p>
            <a:r>
              <a:rPr lang="en-US" sz="2000"/>
              <a:t>b) To directly improve model accuracy by removing all noise.</a:t>
            </a:r>
          </a:p>
          <a:p>
            <a:r>
              <a:rPr lang="en-US" sz="2000"/>
              <a:t>c) To reduce the number of features while retaining most of the data's variance.</a:t>
            </a:r>
          </a:p>
          <a:p>
            <a:r>
              <a:rPr lang="en-US" sz="2000"/>
              <a:t>d) To detect and remove outliers more effectively.</a:t>
            </a:r>
          </a:p>
          <a:p>
            <a:endParaRPr lang="en-US" sz="2000"/>
          </a:p>
          <a:p>
            <a:endParaRPr lang="en-US" sz="2000" dirty="0"/>
          </a:p>
        </p:txBody>
      </p:sp>
    </p:spTree>
    <p:extLst>
      <p:ext uri="{BB962C8B-B14F-4D97-AF65-F5344CB8AC3E}">
        <p14:creationId xmlns:p14="http://schemas.microsoft.com/office/powerpoint/2010/main" val="40001414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a:bodyPr>
          <a:lstStyle/>
          <a:p>
            <a:r>
              <a:rPr lang="en-US" sz="2000" dirty="0"/>
              <a:t>Question 6:</a:t>
            </a:r>
          </a:p>
          <a:p>
            <a:r>
              <a:rPr lang="en-US" sz="2000" dirty="0"/>
              <a:t>In a dataset with hundreds of features, a data scientist decides to apply Principal Component Analysis (PCA). What is the primary benefit of using PCA in this context?</a:t>
            </a:r>
          </a:p>
          <a:p>
            <a:r>
              <a:rPr lang="en-US" sz="2000" dirty="0"/>
              <a:t>a) To convert categorical features into numerical ones.</a:t>
            </a:r>
          </a:p>
          <a:p>
            <a:r>
              <a:rPr lang="en-US" sz="2000" dirty="0"/>
              <a:t>b) To directly improve model accuracy by removing all noise.</a:t>
            </a:r>
          </a:p>
          <a:p>
            <a:r>
              <a:rPr lang="en-US" sz="2000" dirty="0"/>
              <a:t>c) To reduce the number of features while retaining most of the data's variance.</a:t>
            </a:r>
          </a:p>
          <a:p>
            <a:r>
              <a:rPr lang="en-US" sz="2000" dirty="0"/>
              <a:t>d) To detect and remove outliers more effectively.</a:t>
            </a:r>
          </a:p>
          <a:p>
            <a:endParaRPr lang="en-US" sz="2000" dirty="0"/>
          </a:p>
          <a:p>
            <a:endParaRPr lang="en-US" sz="2000" dirty="0"/>
          </a:p>
          <a:p>
            <a:endParaRPr lang="en-US" sz="2000" dirty="0"/>
          </a:p>
          <a:p>
            <a:r>
              <a:rPr lang="en-US" sz="2000" b="1" dirty="0"/>
              <a:t>Correct Answer: c) To reduce the number of features while retaining most of the data's variance.</a:t>
            </a:r>
          </a:p>
          <a:p>
            <a:r>
              <a:rPr lang="en-US" sz="2000" b="1" dirty="0"/>
              <a:t>Explanation: PCA is a dimensionality reduction technique. Its main goal is to transform a large set of correlated variables into a smaller set of uncorrelated variables (principal components) that capture most of the original data's variance, thereby reducing dimensionality. Options (a), (b), and (d) are not the primary benefits or direct functions of PCA.</a:t>
            </a:r>
          </a:p>
          <a:p>
            <a:endParaRPr lang="en-US" sz="2000" b="1" dirty="0"/>
          </a:p>
          <a:p>
            <a:endParaRPr lang="en-US" sz="2000" dirty="0"/>
          </a:p>
        </p:txBody>
      </p:sp>
    </p:spTree>
    <p:extLst>
      <p:ext uri="{BB962C8B-B14F-4D97-AF65-F5344CB8AC3E}">
        <p14:creationId xmlns:p14="http://schemas.microsoft.com/office/powerpoint/2010/main" val="40432094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7:</a:t>
            </a:r>
          </a:p>
          <a:p>
            <a:r>
              <a:rPr lang="en-US" sz="2000"/>
              <a:t>A classification model for detecting rare fraudulent transactions performs poorly, consistently predicting "non-fraudulent." This suggests an issue with:</a:t>
            </a:r>
          </a:p>
          <a:p>
            <a:r>
              <a:rPr lang="en-US" sz="2000"/>
              <a:t>a) Outlier treatment.</a:t>
            </a:r>
          </a:p>
          <a:p>
            <a:r>
              <a:rPr lang="en-US" sz="2000"/>
              <a:t>b) Data scaling.</a:t>
            </a:r>
          </a:p>
          <a:p>
            <a:r>
              <a:rPr lang="en-US" sz="2000"/>
              <a:t>c) Imbalanced data.</a:t>
            </a:r>
          </a:p>
          <a:p>
            <a:r>
              <a:rPr lang="en-US" sz="2000"/>
              <a:t>d) Feature selection.</a:t>
            </a:r>
          </a:p>
          <a:p>
            <a:endParaRPr lang="en-US" sz="2000"/>
          </a:p>
          <a:p>
            <a:endParaRPr lang="en-US" sz="2000" dirty="0"/>
          </a:p>
        </p:txBody>
      </p:sp>
    </p:spTree>
    <p:extLst>
      <p:ext uri="{BB962C8B-B14F-4D97-AF65-F5344CB8AC3E}">
        <p14:creationId xmlns:p14="http://schemas.microsoft.com/office/powerpoint/2010/main" val="10910443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10000"/>
          </a:bodyPr>
          <a:lstStyle/>
          <a:p>
            <a:r>
              <a:rPr lang="en-US" sz="2000" dirty="0"/>
              <a:t>Question 7:</a:t>
            </a:r>
          </a:p>
          <a:p>
            <a:r>
              <a:rPr lang="en-US" sz="2000" dirty="0"/>
              <a:t>A classification model for detecting rare fraudulent transactions performs poorly, consistently predicting "non-fraudulent." This suggests an issue with:</a:t>
            </a:r>
          </a:p>
          <a:p>
            <a:r>
              <a:rPr lang="en-US" sz="2000" dirty="0"/>
              <a:t>a) Outlier treatment.</a:t>
            </a:r>
          </a:p>
          <a:p>
            <a:r>
              <a:rPr lang="en-US" sz="2000" dirty="0"/>
              <a:t>b) Data scaling.</a:t>
            </a:r>
          </a:p>
          <a:p>
            <a:r>
              <a:rPr lang="en-US" sz="2000" dirty="0"/>
              <a:t>c) Imbalanced data.</a:t>
            </a:r>
          </a:p>
          <a:p>
            <a:r>
              <a:rPr lang="en-US" sz="2000" dirty="0"/>
              <a:t>d) Feature selection.</a:t>
            </a:r>
          </a:p>
          <a:p>
            <a:endParaRPr lang="en-US" sz="2000" dirty="0"/>
          </a:p>
          <a:p>
            <a:endParaRPr lang="en-US" sz="2000" dirty="0"/>
          </a:p>
          <a:p>
            <a:endParaRPr lang="en-US" sz="2000" dirty="0"/>
          </a:p>
          <a:p>
            <a:r>
              <a:rPr lang="en-US" sz="2000" b="1" dirty="0"/>
              <a:t>Correct Answer: c) Imbalanced data.</a:t>
            </a:r>
          </a:p>
          <a:p>
            <a:r>
              <a:rPr lang="en-US" sz="2000" b="1" dirty="0"/>
              <a:t>Explanation: When a classification model consistently predicts the majority class (e.g., "non-fraudulent") and performs poorly on the minority class (e.g., "fraudulent"), it is a strong indicator of an imbalanced dataset. The model learns to prioritize the majority class due to its overwhelming presence in the training data.</a:t>
            </a:r>
          </a:p>
          <a:p>
            <a:endParaRPr lang="en-US" sz="2000" b="1" dirty="0"/>
          </a:p>
          <a:p>
            <a:r>
              <a:rPr lang="en-US" sz="2000" b="1" dirty="0"/>
              <a:t>---</a:t>
            </a:r>
          </a:p>
          <a:p>
            <a:endParaRPr lang="en-US" sz="2000" b="1" dirty="0"/>
          </a:p>
          <a:p>
            <a:endParaRPr lang="en-US" sz="2000" dirty="0"/>
          </a:p>
        </p:txBody>
      </p:sp>
    </p:spTree>
    <p:extLst>
      <p:ext uri="{BB962C8B-B14F-4D97-AF65-F5344CB8AC3E}">
        <p14:creationId xmlns:p14="http://schemas.microsoft.com/office/powerpoint/2010/main" val="9260867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lnSpcReduction="10000"/>
          </a:bodyPr>
          <a:lstStyle/>
          <a:p>
            <a:endParaRPr lang="en-US" sz="2000" dirty="0"/>
          </a:p>
          <a:p>
            <a:endParaRPr lang="en-US" sz="2000" dirty="0"/>
          </a:p>
          <a:p>
            <a:r>
              <a:rPr lang="en-US" sz="2000" dirty="0"/>
              <a:t>A marketing team wants to predict customer churn for their subscription service. They provide you with a raw dataset containing:</a:t>
            </a:r>
          </a:p>
          <a:p>
            <a:r>
              <a:rPr lang="en-US" sz="2000" dirty="0"/>
              <a:t>•   `</a:t>
            </a:r>
            <a:r>
              <a:rPr lang="en-US" sz="2000" dirty="0" err="1"/>
              <a:t>CustomerID</a:t>
            </a:r>
            <a:r>
              <a:rPr lang="en-US" sz="2000" dirty="0"/>
              <a:t>`: Unique identifier.</a:t>
            </a:r>
          </a:p>
          <a:p>
            <a:r>
              <a:rPr lang="en-US" sz="2000" dirty="0"/>
              <a:t>•   `</a:t>
            </a:r>
            <a:r>
              <a:rPr lang="en-US" sz="2000" dirty="0" err="1"/>
              <a:t>SubscriptionDate</a:t>
            </a:r>
            <a:r>
              <a:rPr lang="en-US" sz="2000" dirty="0"/>
              <a:t>`: Date the customer subscribed.</a:t>
            </a:r>
          </a:p>
          <a:p>
            <a:r>
              <a:rPr lang="en-US" sz="2000" dirty="0"/>
              <a:t>•   `</a:t>
            </a:r>
            <a:r>
              <a:rPr lang="en-US" sz="2000" dirty="0" err="1"/>
              <a:t>LastLoginDaysAgo</a:t>
            </a:r>
            <a:r>
              <a:rPr lang="en-US" sz="2000" dirty="0"/>
              <a:t>`: Number of days since the customer last logged in (contains some `</a:t>
            </a:r>
            <a:r>
              <a:rPr lang="en-US" sz="2000" dirty="0" err="1"/>
              <a:t>NaN</a:t>
            </a:r>
            <a:r>
              <a:rPr lang="en-US" sz="2000" dirty="0"/>
              <a:t>` values).</a:t>
            </a:r>
          </a:p>
          <a:p>
            <a:r>
              <a:rPr lang="en-US" sz="2000" dirty="0"/>
              <a:t>•   `</a:t>
            </a:r>
            <a:r>
              <a:rPr lang="en-US" sz="2000" dirty="0" err="1"/>
              <a:t>ServiceType</a:t>
            </a:r>
            <a:r>
              <a:rPr lang="en-US" sz="2000" dirty="0"/>
              <a:t>`: Categorical, indicating 'Basic', 'Premium', or 'Enterprise'.</a:t>
            </a:r>
          </a:p>
          <a:p>
            <a:r>
              <a:rPr lang="en-US" sz="2000" dirty="0"/>
              <a:t>•   `</a:t>
            </a:r>
            <a:r>
              <a:rPr lang="en-US" sz="2000" dirty="0" err="1"/>
              <a:t>MonthlyCharge</a:t>
            </a:r>
            <a:r>
              <a:rPr lang="en-US" sz="2000" dirty="0"/>
              <a:t>`: Numerical, subscription fee.</a:t>
            </a:r>
          </a:p>
          <a:p>
            <a:r>
              <a:rPr lang="en-US" sz="2000" dirty="0"/>
              <a:t>•   `</a:t>
            </a:r>
            <a:r>
              <a:rPr lang="en-US" sz="2000" dirty="0" err="1"/>
              <a:t>DataUsageGB</a:t>
            </a:r>
            <a:r>
              <a:rPr lang="en-US" sz="2000" dirty="0"/>
              <a:t>`: Numerical, gigabytes used (some extreme high values due to enterprise clients).</a:t>
            </a:r>
          </a:p>
          <a:p>
            <a:r>
              <a:rPr lang="en-US" sz="2000" dirty="0"/>
              <a:t>•   `Churn`: Binary (Yes/No), target variable.</a:t>
            </a:r>
          </a:p>
          <a:p>
            <a:endParaRPr lang="en-US" sz="2000" dirty="0"/>
          </a:p>
          <a:p>
            <a:r>
              <a:rPr lang="en-US" sz="2000" dirty="0"/>
              <a:t>Outline a comprehensive data preprocessing plan for this dataset, explaining why each step is necessary and what techniques you would consider.</a:t>
            </a:r>
          </a:p>
          <a:p>
            <a:endParaRPr lang="en-US" sz="2000" dirty="0"/>
          </a:p>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23359222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fontScale="32500" lnSpcReduction="20000"/>
          </a:bodyPr>
          <a:lstStyle/>
          <a:p>
            <a:r>
              <a:rPr lang="en-US" sz="2000" dirty="0"/>
              <a:t>Solution:</a:t>
            </a:r>
          </a:p>
          <a:p>
            <a:endParaRPr lang="en-US" sz="2000" dirty="0"/>
          </a:p>
          <a:p>
            <a:endParaRPr lang="en-US" sz="2000" dirty="0"/>
          </a:p>
          <a:p>
            <a:r>
              <a:rPr lang="en-US" sz="2000" dirty="0"/>
              <a:t>Here's a comprehensive data preprocessing plan:</a:t>
            </a:r>
          </a:p>
          <a:p>
            <a:endParaRPr lang="en-US" sz="2000" dirty="0"/>
          </a:p>
          <a:p>
            <a:r>
              <a:rPr lang="en-US" sz="2000" dirty="0"/>
              <a:t>1.  Handle Missing Data (`</a:t>
            </a:r>
            <a:r>
              <a:rPr lang="en-US" sz="2000" dirty="0" err="1"/>
              <a:t>LastLoginDaysAgo</a:t>
            </a:r>
            <a:r>
              <a:rPr lang="en-US" sz="2000" dirty="0"/>
              <a:t>`):</a:t>
            </a:r>
          </a:p>
          <a:p>
            <a:r>
              <a:rPr lang="en-US" sz="2000" dirty="0"/>
              <a:t>Reasoning: Missing values in a critical feature like `</a:t>
            </a:r>
            <a:r>
              <a:rPr lang="en-US" sz="2000" dirty="0" err="1"/>
              <a:t>LastLoginDaysAgo</a:t>
            </a:r>
            <a:r>
              <a:rPr lang="en-US" sz="2000" dirty="0"/>
              <a:t>` can cause errors or lead to incorrect model assumptions.</a:t>
            </a:r>
          </a:p>
          <a:p>
            <a:r>
              <a:rPr lang="en-US" sz="2000" dirty="0"/>
              <a:t>Technique: Given it's a numerical feature related to activity, imputing with the median is a robust choice if the distribution is skewed. Alternatively, if `</a:t>
            </a:r>
            <a:r>
              <a:rPr lang="en-US" sz="2000" dirty="0" err="1"/>
              <a:t>NaN</a:t>
            </a:r>
            <a:r>
              <a:rPr lang="en-US" sz="2000" dirty="0"/>
              <a:t>` might indicate customers who never logged in (or logged in very long ago), a specific placeholder value (e.g., a number much larger than the max `</a:t>
            </a:r>
            <a:r>
              <a:rPr lang="en-US" sz="2000" dirty="0" err="1"/>
              <a:t>LastLoginDaysAgo</a:t>
            </a:r>
            <a:r>
              <a:rPr lang="en-US" sz="2000" dirty="0"/>
              <a:t>`) could be considered if it makes sense in the domain. A simple `</a:t>
            </a:r>
            <a:r>
              <a:rPr lang="en-US" sz="2000" dirty="0" err="1"/>
              <a:t>fillna</a:t>
            </a:r>
            <a:r>
              <a:rPr lang="en-US" sz="2000" dirty="0"/>
              <a:t>(</a:t>
            </a:r>
            <a:r>
              <a:rPr lang="en-US" sz="2000" dirty="0" err="1"/>
              <a:t>df</a:t>
            </a:r>
            <a:r>
              <a:rPr lang="en-US" sz="2000" dirty="0"/>
              <a:t>['</a:t>
            </a:r>
            <a:r>
              <a:rPr lang="en-US" sz="2000" dirty="0" err="1"/>
              <a:t>LastLoginDaysAgo</a:t>
            </a:r>
            <a:r>
              <a:rPr lang="en-US" sz="2000" dirty="0"/>
              <a:t>'].median())` would be a starting point.</a:t>
            </a:r>
          </a:p>
          <a:p>
            <a:endParaRPr lang="en-US" sz="2000" dirty="0"/>
          </a:p>
          <a:p>
            <a:r>
              <a:rPr lang="en-US" sz="2000" dirty="0"/>
              <a:t>2.  Feature Engineering (`</a:t>
            </a:r>
            <a:r>
              <a:rPr lang="en-US" sz="2000" dirty="0" err="1"/>
              <a:t>SubscriptionDate</a:t>
            </a:r>
            <a:r>
              <a:rPr lang="en-US" sz="2000" dirty="0"/>
              <a:t>`):</a:t>
            </a:r>
          </a:p>
          <a:p>
            <a:r>
              <a:rPr lang="en-US" sz="2000" dirty="0"/>
              <a:t>Reasoning: The raw date format is not directly usable by most ML models. Extracting temporal features can provide valuable insights into customer tenure and loyalty.</a:t>
            </a:r>
          </a:p>
          <a:p>
            <a:r>
              <a:rPr lang="en-US" sz="2000" dirty="0"/>
              <a:t>Technique:</a:t>
            </a:r>
          </a:p>
          <a:p>
            <a:r>
              <a:rPr lang="en-US" sz="2000" dirty="0"/>
              <a:t>•   Calculate `</a:t>
            </a:r>
            <a:r>
              <a:rPr lang="en-US" sz="2000" dirty="0" err="1"/>
              <a:t>CustomerTenureMonths</a:t>
            </a:r>
            <a:r>
              <a:rPr lang="en-US" sz="2000" dirty="0"/>
              <a:t>` by finding the difference between the current date and `</a:t>
            </a:r>
            <a:r>
              <a:rPr lang="en-US" sz="2000" dirty="0" err="1"/>
              <a:t>SubscriptionDate</a:t>
            </a:r>
            <a:r>
              <a:rPr lang="en-US" sz="2000" dirty="0"/>
              <a:t>` and converting it to months.</a:t>
            </a:r>
          </a:p>
          <a:p>
            <a:r>
              <a:rPr lang="en-US" sz="2000" dirty="0"/>
              <a:t>•   Extract `</a:t>
            </a:r>
            <a:r>
              <a:rPr lang="en-US" sz="2000" dirty="0" err="1"/>
              <a:t>SubscriptionMonth</a:t>
            </a:r>
            <a:r>
              <a:rPr lang="en-US" sz="2000" dirty="0"/>
              <a:t>` or `</a:t>
            </a:r>
            <a:r>
              <a:rPr lang="en-US" sz="2000" dirty="0" err="1"/>
              <a:t>SubscriptionYear</a:t>
            </a:r>
            <a:r>
              <a:rPr lang="en-US" sz="2000" dirty="0"/>
              <a:t>` if there are seasonal subscription patterns.</a:t>
            </a:r>
          </a:p>
          <a:p>
            <a:r>
              <a:rPr lang="en-US" sz="2000" dirty="0"/>
              <a:t>•   Drop the original `</a:t>
            </a:r>
            <a:r>
              <a:rPr lang="en-US" sz="2000" dirty="0" err="1"/>
              <a:t>SubscriptionDate</a:t>
            </a:r>
            <a:r>
              <a:rPr lang="en-US" sz="2000" dirty="0"/>
              <a:t>` column after feature extraction.</a:t>
            </a:r>
          </a:p>
          <a:p>
            <a:endParaRPr lang="en-US" sz="2000" dirty="0"/>
          </a:p>
          <a:p>
            <a:r>
              <a:rPr lang="en-US" sz="2000" dirty="0"/>
              <a:t>3.  Outlier Treatment (`</a:t>
            </a:r>
            <a:r>
              <a:rPr lang="en-US" sz="2000" dirty="0" err="1"/>
              <a:t>DataUsageGB</a:t>
            </a:r>
            <a:r>
              <a:rPr lang="en-US" sz="2000" dirty="0"/>
              <a:t>`):</a:t>
            </a:r>
          </a:p>
          <a:p>
            <a:r>
              <a:rPr lang="en-US" sz="2000" dirty="0"/>
              <a:t>Reasoning: Extreme values, especially from 'Enterprise' clients, can skew the distribution of `</a:t>
            </a:r>
            <a:r>
              <a:rPr lang="en-US" sz="2000" dirty="0" err="1"/>
              <a:t>DataUsageGB</a:t>
            </a:r>
            <a:r>
              <a:rPr lang="en-US" sz="2000" dirty="0"/>
              <a:t>` and disproportionately influence models.</a:t>
            </a:r>
          </a:p>
          <a:p>
            <a:r>
              <a:rPr lang="en-US" sz="2000" dirty="0"/>
              <a:t>Technique:</a:t>
            </a:r>
          </a:p>
          <a:p>
            <a:r>
              <a:rPr lang="en-US" sz="2000" dirty="0"/>
              <a:t>•   Visualize the distribution (e.g., histogram, box plot) to confirm outliers.</a:t>
            </a:r>
          </a:p>
          <a:p>
            <a:r>
              <a:rPr lang="en-US" sz="2000" dirty="0"/>
              <a:t>•   Consider a logarithmic transformation (`np.log1p(</a:t>
            </a:r>
            <a:r>
              <a:rPr lang="en-US" sz="2000" dirty="0" err="1"/>
              <a:t>df</a:t>
            </a:r>
            <a:r>
              <a:rPr lang="en-US" sz="2000" dirty="0"/>
              <a:t>['</a:t>
            </a:r>
            <a:r>
              <a:rPr lang="en-US" sz="2000" dirty="0" err="1"/>
              <a:t>DataUsageGB</a:t>
            </a:r>
            <a:r>
              <a:rPr lang="en-US" sz="2000" dirty="0"/>
              <a:t>'])`) to compress the range of these values, making the distribution more normal without discarding data. This is often preferred over simple removal, especially if the extreme values represent legitimate (albeit large) data points.</a:t>
            </a:r>
          </a:p>
          <a:p>
            <a:endParaRPr lang="en-US" sz="2000" dirty="0"/>
          </a:p>
          <a:p>
            <a:r>
              <a:rPr lang="en-US" sz="2000" dirty="0"/>
              <a:t>4.  Handle Categorical Data (`</a:t>
            </a:r>
            <a:r>
              <a:rPr lang="en-US" sz="2000" dirty="0" err="1"/>
              <a:t>ServiceType</a:t>
            </a:r>
            <a:r>
              <a:rPr lang="en-US" sz="2000" dirty="0"/>
              <a:t>`, `Churn`):</a:t>
            </a:r>
          </a:p>
          <a:p>
            <a:r>
              <a:rPr lang="en-US" sz="2000" dirty="0"/>
              <a:t>Reasoning: Machine learning models typically require numerical input. Categorical features need to be converted.</a:t>
            </a:r>
          </a:p>
          <a:p>
            <a:r>
              <a:rPr lang="en-US" sz="2000" dirty="0"/>
              <a:t>Technique:</a:t>
            </a:r>
          </a:p>
          <a:p>
            <a:r>
              <a:rPr lang="en-US" sz="2000" dirty="0"/>
              <a:t>•   For `</a:t>
            </a:r>
            <a:r>
              <a:rPr lang="en-US" sz="2000" dirty="0" err="1"/>
              <a:t>ServiceType</a:t>
            </a:r>
            <a:r>
              <a:rPr lang="en-US" sz="2000" dirty="0"/>
              <a:t>`: Use one-hot encoding (`</a:t>
            </a:r>
            <a:r>
              <a:rPr lang="en-US" sz="2000" dirty="0" err="1"/>
              <a:t>pd.get_dummies</a:t>
            </a:r>
            <a:r>
              <a:rPr lang="en-US" sz="2000" dirty="0"/>
              <a:t>(</a:t>
            </a:r>
            <a:r>
              <a:rPr lang="en-US" sz="2000" dirty="0" err="1"/>
              <a:t>df</a:t>
            </a:r>
            <a:r>
              <a:rPr lang="en-US" sz="2000" dirty="0"/>
              <a:t>['</a:t>
            </a:r>
            <a:r>
              <a:rPr lang="en-US" sz="2000" dirty="0" err="1"/>
              <a:t>ServiceType</a:t>
            </a:r>
            <a:r>
              <a:rPr lang="en-US" sz="2000" dirty="0"/>
              <a:t>'])`). Since it has only a few distinct values and no inherent order, one-hot encoding prevents the model from assuming ordinal relationships.</a:t>
            </a:r>
          </a:p>
          <a:p>
            <a:r>
              <a:rPr lang="en-US" sz="2000" dirty="0"/>
              <a:t>•   For `Churn`: Convert the target variable 'Yes' to 1 and 'No' to 0 using label encoding or a simple mapping (`</a:t>
            </a:r>
            <a:r>
              <a:rPr lang="en-US" sz="2000" dirty="0" err="1"/>
              <a:t>df</a:t>
            </a:r>
            <a:r>
              <a:rPr lang="en-US" sz="2000" dirty="0"/>
              <a:t>['Churn'] = </a:t>
            </a:r>
            <a:r>
              <a:rPr lang="en-US" sz="2000" dirty="0" err="1"/>
              <a:t>df</a:t>
            </a:r>
            <a:r>
              <a:rPr lang="en-US" sz="2000" dirty="0"/>
              <a:t>['Churn'].map('Yes': 1, 'No': 0)`).</a:t>
            </a:r>
          </a:p>
          <a:p>
            <a:endParaRPr lang="en-US" sz="2000" dirty="0"/>
          </a:p>
          <a:p>
            <a:r>
              <a:rPr lang="en-US" sz="2000" dirty="0"/>
              <a:t>5.  Feature Scaling (Numerical Features):</a:t>
            </a:r>
          </a:p>
          <a:p>
            <a:r>
              <a:rPr lang="en-US" sz="2000" dirty="0"/>
              <a:t>Reasoning: Numerical features like `</a:t>
            </a:r>
            <a:r>
              <a:rPr lang="en-US" sz="2000" dirty="0" err="1"/>
              <a:t>MonthlyCharge</a:t>
            </a:r>
            <a:r>
              <a:rPr lang="en-US" sz="2000" dirty="0"/>
              <a:t>`, `</a:t>
            </a:r>
            <a:r>
              <a:rPr lang="en-US" sz="2000" dirty="0" err="1"/>
              <a:t>CustomerTenureMonths</a:t>
            </a:r>
            <a:r>
              <a:rPr lang="en-US" sz="2000" dirty="0"/>
              <a:t>`, and `</a:t>
            </a:r>
            <a:r>
              <a:rPr lang="en-US" sz="2000" dirty="0" err="1"/>
              <a:t>DataUsageGB</a:t>
            </a:r>
            <a:r>
              <a:rPr lang="en-US" sz="2000" dirty="0"/>
              <a:t>` (after transformation) often have different scales. Many ML algorithms (e.g., K-Nearest Neighbors, Support Vector Machines, neural networks) are sensitive to feature scales.</a:t>
            </a:r>
          </a:p>
          <a:p>
            <a:r>
              <a:rPr lang="en-US" sz="2000" dirty="0"/>
              <a:t>Technique: Apply </a:t>
            </a:r>
            <a:r>
              <a:rPr lang="en-US" sz="2000" dirty="0" err="1"/>
              <a:t>StandardScaler</a:t>
            </a:r>
            <a:r>
              <a:rPr lang="en-US" sz="2000" dirty="0"/>
              <a:t> (`</a:t>
            </a:r>
            <a:r>
              <a:rPr lang="en-US" sz="2000" dirty="0" err="1"/>
              <a:t>sklearn.preprocessing.StandardScaler</a:t>
            </a:r>
            <a:r>
              <a:rPr lang="en-US" sz="2000" dirty="0"/>
              <a:t>`) to standardize these features. This transforms the data to have a mean of 0 and a standard deviation of 1. Min-Max Scaler (`</a:t>
            </a:r>
            <a:r>
              <a:rPr lang="en-US" sz="2000" dirty="0" err="1"/>
              <a:t>sklearn.preprocessing.MinMaxScaler</a:t>
            </a:r>
            <a:r>
              <a:rPr lang="en-US" sz="2000" dirty="0"/>
              <a:t>`) could also be an option if features need to be within a specific range.</a:t>
            </a:r>
          </a:p>
          <a:p>
            <a:endParaRPr lang="en-US" sz="2000" dirty="0"/>
          </a:p>
          <a:p>
            <a:r>
              <a:rPr lang="en-US" sz="2000" dirty="0"/>
              <a:t>6.  Address `</a:t>
            </a:r>
            <a:r>
              <a:rPr lang="en-US" sz="2000" dirty="0" err="1"/>
              <a:t>CustomerID</a:t>
            </a:r>
            <a:r>
              <a:rPr lang="en-US" sz="2000" dirty="0"/>
              <a:t>`:</a:t>
            </a:r>
          </a:p>
          <a:p>
            <a:r>
              <a:rPr lang="en-US" sz="2000" dirty="0"/>
              <a:t>Reasoning: `</a:t>
            </a:r>
            <a:r>
              <a:rPr lang="en-US" sz="2000" dirty="0" err="1"/>
              <a:t>CustomerID</a:t>
            </a:r>
            <a:r>
              <a:rPr lang="en-US" sz="2000" dirty="0"/>
              <a:t>` is a unique identifier and not a predictive feature.</a:t>
            </a:r>
          </a:p>
          <a:p>
            <a:r>
              <a:rPr lang="en-US" sz="2000" dirty="0"/>
              <a:t>Technique: Drop this column as it adds no predictive value and could lead to overfitting if accidentally used.</a:t>
            </a:r>
          </a:p>
          <a:p>
            <a:endParaRPr lang="en-US" sz="2000" dirty="0"/>
          </a:p>
          <a:p>
            <a:r>
              <a:rPr lang="en-US" sz="2000" dirty="0"/>
              <a:t>Summary of Plan:</a:t>
            </a:r>
          </a:p>
          <a:p>
            <a:endParaRPr lang="en-US" sz="2000" dirty="0"/>
          </a:p>
          <a:p>
            <a:r>
              <a:rPr lang="en-US" sz="2000" dirty="0"/>
              <a:t>1.  Impute missing `</a:t>
            </a:r>
            <a:r>
              <a:rPr lang="en-US" sz="2000" dirty="0" err="1"/>
              <a:t>LastLoginDaysAgo</a:t>
            </a:r>
            <a:r>
              <a:rPr lang="en-US" sz="2000" dirty="0"/>
              <a:t>` with the median.</a:t>
            </a:r>
          </a:p>
          <a:p>
            <a:r>
              <a:rPr lang="en-US" sz="2000" dirty="0"/>
              <a:t>2.  Create `</a:t>
            </a:r>
            <a:r>
              <a:rPr lang="en-US" sz="2000" dirty="0" err="1"/>
              <a:t>CustomerTenureMonths</a:t>
            </a:r>
            <a:r>
              <a:rPr lang="en-US" sz="2000" dirty="0"/>
              <a:t>` from `</a:t>
            </a:r>
            <a:r>
              <a:rPr lang="en-US" sz="2000" dirty="0" err="1"/>
              <a:t>SubscriptionDate</a:t>
            </a:r>
            <a:r>
              <a:rPr lang="en-US" sz="2000" dirty="0"/>
              <a:t>` and drop the original date column.</a:t>
            </a:r>
          </a:p>
          <a:p>
            <a:r>
              <a:rPr lang="en-US" sz="2000" dirty="0"/>
              <a:t>3.  Apply logarithmic transformation to `</a:t>
            </a:r>
            <a:r>
              <a:rPr lang="en-US" sz="2000" dirty="0" err="1"/>
              <a:t>DataUsageGB</a:t>
            </a:r>
            <a:r>
              <a:rPr lang="en-US" sz="2000" dirty="0"/>
              <a:t>` to handle skewness and outliers.</a:t>
            </a:r>
          </a:p>
          <a:p>
            <a:r>
              <a:rPr lang="en-US" sz="2000" dirty="0"/>
              <a:t>4.  One-hot encode `</a:t>
            </a:r>
            <a:r>
              <a:rPr lang="en-US" sz="2000" dirty="0" err="1"/>
              <a:t>ServiceType</a:t>
            </a:r>
            <a:r>
              <a:rPr lang="en-US" sz="2000" dirty="0"/>
              <a:t>`.</a:t>
            </a:r>
          </a:p>
          <a:p>
            <a:r>
              <a:rPr lang="en-US" sz="2000" dirty="0"/>
              <a:t>5.  Label encode the `Churn` target variable (Yes=1, No=0).</a:t>
            </a:r>
          </a:p>
          <a:p>
            <a:r>
              <a:rPr lang="en-US" sz="2000" dirty="0"/>
              <a:t>6.  Standardize all numerical features (`</a:t>
            </a:r>
            <a:r>
              <a:rPr lang="en-US" sz="2000" dirty="0" err="1"/>
              <a:t>MonthlyCharge</a:t>
            </a:r>
            <a:r>
              <a:rPr lang="en-US" sz="2000" dirty="0"/>
              <a:t>`, `</a:t>
            </a:r>
            <a:r>
              <a:rPr lang="en-US" sz="2000" dirty="0" err="1"/>
              <a:t>CustomerTenureMonths</a:t>
            </a:r>
            <a:r>
              <a:rPr lang="en-US" sz="2000" dirty="0"/>
              <a:t>`, transformed `</a:t>
            </a:r>
            <a:r>
              <a:rPr lang="en-US" sz="2000" dirty="0" err="1"/>
              <a:t>DataUsageGB</a:t>
            </a:r>
            <a:r>
              <a:rPr lang="en-US" sz="2000" dirty="0"/>
              <a:t>`, imputed `</a:t>
            </a:r>
            <a:r>
              <a:rPr lang="en-US" sz="2000" dirty="0" err="1"/>
              <a:t>LastLoginDaysAgo</a:t>
            </a:r>
            <a:r>
              <a:rPr lang="en-US" sz="2000" dirty="0"/>
              <a:t>`).</a:t>
            </a:r>
          </a:p>
          <a:p>
            <a:r>
              <a:rPr lang="en-US" sz="2000" dirty="0"/>
              <a:t>7.  Drop the `</a:t>
            </a:r>
            <a:r>
              <a:rPr lang="en-US" sz="2000" dirty="0" err="1"/>
              <a:t>CustomerID</a:t>
            </a:r>
            <a:r>
              <a:rPr lang="en-US" sz="2000" dirty="0"/>
              <a:t>` column.</a:t>
            </a:r>
          </a:p>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30704115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Session Summary</a:t>
            </a:r>
            <a:endParaRPr lang="en-US" sz="2800" b="1" dirty="0">
              <a:solidFill>
                <a:srgbClr val="D9212B"/>
              </a:solidFill>
            </a:endParaRPr>
          </a:p>
        </p:txBody>
      </p:sp>
      <p:sp>
        <p:nvSpPr>
          <p:cNvPr id="5" name="Google Shape;135;p9"/>
          <p:cNvSpPr txBox="1"/>
          <p:nvPr/>
        </p:nvSpPr>
        <p:spPr>
          <a:xfrm>
            <a:off x="715540" y="1569935"/>
            <a:ext cx="10110956" cy="4622251"/>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a:t>
            </a:r>
          </a:p>
          <a:p>
            <a:pPr>
              <a:lnSpc>
                <a:spcPct val="115000"/>
              </a:lnSpc>
              <a:spcAft>
                <a:spcPts val="1000"/>
              </a:spcAft>
            </a:pPr>
            <a:r>
              <a:rPr lang="en-US" dirty="0">
                <a:latin typeface=""/>
                <a:ea typeface="Times New Roman"/>
                <a:cs typeface="Times New Roman"/>
              </a:rPr>
              <a:t>•   Explain the critical role of data preprocessing in the machine learning pipeline.</a:t>
            </a:r>
          </a:p>
          <a:p>
            <a:pPr>
              <a:lnSpc>
                <a:spcPct val="115000"/>
              </a:lnSpc>
              <a:spcAft>
                <a:spcPts val="1000"/>
              </a:spcAft>
            </a:pPr>
            <a:r>
              <a:rPr lang="en-US" dirty="0">
                <a:latin typeface=""/>
                <a:ea typeface="Times New Roman"/>
                <a:cs typeface="Times New Roman"/>
              </a:rPr>
              <a:t>•   Identify and apply various data cleaning techniques, including handling missing data and outliers.</a:t>
            </a:r>
          </a:p>
          <a:p>
            <a:pPr>
              <a:lnSpc>
                <a:spcPct val="115000"/>
              </a:lnSpc>
              <a:spcAft>
                <a:spcPts val="1000"/>
              </a:spcAft>
            </a:pPr>
            <a:r>
              <a:rPr lang="en-US" dirty="0">
                <a:latin typeface=""/>
                <a:ea typeface="Times New Roman"/>
                <a:cs typeface="Times New Roman"/>
              </a:rPr>
              <a:t>•   Understand different data transformation methods, such as scaling, normalization, and encoding categorical variables.</a:t>
            </a:r>
          </a:p>
          <a:p>
            <a:pPr>
              <a:lnSpc>
                <a:spcPct val="115000"/>
              </a:lnSpc>
              <a:spcAft>
                <a:spcPts val="1000"/>
              </a:spcAft>
            </a:pPr>
            <a:r>
              <a:rPr lang="en-US" dirty="0">
                <a:latin typeface=""/>
                <a:ea typeface="Times New Roman"/>
                <a:cs typeface="Times New Roman"/>
              </a:rPr>
              <a:t>•   Implement feature engineering strategies to enhance model performance and interpretability.</a:t>
            </a:r>
          </a:p>
          <a:p>
            <a:pPr>
              <a:lnSpc>
                <a:spcPct val="115000"/>
              </a:lnSpc>
              <a:spcAft>
                <a:spcPts val="1000"/>
              </a:spcAft>
            </a:pPr>
            <a:r>
              <a:rPr lang="en-US" dirty="0">
                <a:latin typeface=""/>
                <a:ea typeface="Times New Roman"/>
                <a:cs typeface="Times New Roman"/>
              </a:rPr>
              <a:t>•   Recognize the importance of dimensionality reduction and strategies for addressing imbalanced datasets.</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42015942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Learning Objectives 3</a:t>
            </a:r>
            <a:endParaRPr kumimoji="0" lang="en-US" sz="2800" b="1" i="0" u="none" strike="noStrike" kern="1200" cap="none" spc="0" normalizeH="0" baseline="0" noProof="0" dirty="0">
              <a:ln>
                <a:noFill/>
              </a:ln>
              <a:solidFill>
                <a:srgbClr val="D9212B"/>
              </a:solidFill>
              <a:effectLst/>
              <a:uLnTx/>
              <a:uFillTx/>
              <a:latin typeface="Aptos"/>
              <a:ea typeface="+mn-ea"/>
              <a:cs typeface="+mn-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Google Shape;96;p3"/>
          <p:cNvSpPr txBox="1"/>
          <p:nvPr/>
        </p:nvSpPr>
        <p:spPr>
          <a:xfrm>
            <a:off x="773393" y="1672895"/>
            <a:ext cx="8074981" cy="571348"/>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90000"/>
              </a:lnSpc>
              <a:spcBef>
                <a:spcPts val="0"/>
              </a:spcBef>
              <a:spcAft>
                <a:spcPts val="0"/>
              </a:spcAft>
              <a:buClr>
                <a:prstClr val="black"/>
              </a:buClr>
              <a:buSzPts val="2000"/>
              <a:buFont typeface="Arial"/>
              <a:buNone/>
              <a:tabLst/>
              <a:defRPr/>
            </a:pPr>
            <a:r>
              <a:rPr kumimoji="0" lang="en-US" sz="2000" b="1" i="0" u="none" strike="noStrike" kern="1200" cap="none" spc="0" normalizeH="0" baseline="0" noProof="0" dirty="0">
                <a:ln>
                  <a:noFill/>
                </a:ln>
                <a:solidFill>
                  <a:prstClr val="black"/>
                </a:solidFill>
                <a:effectLst/>
                <a:uLnTx/>
                <a:uFillTx/>
                <a:latin typeface="Avenir"/>
                <a:ea typeface="Avenir"/>
                <a:cs typeface="Avenir"/>
                <a:sym typeface="Avenir"/>
              </a:rPr>
              <a:t>By the end of this session, you will be able to:</a:t>
            </a:r>
            <a:endParaRPr kumimoji="0"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Google Shape;98;p3"/>
          <p:cNvSpPr txBox="1"/>
          <p:nvPr/>
        </p:nvSpPr>
        <p:spPr>
          <a:xfrm>
            <a:off x="885636" y="2326538"/>
            <a:ext cx="10132884" cy="353836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15000"/>
              </a:lnSpc>
              <a:spcBef>
                <a:spcPts val="0"/>
              </a:spcBef>
              <a:spcAft>
                <a:spcPts val="100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
              <a:ea typeface="Times New Roman"/>
              <a:cs typeface="Times New Roman"/>
            </a:endParaRPr>
          </a:p>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
                <a:ea typeface="Times New Roman"/>
                <a:cs typeface="Times New Roman"/>
              </a:rPr>
              <a:t>•   Describe the foundational stages of the machine learning process.</a:t>
            </a:r>
          </a:p>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
                <a:ea typeface="Times New Roman"/>
                <a:cs typeface="Times New Roman"/>
              </a:rPr>
              <a:t>•   Outline the critical steps involved in formulating a machine learning problem effectively.</a:t>
            </a:r>
          </a:p>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
                <a:ea typeface="Times New Roman"/>
                <a:cs typeface="Times New Roman"/>
              </a:rPr>
              <a:t>•   Explain the importance of data collection, cleaning, and feature engineering for model development.</a:t>
            </a:r>
          </a:p>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
                <a:ea typeface="Times New Roman"/>
                <a:cs typeface="Times New Roman"/>
              </a:rPr>
              <a:t>•   Understand the procedures for training, validating, and evaluating machine learning models.</a:t>
            </a:r>
          </a:p>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
                <a:ea typeface="Times New Roman"/>
                <a:cs typeface="Times New Roman"/>
              </a:rPr>
              <a:t>•   Identify key considerations for successfully deploying and maintaining ML models in production.</a:t>
            </a:r>
          </a:p>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
                <a:ea typeface="Times New Roman"/>
                <a:cs typeface="Times New Roman"/>
              </a:rPr>
              <a:t> </a:t>
            </a:r>
          </a:p>
        </p:txBody>
      </p:sp>
    </p:spTree>
    <p:extLst>
      <p:ext uri="{BB962C8B-B14F-4D97-AF65-F5344CB8AC3E}">
        <p14:creationId xmlns:p14="http://schemas.microsoft.com/office/powerpoint/2010/main" val="6402318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Machine learning empowers computers to learn from data and make predictions or decisions without explicit programming.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It has revolutionized various fields, from healthcare to recommendation systems.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A systematic understanding of the machine learning process is crucial for harnessing its potential.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The process is broken down into four key stages: </a:t>
            </a:r>
          </a:p>
          <a:p>
            <a:pPr marL="800100" lvl="1" indent="-342900">
              <a:buFont typeface="Arial" panose="020B0604020202020204" pitchFamily="34" charset="0"/>
              <a:buChar char="•"/>
              <a:defRPr/>
            </a:pPr>
            <a:r>
              <a:rPr kumimoji="0" lang="en-US" sz="2000" b="0" i="0" u="none" strike="noStrike" kern="1200" cap="none" spc="0" normalizeH="0" baseline="0" noProof="0" dirty="0">
                <a:ln>
                  <a:noFill/>
                </a:ln>
                <a:solidFill>
                  <a:srgbClr val="FF0000"/>
                </a:solidFill>
                <a:effectLst/>
                <a:uLnTx/>
                <a:uFillTx/>
                <a:latin typeface="Aptos"/>
                <a:ea typeface="+mn-ea"/>
                <a:cs typeface="+mn-cs"/>
              </a:rPr>
              <a:t>Problem Formulation, </a:t>
            </a:r>
          </a:p>
          <a:p>
            <a:pPr marL="800100" lvl="1" indent="-342900">
              <a:buFont typeface="Arial" panose="020B0604020202020204" pitchFamily="34" charset="0"/>
              <a:buChar char="•"/>
              <a:defRPr/>
            </a:pPr>
            <a:r>
              <a:rPr kumimoji="0" lang="en-US" sz="2000" b="0" i="0" u="none" strike="noStrike" kern="1200" cap="none" spc="0" normalizeH="0" baseline="0" noProof="0" dirty="0">
                <a:ln>
                  <a:noFill/>
                </a:ln>
                <a:solidFill>
                  <a:srgbClr val="FF0000"/>
                </a:solidFill>
                <a:effectLst/>
                <a:uLnTx/>
                <a:uFillTx/>
                <a:latin typeface="Aptos"/>
                <a:ea typeface="+mn-ea"/>
                <a:cs typeface="+mn-cs"/>
              </a:rPr>
              <a:t>Data Collection and Exploration, </a:t>
            </a:r>
          </a:p>
          <a:p>
            <a:pPr marL="800100" lvl="1" indent="-342900">
              <a:buFont typeface="Arial" panose="020B0604020202020204" pitchFamily="34" charset="0"/>
              <a:buChar char="•"/>
              <a:defRPr/>
            </a:pPr>
            <a:r>
              <a:rPr kumimoji="0" lang="en-US" sz="2000" b="0" i="0" u="none" strike="noStrike" kern="1200" cap="none" spc="0" normalizeH="0" baseline="0" noProof="0" dirty="0">
                <a:ln>
                  <a:noFill/>
                </a:ln>
                <a:solidFill>
                  <a:srgbClr val="FF0000"/>
                </a:solidFill>
                <a:effectLst/>
                <a:uLnTx/>
                <a:uFillTx/>
                <a:latin typeface="Aptos"/>
                <a:ea typeface="+mn-ea"/>
                <a:cs typeface="+mn-cs"/>
              </a:rPr>
              <a:t>Model Training and Evaluation, and </a:t>
            </a:r>
          </a:p>
          <a:p>
            <a:pPr marL="800100" lvl="1" indent="-342900">
              <a:buFont typeface="Arial" panose="020B0604020202020204" pitchFamily="34" charset="0"/>
              <a:buChar char="•"/>
              <a:defRPr/>
            </a:pPr>
            <a:r>
              <a:rPr kumimoji="0" lang="en-US" sz="2000" b="0" i="0" u="none" strike="noStrike" kern="1200" cap="none" spc="0" normalizeH="0" baseline="0" noProof="0" dirty="0">
                <a:ln>
                  <a:noFill/>
                </a:ln>
                <a:solidFill>
                  <a:srgbClr val="FF0000"/>
                </a:solidFill>
                <a:effectLst/>
                <a:uLnTx/>
                <a:uFillTx/>
                <a:latin typeface="Aptos"/>
                <a:ea typeface="+mn-ea"/>
                <a:cs typeface="+mn-cs"/>
              </a:rPr>
              <a:t>Model Deployment.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Each stage is vital for developing effective and impactful machine learning solutions.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r>
              <a:rPr kumimoji="0" lang="en-US" sz="2800" b="1" i="0" u="none" strike="noStrike" kern="1200" cap="none" spc="0" normalizeH="0" baseline="0" noProof="0">
                <a:ln>
                  <a:noFill/>
                </a:ln>
                <a:solidFill>
                  <a:srgbClr val="D9212B"/>
                </a:solidFill>
                <a:effectLst/>
                <a:uLnTx/>
                <a:uFillTx/>
                <a:latin typeface="Avenir"/>
                <a:ea typeface="+mn-ea"/>
                <a:cs typeface="+mn-cs"/>
                <a:sym typeface="Avenir"/>
              </a:rPr>
              <a:t>Introduction to the Machine Learning Process</a:t>
            </a:r>
          </a:p>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endParaRPr kumimoji="0" lang="en-US" sz="2800" b="1" i="0" u="none" strike="noStrike" kern="1200" cap="none" spc="0" normalizeH="0" baseline="0" noProof="0" dirty="0">
              <a:ln>
                <a:noFill/>
              </a:ln>
              <a:solidFill>
                <a:srgbClr val="D9212B"/>
              </a:solidFill>
              <a:effectLst/>
              <a:uLnTx/>
              <a:uFillTx/>
              <a:latin typeface="Aptos"/>
              <a:ea typeface="+mn-ea"/>
              <a:cs typeface="+mn-cs"/>
            </a:endParaRPr>
          </a:p>
        </p:txBody>
      </p:sp>
    </p:spTree>
    <p:extLst>
      <p:ext uri="{BB962C8B-B14F-4D97-AF65-F5344CB8AC3E}">
        <p14:creationId xmlns:p14="http://schemas.microsoft.com/office/powerpoint/2010/main" val="17333235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Problem formulation is the initial and foundational step in any machine learning project.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It involves clearly defining the problem statement and its specific objectives.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For example, diagnosing diseases based on patient data in healthcare.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Assessment of data availability and quality is crucial at this stage.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This includes identifying </a:t>
            </a:r>
            <a:r>
              <a:rPr kumimoji="0" lang="en-US" sz="2000" b="0" i="0" u="none" strike="noStrike" kern="1200" cap="none" spc="0" normalizeH="0" baseline="0" noProof="0" dirty="0">
                <a:ln>
                  <a:noFill/>
                </a:ln>
                <a:solidFill>
                  <a:srgbClr val="FF0000"/>
                </a:solidFill>
                <a:effectLst/>
                <a:uLnTx/>
                <a:uFillTx/>
                <a:latin typeface="Aptos"/>
                <a:ea typeface="+mn-ea"/>
                <a:cs typeface="+mn-cs"/>
              </a:rPr>
              <a:t>data sources</a:t>
            </a:r>
            <a:r>
              <a:rPr kumimoji="0" lang="en-US" sz="2000" b="0" i="0" u="none" strike="noStrike" kern="1200" cap="none" spc="0" normalizeH="0" baseline="0" noProof="0" dirty="0">
                <a:ln>
                  <a:noFill/>
                </a:ln>
                <a:solidFill>
                  <a:prstClr val="black"/>
                </a:solidFill>
                <a:effectLst/>
                <a:uLnTx/>
                <a:uFillTx/>
                <a:latin typeface="Aptos"/>
                <a:ea typeface="+mn-ea"/>
                <a:cs typeface="+mn-cs"/>
              </a:rPr>
              <a:t>, </a:t>
            </a:r>
            <a:r>
              <a:rPr kumimoji="0" lang="en-US" sz="2000" b="0" i="0" u="none" strike="noStrike" kern="1200" cap="none" spc="0" normalizeH="0" baseline="0" noProof="0" dirty="0">
                <a:ln>
                  <a:noFill/>
                </a:ln>
                <a:solidFill>
                  <a:srgbClr val="FF0000"/>
                </a:solidFill>
                <a:effectLst/>
                <a:uLnTx/>
                <a:uFillTx/>
                <a:latin typeface="Aptos"/>
                <a:ea typeface="+mn-ea"/>
                <a:cs typeface="+mn-cs"/>
              </a:rPr>
              <a:t>formats</a:t>
            </a:r>
            <a:r>
              <a:rPr kumimoji="0" lang="en-US" sz="2000" b="0" i="0" u="none" strike="noStrike" kern="1200" cap="none" spc="0" normalizeH="0" baseline="0" noProof="0" dirty="0">
                <a:ln>
                  <a:noFill/>
                </a:ln>
                <a:solidFill>
                  <a:prstClr val="black"/>
                </a:solidFill>
                <a:effectLst/>
                <a:uLnTx/>
                <a:uFillTx/>
                <a:latin typeface="Aptos"/>
                <a:ea typeface="+mn-ea"/>
                <a:cs typeface="+mn-cs"/>
              </a:rPr>
              <a:t>, and </a:t>
            </a:r>
            <a:r>
              <a:rPr kumimoji="0" lang="en-US" sz="2000" b="0" i="0" u="none" strike="noStrike" kern="1200" cap="none" spc="0" normalizeH="0" baseline="0" noProof="0" dirty="0">
                <a:ln>
                  <a:noFill/>
                </a:ln>
                <a:solidFill>
                  <a:srgbClr val="FF0000"/>
                </a:solidFill>
                <a:effectLst/>
                <a:uLnTx/>
                <a:uFillTx/>
                <a:latin typeface="Aptos"/>
                <a:ea typeface="+mn-ea"/>
                <a:cs typeface="+mn-cs"/>
              </a:rPr>
              <a:t>potential limitations.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r>
              <a:rPr kumimoji="0" lang="en-US" sz="2800" b="1" i="0" u="none" strike="noStrike" kern="1200" cap="none" spc="0" normalizeH="0" baseline="0" noProof="0">
                <a:ln>
                  <a:noFill/>
                </a:ln>
                <a:solidFill>
                  <a:srgbClr val="D9212B"/>
                </a:solidFill>
                <a:effectLst/>
                <a:uLnTx/>
                <a:uFillTx/>
                <a:latin typeface="Avenir"/>
                <a:ea typeface="+mn-ea"/>
                <a:cs typeface="+mn-cs"/>
                <a:sym typeface="Avenir"/>
              </a:rPr>
              <a:t>Problem Formulation: Defining the Goal</a:t>
            </a:r>
          </a:p>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endParaRPr kumimoji="0" lang="en-US" sz="2800" b="1" i="0" u="none" strike="noStrike" kern="1200" cap="none" spc="0" normalizeH="0" baseline="0" noProof="0" dirty="0">
              <a:ln>
                <a:noFill/>
              </a:ln>
              <a:solidFill>
                <a:srgbClr val="D9212B"/>
              </a:solidFill>
              <a:effectLst/>
              <a:uLnTx/>
              <a:uFillTx/>
              <a:latin typeface="Aptos"/>
              <a:ea typeface="+mn-ea"/>
              <a:cs typeface="+mn-cs"/>
            </a:endParaRPr>
          </a:p>
        </p:txBody>
      </p:sp>
    </p:spTree>
    <p:extLst>
      <p:ext uri="{BB962C8B-B14F-4D97-AF65-F5344CB8AC3E}">
        <p14:creationId xmlns:p14="http://schemas.microsoft.com/office/powerpoint/2010/main" val="32688064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Establishing the project's scope and identifying any constraints is essential.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Constraints may include budget limitations, timeframes, or ethical considerations.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Defining clear performance metrics is critical for success, such as accuracy, precision, recall, or business ROI.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Identifying baseline models provides a benchmark for comparison against new solutions.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Assembling a multidisciplinary team with domain knowledge, data science, and software engineering expertise is often necessary.</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r>
              <a:rPr kumimoji="0" lang="en-US" sz="2800" b="1" i="0" u="none" strike="noStrike" kern="1200" cap="none" spc="0" normalizeH="0" baseline="0" noProof="0">
                <a:ln>
                  <a:noFill/>
                </a:ln>
                <a:solidFill>
                  <a:srgbClr val="D9212B"/>
                </a:solidFill>
                <a:effectLst/>
                <a:uLnTx/>
                <a:uFillTx/>
                <a:latin typeface="Avenir"/>
                <a:ea typeface="+mn-ea"/>
                <a:cs typeface="+mn-cs"/>
                <a:sym typeface="Avenir"/>
              </a:rPr>
              <a:t>Problem Formulation: Setting Scope &amp; Metrics</a:t>
            </a:r>
          </a:p>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endParaRPr kumimoji="0" lang="en-US" sz="2800" b="1" i="0" u="none" strike="noStrike" kern="1200" cap="none" spc="0" normalizeH="0" baseline="0" noProof="0" dirty="0">
              <a:ln>
                <a:noFill/>
              </a:ln>
              <a:solidFill>
                <a:srgbClr val="D9212B"/>
              </a:solidFill>
              <a:effectLst/>
              <a:uLnTx/>
              <a:uFillTx/>
              <a:latin typeface="Aptos"/>
              <a:ea typeface="+mn-ea"/>
              <a:cs typeface="+mn-cs"/>
            </a:endParaRPr>
          </a:p>
        </p:txBody>
      </p:sp>
    </p:spTree>
    <p:extLst>
      <p:ext uri="{BB962C8B-B14F-4D97-AF65-F5344CB8AC3E}">
        <p14:creationId xmlns:p14="http://schemas.microsoft.com/office/powerpoint/2010/main" val="8357346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Once the problem is defined, the next step is gathering relevant data.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Data can be collected from diverse sources like databases, APIs, sensors, or manual entry.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Aptos"/>
                <a:ea typeface="+mn-ea"/>
                <a:cs typeface="+mn-cs"/>
              </a:rPr>
              <a:t>•   High-quality data is the fundamental requirement for any effective machine learning system.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Initial data cleaning involves preprocessing to handle missing values and inconsistencies.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This ensures the data is in a usable state for subsequent analysis and model development.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r>
              <a:rPr kumimoji="0" lang="en-US" sz="2800" b="1" i="0" u="none" strike="noStrike" kern="1200" cap="none" spc="0" normalizeH="0" baseline="0" noProof="0">
                <a:ln>
                  <a:noFill/>
                </a:ln>
                <a:solidFill>
                  <a:srgbClr val="D9212B"/>
                </a:solidFill>
                <a:effectLst/>
                <a:uLnTx/>
                <a:uFillTx/>
                <a:latin typeface="Avenir"/>
                <a:ea typeface="+mn-ea"/>
                <a:cs typeface="+mn-cs"/>
                <a:sym typeface="Avenir"/>
              </a:rPr>
              <a:t>Data Collection: Initial Steps</a:t>
            </a:r>
          </a:p>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endParaRPr kumimoji="0" lang="en-US" sz="2800" b="1" i="0" u="none" strike="noStrike" kern="1200" cap="none" spc="0" normalizeH="0" baseline="0" noProof="0" dirty="0">
              <a:ln>
                <a:noFill/>
              </a:ln>
              <a:solidFill>
                <a:srgbClr val="D9212B"/>
              </a:solidFill>
              <a:effectLst/>
              <a:uLnTx/>
              <a:uFillTx/>
              <a:latin typeface="Aptos"/>
              <a:ea typeface="+mn-ea"/>
              <a:cs typeface="+mn-cs"/>
            </a:endParaRPr>
          </a:p>
        </p:txBody>
      </p:sp>
    </p:spTree>
    <p:extLst>
      <p:ext uri="{BB962C8B-B14F-4D97-AF65-F5344CB8AC3E}">
        <p14:creationId xmlns:p14="http://schemas.microsoft.com/office/powerpoint/2010/main" val="21624071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Aptos"/>
                <a:ea typeface="+mn-ea"/>
                <a:cs typeface="+mn-cs"/>
              </a:rPr>
              <a:t>•   Exploratory Data Analysis (EDA) is an in-depth exploration to understand data characteristics.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EDA involves creating visualizations to identify trends, distributions, and relationships.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Summary statistics help in understanding central tendencies and data spread.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Aptos"/>
                <a:ea typeface="+mn-ea"/>
                <a:cs typeface="+mn-cs"/>
              </a:rPr>
              <a:t>•   This stage is crucial for identifying patterns, anomalies, and potential biases within the dataset.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Aptos"/>
                <a:ea typeface="+mn-ea"/>
                <a:cs typeface="+mn-cs"/>
              </a:rPr>
              <a:t>•   Insights gained here may lead to refining initial problem formulations or data collection strategies.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r>
              <a:rPr kumimoji="0" lang="en-US" sz="2800" b="1" i="0" u="none" strike="noStrike" kern="1200" cap="none" spc="0" normalizeH="0" baseline="0" noProof="0">
                <a:ln>
                  <a:noFill/>
                </a:ln>
                <a:solidFill>
                  <a:srgbClr val="D9212B"/>
                </a:solidFill>
                <a:effectLst/>
                <a:uLnTx/>
                <a:uFillTx/>
                <a:latin typeface="Avenir"/>
                <a:ea typeface="+mn-ea"/>
                <a:cs typeface="+mn-cs"/>
                <a:sym typeface="Avenir"/>
              </a:rPr>
              <a:t>Data Exploration: Uncovering Insights</a:t>
            </a:r>
          </a:p>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endParaRPr kumimoji="0" lang="en-US" sz="2800" b="1" i="0" u="none" strike="noStrike" kern="1200" cap="none" spc="0" normalizeH="0" baseline="0" noProof="0" dirty="0">
              <a:ln>
                <a:noFill/>
              </a:ln>
              <a:solidFill>
                <a:srgbClr val="D9212B"/>
              </a:solidFill>
              <a:effectLst/>
              <a:uLnTx/>
              <a:uFillTx/>
              <a:latin typeface="Aptos"/>
              <a:ea typeface="+mn-ea"/>
              <a:cs typeface="+mn-cs"/>
            </a:endParaRPr>
          </a:p>
        </p:txBody>
      </p:sp>
    </p:spTree>
    <p:extLst>
      <p:ext uri="{BB962C8B-B14F-4D97-AF65-F5344CB8AC3E}">
        <p14:creationId xmlns:p14="http://schemas.microsoft.com/office/powerpoint/2010/main" val="10348902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583656" y="1379159"/>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Feature engineering involves creating or transforming input variables (features).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The goal is to enhance the model's ability to make accurate predictions.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Techniques include dimensionality reduction, which simplifies complex datasets.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Aptos"/>
                <a:ea typeface="+mn-ea"/>
                <a:cs typeface="+mn-cs"/>
              </a:rPr>
              <a:t>•   One-hot encoding converts categorical data into a numerical format suitable for algorithms.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Aptos"/>
                <a:ea typeface="+mn-ea"/>
                <a:cs typeface="+mn-cs"/>
              </a:rPr>
              <a:t>•   Feature scaling standardizes numerical features, preventing dominance of certain variables.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r>
              <a:rPr kumimoji="0" lang="en-US" sz="2800" b="1" i="0" u="none" strike="noStrike" kern="1200" cap="none" spc="0" normalizeH="0" baseline="0" noProof="0">
                <a:ln>
                  <a:noFill/>
                </a:ln>
                <a:solidFill>
                  <a:srgbClr val="D9212B"/>
                </a:solidFill>
                <a:effectLst/>
                <a:uLnTx/>
                <a:uFillTx/>
                <a:latin typeface="Avenir"/>
                <a:ea typeface="+mn-ea"/>
                <a:cs typeface="+mn-cs"/>
                <a:sym typeface="Avenir"/>
              </a:rPr>
              <a:t>Data Exploration: Feature Engineering</a:t>
            </a:r>
          </a:p>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endParaRPr kumimoji="0" lang="en-US" sz="2800" b="1" i="0" u="none" strike="noStrike" kern="1200" cap="none" spc="0" normalizeH="0" baseline="0" noProof="0" dirty="0">
              <a:ln>
                <a:noFill/>
              </a:ln>
              <a:solidFill>
                <a:srgbClr val="D9212B"/>
              </a:solidFill>
              <a:effectLst/>
              <a:uLnTx/>
              <a:uFillTx/>
              <a:latin typeface="Aptos"/>
              <a:ea typeface="+mn-ea"/>
              <a:cs typeface="+mn-cs"/>
            </a:endParaRPr>
          </a:p>
        </p:txBody>
      </p:sp>
    </p:spTree>
    <p:extLst>
      <p:ext uri="{BB962C8B-B14F-4D97-AF65-F5344CB8AC3E}">
        <p14:creationId xmlns:p14="http://schemas.microsoft.com/office/powerpoint/2010/main" val="10547670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Model training begins with selecting the appropriate machine learning algorithm.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a:t>
            </a:r>
            <a:r>
              <a:rPr kumimoji="0" lang="en-US" sz="1400" b="0" i="0" u="none" strike="noStrike" kern="1200" cap="none" spc="0" normalizeH="0" baseline="0" noProof="0" dirty="0">
                <a:ln>
                  <a:noFill/>
                </a:ln>
                <a:solidFill>
                  <a:prstClr val="black"/>
                </a:solidFill>
                <a:effectLst/>
                <a:uLnTx/>
                <a:uFillTx/>
                <a:latin typeface="Aptos"/>
                <a:ea typeface="+mn-ea"/>
                <a:cs typeface="+mn-cs"/>
              </a:rPr>
              <a:t>Algorithm choice depends on the problem type (e.g., classification, regression, clustering) and data characteristics.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The training data is used to teach the chosen model to make predictions or decisions.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This involves optimizing model parameters to minimize prediction errors.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The process iteratively adjusts the model's internal settings to learn from the data patterns.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r>
              <a:rPr kumimoji="0" lang="en-US" sz="2800" b="1" i="0" u="none" strike="noStrike" kern="1200" cap="none" spc="0" normalizeH="0" baseline="0" noProof="0">
                <a:ln>
                  <a:noFill/>
                </a:ln>
                <a:solidFill>
                  <a:srgbClr val="D9212B"/>
                </a:solidFill>
                <a:effectLst/>
                <a:uLnTx/>
                <a:uFillTx/>
                <a:latin typeface="Avenir"/>
                <a:ea typeface="+mn-ea"/>
                <a:cs typeface="+mn-cs"/>
                <a:sym typeface="Avenir"/>
              </a:rPr>
              <a:t>Model Training: Building the Model</a:t>
            </a:r>
          </a:p>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endParaRPr kumimoji="0" lang="en-US" sz="2800" b="1" i="0" u="none" strike="noStrike" kern="1200" cap="none" spc="0" normalizeH="0" baseline="0" noProof="0" dirty="0">
              <a:ln>
                <a:noFill/>
              </a:ln>
              <a:solidFill>
                <a:srgbClr val="D9212B"/>
              </a:solidFill>
              <a:effectLst/>
              <a:uLnTx/>
              <a:uFillTx/>
              <a:latin typeface="Aptos"/>
              <a:ea typeface="+mn-ea"/>
              <a:cs typeface="+mn-cs"/>
            </a:endParaRPr>
          </a:p>
        </p:txBody>
      </p:sp>
    </p:spTree>
    <p:extLst>
      <p:ext uri="{BB962C8B-B14F-4D97-AF65-F5344CB8AC3E}">
        <p14:creationId xmlns:p14="http://schemas.microsoft.com/office/powerpoint/2010/main" val="40349515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Model validation assesses the trained model's performance on unseen data.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Performance is measured using relevant evaluation metrics specific to the task.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Common metrics include accuracy, precision, recall, F1-score for classification, and Mean Squared Error for regression.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These metrics help in understanding how well the model generalizes to new data.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Aptos"/>
                <a:ea typeface="+mn-ea"/>
                <a:cs typeface="+mn-cs"/>
              </a:rPr>
              <a:t>•   The validation dataset is distinct from the training set to provide an unbiased performance estimate.</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r>
              <a:rPr kumimoji="0" lang="en-US" sz="2800" b="1" i="0" u="none" strike="noStrike" kern="1200" cap="none" spc="0" normalizeH="0" baseline="0" noProof="0">
                <a:ln>
                  <a:noFill/>
                </a:ln>
                <a:solidFill>
                  <a:srgbClr val="D9212B"/>
                </a:solidFill>
                <a:effectLst/>
                <a:uLnTx/>
                <a:uFillTx/>
                <a:latin typeface="Avenir"/>
                <a:ea typeface="+mn-ea"/>
                <a:cs typeface="+mn-cs"/>
                <a:sym typeface="Avenir"/>
              </a:rPr>
              <a:t>Model Evaluation: Assessing Performance</a:t>
            </a:r>
          </a:p>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endParaRPr kumimoji="0" lang="en-US" sz="2800" b="1" i="0" u="none" strike="noStrike" kern="1200" cap="none" spc="0" normalizeH="0" baseline="0" noProof="0" dirty="0">
              <a:ln>
                <a:noFill/>
              </a:ln>
              <a:solidFill>
                <a:srgbClr val="D9212B"/>
              </a:solidFill>
              <a:effectLst/>
              <a:uLnTx/>
              <a:uFillTx/>
              <a:latin typeface="Aptos"/>
              <a:ea typeface="+mn-ea"/>
              <a:cs typeface="+mn-cs"/>
            </a:endParaRPr>
          </a:p>
        </p:txBody>
      </p:sp>
    </p:spTree>
    <p:extLst>
      <p:ext uri="{BB962C8B-B14F-4D97-AF65-F5344CB8AC3E}">
        <p14:creationId xmlns:p14="http://schemas.microsoft.com/office/powerpoint/2010/main" val="41410829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B4AEC22C-B25E-90DA-C092-5AE61D4E4552}"/>
              </a:ext>
            </a:extLst>
          </p:cNvPr>
          <p:cNvSpPr txBox="1"/>
          <p:nvPr/>
        </p:nvSpPr>
        <p:spPr>
          <a:xfrm>
            <a:off x="47625" y="185732"/>
            <a:ext cx="11763375" cy="2923877"/>
          </a:xfrm>
          <a:prstGeom prst="rect">
            <a:avLst/>
          </a:prstGeom>
          <a:noFill/>
        </p:spPr>
        <p:txBody>
          <a:bodyPr wrap="square">
            <a:spAutoFit/>
          </a:bodyPr>
          <a:lstStyle/>
          <a:p>
            <a:pPr>
              <a:spcBef>
                <a:spcPts val="1200"/>
              </a:spcBef>
              <a:buNone/>
            </a:pPr>
            <a:r>
              <a:rPr lang="en-IN" b="1" dirty="0"/>
              <a:t>Classification Metrics</a:t>
            </a:r>
          </a:p>
          <a:p>
            <a:pPr marL="742950" lvl="1" indent="-285750">
              <a:spcBef>
                <a:spcPts val="1200"/>
              </a:spcBef>
              <a:buFont typeface="Wingdings" panose="05000000000000000000" pitchFamily="2" charset="2"/>
              <a:buChar char="ü"/>
            </a:pPr>
            <a:r>
              <a:rPr lang="en-IN" b="1" dirty="0"/>
              <a:t>Accuracy:</a:t>
            </a:r>
            <a:r>
              <a:rPr lang="en-IN" dirty="0"/>
              <a:t> Ratio of correct predictions to total predictions; best for balanced datasets.</a:t>
            </a:r>
          </a:p>
          <a:p>
            <a:pPr marL="742950" lvl="1" indent="-285750">
              <a:spcBef>
                <a:spcPts val="1200"/>
              </a:spcBef>
              <a:buFont typeface="Wingdings" panose="05000000000000000000" pitchFamily="2" charset="2"/>
              <a:buChar char="ü"/>
            </a:pPr>
            <a:r>
              <a:rPr lang="en-IN" b="1" dirty="0"/>
              <a:t>Precision:</a:t>
            </a:r>
            <a:r>
              <a:rPr lang="en-IN" dirty="0"/>
              <a:t> Ratio of true positives to total predicted positives; used when false positives are costly.</a:t>
            </a:r>
          </a:p>
          <a:p>
            <a:pPr marL="742950" lvl="1" indent="-285750">
              <a:spcBef>
                <a:spcPts val="1200"/>
              </a:spcBef>
              <a:buFont typeface="Wingdings" panose="05000000000000000000" pitchFamily="2" charset="2"/>
              <a:buChar char="ü"/>
            </a:pPr>
            <a:r>
              <a:rPr lang="en-IN" b="1" dirty="0"/>
              <a:t>Recall (Sensitivity):</a:t>
            </a:r>
            <a:r>
              <a:rPr lang="en-IN" dirty="0"/>
              <a:t> Ratio of true positives to total actual positives; used when false negatives are costly.</a:t>
            </a:r>
          </a:p>
          <a:p>
            <a:pPr marL="742950" lvl="1" indent="-285750">
              <a:spcBef>
                <a:spcPts val="1200"/>
              </a:spcBef>
              <a:buFont typeface="Wingdings" panose="05000000000000000000" pitchFamily="2" charset="2"/>
              <a:buChar char="ü"/>
            </a:pPr>
            <a:r>
              <a:rPr lang="en-IN" b="1" dirty="0"/>
              <a:t>F1-Score:</a:t>
            </a:r>
            <a:r>
              <a:rPr lang="en-IN" dirty="0"/>
              <a:t> Harmonic mean of Precision and Recall; ideal for balancing both on imbalanced datasets.</a:t>
            </a:r>
          </a:p>
          <a:p>
            <a:pPr marL="742950" lvl="1" indent="-285750">
              <a:spcBef>
                <a:spcPts val="1200"/>
              </a:spcBef>
              <a:buFont typeface="Wingdings" panose="05000000000000000000" pitchFamily="2" charset="2"/>
              <a:buChar char="ü"/>
            </a:pPr>
            <a:r>
              <a:rPr lang="en-IN" b="1" dirty="0"/>
              <a:t>AUC-ROC:</a:t>
            </a:r>
            <a:r>
              <a:rPr lang="en-IN" dirty="0"/>
              <a:t> Measures a model's ability to distinguish between classes across various probability thresholds.</a:t>
            </a:r>
          </a:p>
          <a:p>
            <a:pPr marL="742950" lvl="1" indent="-285750">
              <a:spcBef>
                <a:spcPts val="1200"/>
              </a:spcBef>
              <a:buFont typeface="Wingdings" panose="05000000000000000000" pitchFamily="2" charset="2"/>
              <a:buChar char="ü"/>
            </a:pPr>
            <a:r>
              <a:rPr lang="en-IN" sz="1600" b="1" dirty="0"/>
              <a:t>Log Loss:</a:t>
            </a:r>
            <a:r>
              <a:rPr lang="en-IN" sz="1600" dirty="0"/>
              <a:t> </a:t>
            </a:r>
            <a:r>
              <a:rPr lang="en-IN" sz="1400" dirty="0"/>
              <a:t>Evaluates the predicted probabilities rather than just final class outputs; heavily penalizes confident wrong answers</a:t>
            </a:r>
            <a:endParaRPr lang="en-IN" sz="1600" dirty="0"/>
          </a:p>
        </p:txBody>
      </p:sp>
      <p:sp>
        <p:nvSpPr>
          <p:cNvPr id="13" name="TextBox 12">
            <a:extLst>
              <a:ext uri="{FF2B5EF4-FFF2-40B4-BE49-F238E27FC236}">
                <a16:creationId xmlns:a16="http://schemas.microsoft.com/office/drawing/2014/main" id="{57EDB979-A5D4-4635-3E68-025C9B76D64F}"/>
              </a:ext>
            </a:extLst>
          </p:cNvPr>
          <p:cNvSpPr txBox="1"/>
          <p:nvPr/>
        </p:nvSpPr>
        <p:spPr>
          <a:xfrm>
            <a:off x="-52388" y="3683201"/>
            <a:ext cx="12405123" cy="2462213"/>
          </a:xfrm>
          <a:prstGeom prst="rect">
            <a:avLst/>
          </a:prstGeom>
          <a:noFill/>
        </p:spPr>
        <p:txBody>
          <a:bodyPr wrap="square">
            <a:spAutoFit/>
          </a:bodyPr>
          <a:lstStyle/>
          <a:p>
            <a:pPr>
              <a:spcBef>
                <a:spcPts val="1200"/>
              </a:spcBef>
              <a:buNone/>
            </a:pPr>
            <a:r>
              <a:rPr lang="en-IN" b="1" dirty="0">
                <a:effectLst/>
                <a:latin typeface="Google Sans"/>
              </a:rPr>
              <a:t>Regression Metrics</a:t>
            </a:r>
          </a:p>
          <a:p>
            <a:pPr marL="742950" lvl="1" indent="-285750">
              <a:spcBef>
                <a:spcPts val="1200"/>
              </a:spcBef>
              <a:buFont typeface="Wingdings" panose="05000000000000000000" pitchFamily="2" charset="2"/>
              <a:buChar char="ü"/>
            </a:pPr>
            <a:r>
              <a:rPr lang="en-IN" sz="1600" b="1" dirty="0">
                <a:effectLst/>
                <a:latin typeface="Google Sans Text"/>
              </a:rPr>
              <a:t>Mean Absolute Error (MAE):</a:t>
            </a:r>
            <a:r>
              <a:rPr lang="en-IN" sz="1600" dirty="0">
                <a:effectLst/>
                <a:latin typeface="Google Sans Text"/>
              </a:rPr>
              <a:t> Average of the absolute differences between actual and predicted values; treats all errors linearly.</a:t>
            </a:r>
          </a:p>
          <a:p>
            <a:pPr marL="742950" lvl="1" indent="-285750">
              <a:spcBef>
                <a:spcPts val="1200"/>
              </a:spcBef>
              <a:buFont typeface="Wingdings" panose="05000000000000000000" pitchFamily="2" charset="2"/>
              <a:buChar char="ü"/>
            </a:pPr>
            <a:r>
              <a:rPr lang="en-IN" b="1" dirty="0">
                <a:effectLst/>
                <a:latin typeface="Google Sans Text"/>
              </a:rPr>
              <a:t>Mean Squared Error (MSE):</a:t>
            </a:r>
            <a:r>
              <a:rPr lang="en-IN" dirty="0">
                <a:effectLst/>
                <a:latin typeface="Google Sans Text"/>
              </a:rPr>
              <a:t> </a:t>
            </a:r>
            <a:r>
              <a:rPr lang="en-IN" sz="1600" dirty="0">
                <a:effectLst/>
                <a:latin typeface="Google Sans Text"/>
              </a:rPr>
              <a:t>Average of the squared differences between actual and predicted values; heavily penalizes larger errors.</a:t>
            </a:r>
            <a:endParaRPr lang="en-IN" dirty="0">
              <a:effectLst/>
              <a:latin typeface="Google Sans Text"/>
            </a:endParaRPr>
          </a:p>
          <a:p>
            <a:pPr marL="742950" lvl="1" indent="-285750">
              <a:spcBef>
                <a:spcPts val="1200"/>
              </a:spcBef>
              <a:buFont typeface="Wingdings" panose="05000000000000000000" pitchFamily="2" charset="2"/>
              <a:buChar char="ü"/>
            </a:pPr>
            <a:r>
              <a:rPr lang="en-IN" b="1" dirty="0">
                <a:effectLst/>
                <a:latin typeface="Google Sans Text"/>
              </a:rPr>
              <a:t>Root Mean Squared Error (RMSE):</a:t>
            </a:r>
            <a:r>
              <a:rPr lang="en-IN" dirty="0">
                <a:effectLst/>
                <a:latin typeface="Google Sans Text"/>
              </a:rPr>
              <a:t> </a:t>
            </a:r>
            <a:r>
              <a:rPr lang="en-IN" sz="1600" dirty="0">
                <a:effectLst/>
                <a:latin typeface="Google Sans Text"/>
              </a:rPr>
              <a:t>Square root of MSE; penalizes large errors while remaining in the same units as the target variable.</a:t>
            </a:r>
            <a:endParaRPr lang="en-IN" dirty="0">
              <a:effectLst/>
              <a:latin typeface="Google Sans Text"/>
            </a:endParaRPr>
          </a:p>
          <a:p>
            <a:pPr marL="742950" lvl="1" indent="-285750">
              <a:spcBef>
                <a:spcPts val="1200"/>
              </a:spcBef>
              <a:buFont typeface="Wingdings" panose="05000000000000000000" pitchFamily="2" charset="2"/>
              <a:buChar char="ü"/>
            </a:pPr>
            <a:r>
              <a:rPr lang="en-IN" sz="1600" b="1" dirty="0">
                <a:effectLst/>
                <a:latin typeface="Google Sans Text"/>
              </a:rPr>
              <a:t>R-Squared (R</a:t>
            </a:r>
            <a:r>
              <a:rPr lang="en-IN" sz="2000" b="1" baseline="30000" dirty="0">
                <a:effectLst/>
                <a:latin typeface="Google Sans Text"/>
              </a:rPr>
              <a:t>2</a:t>
            </a:r>
            <a:r>
              <a:rPr lang="en-IN" sz="1600" b="1" dirty="0">
                <a:effectLst/>
                <a:latin typeface="Google Sans Text"/>
              </a:rPr>
              <a:t>):</a:t>
            </a:r>
            <a:r>
              <a:rPr lang="en-IN" sz="1600" dirty="0">
                <a:effectLst/>
                <a:latin typeface="Google Sans Text"/>
              </a:rPr>
              <a:t> Proportion of variance in the dependent variable explained by the model compared to a simple mean baseline.</a:t>
            </a:r>
          </a:p>
          <a:p>
            <a:pPr marL="742950" lvl="1" indent="-285750">
              <a:spcBef>
                <a:spcPts val="1200"/>
              </a:spcBef>
              <a:buFont typeface="Wingdings" panose="05000000000000000000" pitchFamily="2" charset="2"/>
              <a:buChar char="ü"/>
            </a:pPr>
            <a:r>
              <a:rPr lang="en-IN" b="1" dirty="0">
                <a:effectLst/>
                <a:latin typeface="Google Sans Text"/>
              </a:rPr>
              <a:t>Adjusted R-Squared:</a:t>
            </a:r>
            <a:r>
              <a:rPr lang="en-IN" dirty="0">
                <a:effectLst/>
                <a:latin typeface="Google Sans Text"/>
              </a:rPr>
              <a:t> Penalizes </a:t>
            </a:r>
            <a:r>
              <a:rPr lang="en-IN" b="1" dirty="0">
                <a:latin typeface="Google Sans Text"/>
              </a:rPr>
              <a:t>R</a:t>
            </a:r>
            <a:r>
              <a:rPr lang="en-IN" sz="2400" b="1" baseline="30000" dirty="0">
                <a:latin typeface="Google Sans Text"/>
              </a:rPr>
              <a:t>2</a:t>
            </a:r>
            <a:r>
              <a:rPr lang="en-IN" dirty="0">
                <a:effectLst/>
                <a:latin typeface="Google Sans Text"/>
              </a:rPr>
              <a:t> for adding features that do not significantly improve predictive power.</a:t>
            </a:r>
          </a:p>
        </p:txBody>
      </p:sp>
    </p:spTree>
    <p:extLst>
      <p:ext uri="{BB962C8B-B14F-4D97-AF65-F5344CB8AC3E}">
        <p14:creationId xmlns:p14="http://schemas.microsoft.com/office/powerpoint/2010/main" val="19503055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a:t>
            </a:r>
            <a:r>
              <a:rPr kumimoji="0" lang="en-US" b="0" i="0" u="none" strike="noStrike" kern="1200" cap="none" spc="0" normalizeH="0" baseline="0" noProof="0" dirty="0">
                <a:ln>
                  <a:noFill/>
                </a:ln>
                <a:solidFill>
                  <a:prstClr val="black"/>
                </a:solidFill>
                <a:effectLst/>
                <a:uLnTx/>
                <a:uFillTx/>
                <a:latin typeface="Aptos"/>
                <a:ea typeface="+mn-ea"/>
                <a:cs typeface="+mn-cs"/>
              </a:rPr>
              <a:t>Hyperparameter tuning involves fine-tuning the model's external parameters to improve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a:ea typeface="+mn-ea"/>
                <a:cs typeface="+mn-cs"/>
              </a:rPr>
              <a:t>•   Techniques like grid search or Bayesian optimization are used for systematic hyperparameter adjustment.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a:t>
            </a:r>
            <a:r>
              <a:rPr kumimoji="0" lang="en-US" b="0" i="0" u="none" strike="noStrike" kern="1200" cap="none" spc="0" normalizeH="0" baseline="0" noProof="0" dirty="0">
                <a:ln>
                  <a:noFill/>
                </a:ln>
                <a:solidFill>
                  <a:prstClr val="black"/>
                </a:solidFill>
                <a:effectLst/>
                <a:uLnTx/>
                <a:uFillTx/>
                <a:latin typeface="Aptos"/>
                <a:ea typeface="+mn-ea"/>
                <a:cs typeface="+mn-cs"/>
              </a:rPr>
              <a:t>   Model interpretability is crucial, especially in high-stakes applications like healthcare or finance.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Ensuring interpretability helps in understanding and explaining the model's decisions.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a:ea typeface="+mn-ea"/>
                <a:cs typeface="+mn-cs"/>
              </a:rPr>
              <a:t>•   Ensemble methods, combining multiple models, can further enhance predictive accuracy and robustness.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r>
              <a:rPr kumimoji="0" lang="en-US" sz="2800" b="1" i="0" u="none" strike="noStrike" kern="1200" cap="none" spc="0" normalizeH="0" baseline="0" noProof="0" dirty="0">
                <a:ln>
                  <a:noFill/>
                </a:ln>
                <a:solidFill>
                  <a:srgbClr val="D9212B"/>
                </a:solidFill>
                <a:effectLst/>
                <a:uLnTx/>
                <a:uFillTx/>
                <a:latin typeface="Avenir"/>
                <a:ea typeface="+mn-ea"/>
                <a:cs typeface="+mn-cs"/>
                <a:sym typeface="Avenir"/>
              </a:rPr>
              <a:t>Model Evaluation: Refinement</a:t>
            </a:r>
          </a:p>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endParaRPr kumimoji="0" lang="en-US" sz="2800" b="1" i="0" u="none" strike="noStrike" kern="1200" cap="none" spc="0" normalizeH="0" baseline="0" noProof="0" dirty="0">
              <a:ln>
                <a:noFill/>
              </a:ln>
              <a:solidFill>
                <a:srgbClr val="D9212B"/>
              </a:solidFill>
              <a:effectLst/>
              <a:uLnTx/>
              <a:uFillTx/>
              <a:latin typeface="Aptos"/>
              <a:ea typeface="+mn-ea"/>
              <a:cs typeface="+mn-cs"/>
            </a:endParaRPr>
          </a:p>
        </p:txBody>
      </p:sp>
    </p:spTree>
    <p:extLst>
      <p:ext uri="{BB962C8B-B14F-4D97-AF65-F5344CB8AC3E}">
        <p14:creationId xmlns:p14="http://schemas.microsoft.com/office/powerpoint/2010/main" val="18282711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67A557-7B81-F8DB-418C-5CEA6EFDB7BA}"/>
              </a:ext>
            </a:extLst>
          </p:cNvPr>
          <p:cNvSpPr txBox="1"/>
          <p:nvPr/>
        </p:nvSpPr>
        <p:spPr>
          <a:xfrm>
            <a:off x="-60722" y="0"/>
            <a:ext cx="11958638" cy="2000548"/>
          </a:xfrm>
          <a:prstGeom prst="rect">
            <a:avLst/>
          </a:prstGeom>
          <a:noFill/>
        </p:spPr>
        <p:txBody>
          <a:bodyPr wrap="square">
            <a:spAutoFit/>
          </a:bodyPr>
          <a:lstStyle/>
          <a:p>
            <a:pPr>
              <a:buNone/>
            </a:pPr>
            <a:r>
              <a:rPr lang="en-IN" b="1" dirty="0"/>
              <a:t>Hyperparameter Tuning &amp; Systematic Optimization</a:t>
            </a:r>
          </a:p>
          <a:p>
            <a:pPr marL="742950" lvl="1" indent="-285750">
              <a:spcBef>
                <a:spcPts val="1200"/>
              </a:spcBef>
              <a:buFont typeface="Wingdings" panose="05000000000000000000" pitchFamily="2" charset="2"/>
              <a:buChar char="ü"/>
            </a:pPr>
            <a:r>
              <a:rPr lang="en-IN" sz="1600" b="1" dirty="0"/>
              <a:t>Hyperparameter Tuning: Fine-tunes a model's external configuration parameters (e.g., learning rate, regularization strength) that are not learned directly from the training data, directly driving performance gains.</a:t>
            </a:r>
          </a:p>
          <a:p>
            <a:pPr marL="742950" lvl="1" indent="-285750">
              <a:spcBef>
                <a:spcPts val="1200"/>
              </a:spcBef>
              <a:buFont typeface="Wingdings" panose="05000000000000000000" pitchFamily="2" charset="2"/>
              <a:buChar char="ü"/>
            </a:pPr>
            <a:r>
              <a:rPr lang="en-IN" b="1" dirty="0"/>
              <a:t>Optimization Strategies: Utilizes systematic techniques such as Grid Search for exhaustive parameter scanning, Random Search for high-dimensional efficiency, or Bayesian Optimization to probabilistically navigate the parameter space toward optimal configurations.</a:t>
            </a:r>
          </a:p>
        </p:txBody>
      </p:sp>
      <p:sp>
        <p:nvSpPr>
          <p:cNvPr id="5" name="TextBox 4">
            <a:extLst>
              <a:ext uri="{FF2B5EF4-FFF2-40B4-BE49-F238E27FC236}">
                <a16:creationId xmlns:a16="http://schemas.microsoft.com/office/drawing/2014/main" id="{B4475AA7-874A-552C-BFDE-B4E1203BF6B6}"/>
              </a:ext>
            </a:extLst>
          </p:cNvPr>
          <p:cNvSpPr txBox="1"/>
          <p:nvPr/>
        </p:nvSpPr>
        <p:spPr>
          <a:xfrm>
            <a:off x="-60722" y="2512577"/>
            <a:ext cx="11837194" cy="2062103"/>
          </a:xfrm>
          <a:prstGeom prst="rect">
            <a:avLst/>
          </a:prstGeom>
          <a:noFill/>
        </p:spPr>
        <p:txBody>
          <a:bodyPr wrap="square">
            <a:spAutoFit/>
          </a:bodyPr>
          <a:lstStyle/>
          <a:p>
            <a:pPr>
              <a:buNone/>
            </a:pPr>
            <a:r>
              <a:rPr lang="en-IN" b="1" dirty="0"/>
              <a:t>Model Interpretability &amp; Trust</a:t>
            </a:r>
          </a:p>
          <a:p>
            <a:pPr marL="742950" lvl="1" indent="-285750">
              <a:spcBef>
                <a:spcPts val="1200"/>
              </a:spcBef>
              <a:buFont typeface="Wingdings" panose="05000000000000000000" pitchFamily="2" charset="2"/>
              <a:buChar char="ü"/>
            </a:pPr>
            <a:r>
              <a:rPr lang="en-IN" b="1" dirty="0"/>
              <a:t>Contextual Cruciality: Prioritizes interpretability and explainability as non-negotiable requirements in high-stakes domains like healthcare, finance, or legal compliance.</a:t>
            </a:r>
          </a:p>
          <a:p>
            <a:pPr marL="742950" lvl="1" indent="-285750">
              <a:spcBef>
                <a:spcPts val="1200"/>
              </a:spcBef>
              <a:buFont typeface="Wingdings" panose="05000000000000000000" pitchFamily="2" charset="2"/>
              <a:buChar char="ü"/>
            </a:pPr>
            <a:r>
              <a:rPr lang="en-IN" b="1" dirty="0"/>
              <a:t>Explainable AI (XAI): Implements post-hoc interpretability frameworks like SHAP (</a:t>
            </a:r>
            <a:r>
              <a:rPr lang="en-IN" b="1" dirty="0" err="1"/>
              <a:t>SHapley</a:t>
            </a:r>
            <a:r>
              <a:rPr lang="en-IN" b="1" dirty="0"/>
              <a:t> Additive </a:t>
            </a:r>
            <a:r>
              <a:rPr lang="en-IN" b="1" dirty="0" err="1"/>
              <a:t>exPlanations</a:t>
            </a:r>
            <a:r>
              <a:rPr lang="en-IN" b="1" dirty="0"/>
              <a:t>) or LIME (Local Interpretable Model-agnostic Explanations) to deconstruct complex black-box decisions, ensuring stakeholder trust and regulatory alignment.</a:t>
            </a:r>
          </a:p>
        </p:txBody>
      </p:sp>
      <p:sp>
        <p:nvSpPr>
          <p:cNvPr id="7" name="TextBox 6">
            <a:extLst>
              <a:ext uri="{FF2B5EF4-FFF2-40B4-BE49-F238E27FC236}">
                <a16:creationId xmlns:a16="http://schemas.microsoft.com/office/drawing/2014/main" id="{D8F7E0D9-7B33-A547-601F-A4BD024728B0}"/>
              </a:ext>
            </a:extLst>
          </p:cNvPr>
          <p:cNvSpPr txBox="1"/>
          <p:nvPr/>
        </p:nvSpPr>
        <p:spPr>
          <a:xfrm>
            <a:off x="-60722" y="4748155"/>
            <a:ext cx="12055078" cy="2062103"/>
          </a:xfrm>
          <a:prstGeom prst="rect">
            <a:avLst/>
          </a:prstGeom>
          <a:noFill/>
        </p:spPr>
        <p:txBody>
          <a:bodyPr wrap="square">
            <a:spAutoFit/>
          </a:bodyPr>
          <a:lstStyle/>
          <a:p>
            <a:pPr>
              <a:buNone/>
            </a:pPr>
            <a:r>
              <a:rPr lang="en-IN" b="1" dirty="0"/>
              <a:t>Ensemble Architectural Enhancements</a:t>
            </a:r>
          </a:p>
          <a:p>
            <a:pPr marL="742950" lvl="1" indent="-285750">
              <a:spcBef>
                <a:spcPts val="1200"/>
              </a:spcBef>
              <a:buFont typeface="Wingdings" panose="05000000000000000000" pitchFamily="2" charset="2"/>
              <a:buChar char="ü"/>
            </a:pPr>
            <a:r>
              <a:rPr lang="en-IN" b="1" dirty="0"/>
              <a:t>Ensemble Methods: Leverages the collective predictive power of multiple base estimators to dramatically reduce variance and bias.</a:t>
            </a:r>
          </a:p>
          <a:p>
            <a:pPr marL="742950" lvl="1" indent="-285750">
              <a:spcBef>
                <a:spcPts val="1200"/>
              </a:spcBef>
              <a:buFont typeface="Wingdings" panose="05000000000000000000" pitchFamily="2" charset="2"/>
              <a:buChar char="ü"/>
            </a:pPr>
            <a:r>
              <a:rPr lang="en-IN" b="1" dirty="0"/>
              <a:t>Robustness Strategies: Implements Bagging (e.g., Random Forests) to mitigate overfitting, Boosting (e.g., </a:t>
            </a:r>
            <a:r>
              <a:rPr lang="en-IN" b="1" dirty="0" err="1"/>
              <a:t>XGBoost</a:t>
            </a:r>
            <a:r>
              <a:rPr lang="en-IN" b="1" dirty="0"/>
              <a:t>, </a:t>
            </a:r>
            <a:r>
              <a:rPr lang="en-IN" b="1" dirty="0" err="1"/>
              <a:t>LightGBM</a:t>
            </a:r>
            <a:r>
              <a:rPr lang="en-IN" b="1" dirty="0"/>
              <a:t>) to handle complex non-linear relationships, or Stacking to combine heterogeneous model architectures for maximum predictive stability.</a:t>
            </a:r>
          </a:p>
        </p:txBody>
      </p:sp>
    </p:spTree>
    <p:extLst>
      <p:ext uri="{BB962C8B-B14F-4D97-AF65-F5344CB8AC3E}">
        <p14:creationId xmlns:p14="http://schemas.microsoft.com/office/powerpoint/2010/main" val="23870513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Model deployment is the final stage, putting the trained model into production.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a:t>
            </a:r>
            <a:r>
              <a:rPr kumimoji="0" lang="en-US" sz="1600" b="0" i="0" u="none" strike="noStrike" kern="1200" cap="none" spc="0" normalizeH="0" baseline="0" noProof="0" dirty="0">
                <a:ln>
                  <a:noFill/>
                </a:ln>
                <a:solidFill>
                  <a:prstClr val="black"/>
                </a:solidFill>
                <a:effectLst/>
                <a:uLnTx/>
                <a:uFillTx/>
                <a:latin typeface="Aptos"/>
                <a:ea typeface="+mn-ea"/>
                <a:cs typeface="+mn-cs"/>
              </a:rPr>
              <a:t>Scalability ensures the model can handle real-world workloads, scaling horizontally or vertically as needed.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Continuous monitoring is implemented to track model performance in a live environment.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Monitoring helps detect model drift and ensures the model remains accurate over time.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a:t>
            </a:r>
            <a:r>
              <a:rPr kumimoji="0" lang="en-US" sz="1600" b="0" i="0" u="none" strike="noStrike" kern="1200" cap="none" spc="0" normalizeH="0" baseline="0" noProof="0" dirty="0">
                <a:ln>
                  <a:noFill/>
                </a:ln>
                <a:solidFill>
                  <a:prstClr val="black"/>
                </a:solidFill>
                <a:effectLst/>
                <a:uLnTx/>
                <a:uFillTx/>
                <a:latin typeface="Aptos"/>
                <a:ea typeface="+mn-ea"/>
                <a:cs typeface="+mn-cs"/>
              </a:rPr>
              <a:t>Addressing security concerns, such as protection against adversarial attacks or data breaches, is critical.</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r>
              <a:rPr kumimoji="0" lang="en-US" sz="2800" b="1" i="0" u="none" strike="noStrike" kern="1200" cap="none" spc="0" normalizeH="0" baseline="0" noProof="0">
                <a:ln>
                  <a:noFill/>
                </a:ln>
                <a:solidFill>
                  <a:srgbClr val="D9212B"/>
                </a:solidFill>
                <a:effectLst/>
                <a:uLnTx/>
                <a:uFillTx/>
                <a:latin typeface="Avenir"/>
                <a:ea typeface="+mn-ea"/>
                <a:cs typeface="+mn-cs"/>
                <a:sym typeface="Avenir"/>
              </a:rPr>
              <a:t>Model Deployment: Readiness for Use</a:t>
            </a:r>
          </a:p>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endParaRPr kumimoji="0" lang="en-US" sz="2800" b="1" i="0" u="none" strike="noStrike" kern="1200" cap="none" spc="0" normalizeH="0" baseline="0" noProof="0" dirty="0">
              <a:ln>
                <a:noFill/>
              </a:ln>
              <a:solidFill>
                <a:srgbClr val="D9212B"/>
              </a:solidFill>
              <a:effectLst/>
              <a:uLnTx/>
              <a:uFillTx/>
              <a:latin typeface="Aptos"/>
              <a:ea typeface="+mn-ea"/>
              <a:cs typeface="+mn-cs"/>
            </a:endParaRPr>
          </a:p>
        </p:txBody>
      </p:sp>
    </p:spTree>
    <p:extLst>
      <p:ext uri="{BB962C8B-B14F-4D97-AF65-F5344CB8AC3E}">
        <p14:creationId xmlns:p14="http://schemas.microsoft.com/office/powerpoint/2010/main" val="11235628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API integration involves creating an API or integrating the model into existing systems.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This makes the model accessible for making predictions in real-time within applications.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a:t>
            </a:r>
            <a:r>
              <a:rPr kumimoji="0" lang="en-US" sz="1600" b="0" i="0" u="none" strike="noStrike" kern="1200" cap="none" spc="0" normalizeH="0" baseline="0" noProof="0" dirty="0">
                <a:ln>
                  <a:noFill/>
                </a:ln>
                <a:solidFill>
                  <a:prstClr val="black"/>
                </a:solidFill>
                <a:effectLst/>
                <a:uLnTx/>
                <a:uFillTx/>
                <a:latin typeface="Aptos"/>
                <a:ea typeface="+mn-ea"/>
                <a:cs typeface="+mn-cs"/>
              </a:rPr>
              <a:t>Comprehensive documentation is essential for users and maintainers, detailing input/output specifications.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Troubleshooting guides are also part of thorough documentation.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Establishing procedures for model maintenance, updates, and retraining ensures the model remains relevant and accurate over its lifecycle.</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r>
              <a:rPr kumimoji="0" lang="en-US" sz="2800" b="1" i="0" u="none" strike="noStrike" kern="1200" cap="none" spc="0" normalizeH="0" baseline="0" noProof="0">
                <a:ln>
                  <a:noFill/>
                </a:ln>
                <a:solidFill>
                  <a:srgbClr val="D9212B"/>
                </a:solidFill>
                <a:effectLst/>
                <a:uLnTx/>
                <a:uFillTx/>
                <a:latin typeface="Avenir"/>
                <a:ea typeface="+mn-ea"/>
                <a:cs typeface="+mn-cs"/>
                <a:sym typeface="Avenir"/>
              </a:rPr>
              <a:t>Model Deployment: Sustainable Operations</a:t>
            </a:r>
          </a:p>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endParaRPr kumimoji="0" lang="en-US" sz="2800" b="1" i="0" u="none" strike="noStrike" kern="1200" cap="none" spc="0" normalizeH="0" baseline="0" noProof="0" dirty="0">
              <a:ln>
                <a:noFill/>
              </a:ln>
              <a:solidFill>
                <a:srgbClr val="D9212B"/>
              </a:solidFill>
              <a:effectLst/>
              <a:uLnTx/>
              <a:uFillTx/>
              <a:latin typeface="Aptos"/>
              <a:ea typeface="+mn-ea"/>
              <a:cs typeface="+mn-cs"/>
            </a:endParaRPr>
          </a:p>
        </p:txBody>
      </p:sp>
    </p:spTree>
    <p:extLst>
      <p:ext uri="{BB962C8B-B14F-4D97-AF65-F5344CB8AC3E}">
        <p14:creationId xmlns:p14="http://schemas.microsoft.com/office/powerpoint/2010/main" val="11384395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a:t>
            </a:r>
            <a:r>
              <a:rPr kumimoji="0" lang="en-US" b="0" i="0" u="none" strike="noStrike" kern="1200" cap="none" spc="0" normalizeH="0" baseline="0" noProof="0" dirty="0">
                <a:ln>
                  <a:noFill/>
                </a:ln>
                <a:solidFill>
                  <a:prstClr val="black"/>
                </a:solidFill>
                <a:effectLst/>
                <a:uLnTx/>
                <a:uFillTx/>
                <a:latin typeface="Aptos"/>
                <a:ea typeface="+mn-ea"/>
                <a:cs typeface="+mn-cs"/>
              </a:rPr>
              <a:t>The machine learning process is a systematic approach to solving complex problems with data.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It starts with clear Problem Formulation, setting the project's direction and goals.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Data Collection and Exploration gather, clean, and prepare high-quality data.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Model Training and Evaluation build and refine models to ensure robust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   Model Deployment integrates and maintains the solution for real-world impact.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r>
              <a:rPr kumimoji="0" lang="en-US" sz="2800" b="1" i="0" u="none" strike="noStrike" kern="1200" cap="none" spc="0" normalizeH="0" baseline="0" noProof="0">
                <a:ln>
                  <a:noFill/>
                </a:ln>
                <a:solidFill>
                  <a:srgbClr val="D9212B"/>
                </a:solidFill>
                <a:effectLst/>
                <a:uLnTx/>
                <a:uFillTx/>
                <a:latin typeface="Avenir"/>
                <a:ea typeface="+mn-ea"/>
                <a:cs typeface="+mn-cs"/>
                <a:sym typeface="Avenir"/>
              </a:rPr>
              <a:t>The Machine Learning Process: Key Takeaways</a:t>
            </a:r>
          </a:p>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endParaRPr kumimoji="0" lang="en-US" sz="2800" b="1" i="0" u="none" strike="noStrike" kern="1200" cap="none" spc="0" normalizeH="0" baseline="0" noProof="0" dirty="0">
              <a:ln>
                <a:noFill/>
              </a:ln>
              <a:solidFill>
                <a:srgbClr val="D9212B"/>
              </a:solidFill>
              <a:effectLst/>
              <a:uLnTx/>
              <a:uFillTx/>
              <a:latin typeface="Aptos"/>
              <a:ea typeface="+mn-ea"/>
              <a:cs typeface="+mn-cs"/>
            </a:endParaRPr>
          </a:p>
        </p:txBody>
      </p:sp>
    </p:spTree>
    <p:extLst>
      <p:ext uri="{BB962C8B-B14F-4D97-AF65-F5344CB8AC3E}">
        <p14:creationId xmlns:p14="http://schemas.microsoft.com/office/powerpoint/2010/main" val="26700547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Aptos Display"/>
              <a:ea typeface="+mn-ea"/>
              <a:cs typeface="+mn-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Question 1: In the Problem Formulation stage of a machine learning project, which of the following is the least likely primary consideration?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A) Defining success metrics like accuracy or ROI.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B) Assessing the availability and quality of required 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C) Identifying specific algorithms for model training.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D) Establishing budget and time constraints for the project.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7191196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Aptos Display"/>
              <a:ea typeface="+mn-ea"/>
              <a:cs typeface="+mn-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Question 1: In the Problem Formulation stage of a machine learning project, which of the following is the least likely primary consideration?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A) Defining success metrics like accuracy or ROI.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B) Assessing the availability and quality of required 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C) Identifying specific algorithms for model training.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D) Establishing budget and time constraints for the project.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a:ea typeface="+mn-ea"/>
                <a:cs typeface="+mn-cs"/>
              </a:rPr>
              <a:t>Correct Answer: C) Identifying specific algorithms for model training.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a:ea typeface="+mn-ea"/>
                <a:cs typeface="+mn-cs"/>
              </a:rPr>
              <a:t>Explanation: Model selection (identifying algorithms) typically occurs in the Model Training and Evaluation stage, not during the initial problem formulation. Problem formulation focuses on defining the business problem, data needs, scope, and success criteria.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13431694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Aptos Display"/>
              <a:ea typeface="+mn-ea"/>
              <a:cs typeface="+mn-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Question 2: Which of the following activities is primarily associated with the "Data Exploration" phase rather than "Data Collection" or "Feature Engineering"?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A) Replacing missing values using imputation techniques.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B) Developing new features by combining existing variables based on domain knowledge.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C) Visualizing data distributions and relationships to understand underlying patterns.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D) Splitting the dataset into training, validation, and test sets.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20459893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Aptos Display"/>
              <a:ea typeface="+mn-ea"/>
              <a:cs typeface="+mn-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Question 2: Which of the following activities is primarily associated with the "Data Exploration" phase rather than "Data Collection" or "Feature Engineering"?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A) Replacing missing values using imputation techniques.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B) Developing new features by combining existing variables based on domain knowledge.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C) Visualizing data distributions and relationships to understand underlying patterns.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D) Splitting the dataset into training, validation, and test sets.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a:ea typeface="+mn-ea"/>
                <a:cs typeface="+mn-cs"/>
              </a:rPr>
              <a:t>Correct Answer: C) Visualizing data distributions and relationships to understand underlying patterns.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a:ea typeface="+mn-ea"/>
                <a:cs typeface="+mn-cs"/>
              </a:rPr>
              <a:t>Explanation: Visualizing data distributions and relationships (Exploratory Data Analysis - EDA) is a core component of Data Exploration, aimed at understanding the data's characteristics. Handling missing values (A) is data cleaning (part of collection/exploration prep), feature engineering (B) is a distinct step, and data splitting (D) is preparation for training.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3592094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Aptos Display"/>
              <a:ea typeface="+mn-ea"/>
              <a:cs typeface="+mn-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Question 3: During the Model Training and Evaluation stage, why is "Hyperparameter Tuning" distinct from "Model Training"?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A) Model training optimizes internal model parameters, while hyperparameter tuning optimizes external algorithm settings.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B) Hyperparameter tuning involves training on the test set, while model training uses the validation set.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C) Model training focuses on reducing overfitting, while hyperparameter tuning focuses on improving interpretability.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D) Hyperparameter tuning is only relevant for ensemble methods, not single models.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31257085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Aptos Display"/>
              <a:ea typeface="+mn-ea"/>
              <a:cs typeface="+mn-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Question 3: During the Model Training and Evaluation stage, why is "Hyperparameter Tuning" distinct from "Model Training"?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A) Model training optimizes internal model parameters, while hyperparameter tuning optimizes external algorithm settings.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B) Hyperparameter tuning involves training on the test set, while model training uses the validation set.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C) Model training focuses on reducing overfitting, while hyperparameter tuning focuses on improving interpretability.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D) Hyperparameter tuning is only relevant for ensemble methods, not single models.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a:ea typeface="+mn-ea"/>
                <a:cs typeface="+mn-cs"/>
              </a:rPr>
              <a:t>Correct Answer: A) Model training optimizes internal model parameters, while hyperparameter tuning optimizes external algorithm settings.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a:ea typeface="+mn-ea"/>
                <a:cs typeface="+mn-cs"/>
              </a:rPr>
              <a:t>Explanation: Model training involves the algorithm learning weights/biases from data (internal parameters). Hyperparameter tuning involves adjusting settings of the algorithm (like learning rate, number of trees) that are set before training (external parameters) to find the best performing model configuration.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4372021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Aptos Display"/>
              <a:ea typeface="+mn-ea"/>
              <a:cs typeface="+mn-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Question 4: What is the primary purpose of implementing "continuous monitoring" after a machine learning model has been deployed?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A) To retrain the model with entirely new algorithms periodically.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Aptos"/>
                <a:ea typeface="+mn-ea"/>
                <a:cs typeface="+mn-cs"/>
              </a:rPr>
              <a:t>B) To detect model drift and ensure the model remains accurate over time in a live environment.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C) To integrate the model with new, unrelated software systems.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D) To fine-tune the model's hyperparameters based on historical training data.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9597689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Aptos Display"/>
              <a:ea typeface="+mn-ea"/>
              <a:cs typeface="+mn-cs"/>
            </a:endParaRPr>
          </a:p>
        </p:txBody>
      </p:sp>
      <p:sp>
        <p:nvSpPr>
          <p:cNvPr id="3" name="Google Shape;111;p5"/>
          <p:cNvSpPr txBox="1"/>
          <p:nvPr/>
        </p:nvSpPr>
        <p:spPr>
          <a:xfrm>
            <a:off x="526742" y="1534988"/>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Question 4: What is the primary purpose of implementing "continuous monitoring" after a machine learning model has been deployed?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A) To retrain the model with entirely new algorithms periodically.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Aptos"/>
                <a:ea typeface="+mn-ea"/>
                <a:cs typeface="+mn-cs"/>
              </a:rPr>
              <a:t>B) To detect model drift and ensure the model remains accurate over time in a live environment.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C) To integrate the model with new, unrelated software systems.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D) To fine-tune the model's hyperparameters based on historical training data.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a:ea typeface="+mn-ea"/>
                <a:cs typeface="+mn-cs"/>
              </a:rPr>
              <a:t>Correct Answer: B) To detect model drift and ensure the model remains accurate over time in a live environment.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a:ea typeface="+mn-ea"/>
                <a:cs typeface="+mn-cs"/>
              </a:rPr>
              <a:t>Explanation: Continuous monitoring is essential post-deployment to observe the model's performance in real-world scenarios, identify if its predictive power degrades (model drift), and signal when retraining or recalibration is needed to maintain accuracy.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751612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Aptos Display"/>
              <a:ea typeface="+mn-ea"/>
              <a:cs typeface="+mn-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Question 5: In which stage of the machine learning process would "assembling a multidisciplinary team" be most critical for establishing a solid foundation?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A) Data Collection and Exploration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B) Problem Formulation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C) Model Training and Evaluation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D) Model Deployment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16165625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Aptos Display"/>
              <a:ea typeface="+mn-ea"/>
              <a:cs typeface="+mn-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Question 5: In which stage of the machine learning process would "assembling a multidisciplinary team" be most critical for establishing a solid foundation?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A) Data Collection and Exploration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B) Problem Formulation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C) Model Training and Evaluation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D) Model Deployment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a:ea typeface="+mn-ea"/>
                <a:cs typeface="+mn-cs"/>
              </a:rPr>
              <a:t>Correct Answer: B) Problem Formulation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a:ea typeface="+mn-ea"/>
                <a:cs typeface="+mn-cs"/>
              </a:rPr>
              <a:t>Explanation: Assembling a multidisciplinary team (with domain experts, data scientists, engineers) is mentioned as a key activity during Problem Formulation. This ensures diverse perspectives are considered from the outset, leading to a well-defined problem and project scope.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112402499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Aptos Display"/>
              <a:ea typeface="+mn-ea"/>
              <a:cs typeface="+mn-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Question 6: A data scientist notices that their trained model performs exceptionally well on the training data but poorly on the validation data. Which action, commonly part of the Model Training and Evaluation stage, is most appropriate to address this issue?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A) Immediately deploying the model to production and monitoring its real-world performance.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B) Focusing on more extensive data gathering from entirely new sources.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C) Conducting hyperparameter tuning or exploring ensemble methods to reduce overfitting.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D) Redefining the business problem from scratch in the Problem Formulation stage.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36281813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Aptos Display"/>
              <a:ea typeface="+mn-ea"/>
              <a:cs typeface="+mn-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Question 6: A data scientist notices that their trained model performs exceptionally well on the training data but poorly on the validation data. Which action, commonly part of the Model Training and Evaluation stage, is most appropriate to address this issue?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A) Immediately deploying the model to production and monitoring its real-world performance.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B) Focusing on more extensive data gathering from entirely new sources.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C) Conducting hyperparameter tuning or exploring ensemble methods to reduce overfitting.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D) Redefining the business problem from scratch in the Problem Formulation stage.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a:ea typeface="+mn-ea"/>
                <a:cs typeface="+mn-cs"/>
              </a:rPr>
              <a:t>Correct Answer: C) Conducting hyperparameter tuning or exploring ensemble methods to reduce overfitting.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a:ea typeface="+mn-ea"/>
                <a:cs typeface="+mn-cs"/>
              </a:rPr>
              <a:t>Explanation: This scenario indicates overfitting, where the model has learned the training data too well and fails to generalize. Hyperparameter tuning and ensemble methods are techniques used in the Model Training and Evaluation stage to improve model generalization and combat overfitting.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9310947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Aptos Display"/>
              <a:ea typeface="+mn-ea"/>
              <a:cs typeface="+mn-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Question 7: Which of the following is a key consideration during the Model Deployment stage to ensure the solution can handle real-world demands?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A) Conducting Exploratory Data Analysis (EDA) on the production 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B) Optimizing internal model parameters on the full dataset.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C) Ensuring scalability to handle varying workloads.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D) Defining the initial performance metrics for the project.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405742339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Aptos Display"/>
              <a:ea typeface="+mn-ea"/>
              <a:cs typeface="+mn-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Question 7: Which of the following is a key consideration during the Model Deployment stage to ensure the solution can handle real-world demands?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A) Conducting Exploratory Data Analysis (EDA) on the production 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B) Optimizing internal model parameters on the full dataset.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C) Ensuring scalability to handle varying workloads.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D) Defining the initial performance metrics for the project.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a:ea typeface="+mn-ea"/>
                <a:cs typeface="+mn-cs"/>
              </a:rPr>
              <a:t>Correct Answer: C) Ensuring scalability to handle varying workloads.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a:ea typeface="+mn-ea"/>
                <a:cs typeface="+mn-cs"/>
              </a:rPr>
              <a:t>Explanation: Scalability is a crucial aspect of Model Deployment, ensuring that the model can handle fluctuating numbers of requests and large datasets in a production environment without performance degradation. EDA (A) and defining metrics (D) are earlier stages, and optimizing parameters (B) is part of training.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421060573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A retail company, "</a:t>
            </a:r>
            <a:r>
              <a:rPr kumimoji="0" lang="en-US" sz="2000" b="0" i="0" u="none" strike="noStrike" kern="1200" cap="none" spc="0" normalizeH="0" baseline="0" noProof="0" dirty="0" err="1">
                <a:ln>
                  <a:noFill/>
                </a:ln>
                <a:solidFill>
                  <a:prstClr val="black"/>
                </a:solidFill>
                <a:effectLst/>
                <a:uLnTx/>
                <a:uFillTx/>
                <a:latin typeface="Aptos"/>
                <a:ea typeface="+mn-ea"/>
                <a:cs typeface="+mn-cs"/>
              </a:rPr>
              <a:t>TrendFinders</a:t>
            </a:r>
            <a:r>
              <a:rPr kumimoji="0" lang="en-US" sz="2000" b="0" i="0" u="none" strike="noStrike" kern="1200" cap="none" spc="0" normalizeH="0" baseline="0" noProof="0" dirty="0">
                <a:ln>
                  <a:noFill/>
                </a:ln>
                <a:solidFill>
                  <a:prstClr val="black"/>
                </a:solidFill>
                <a:effectLst/>
                <a:uLnTx/>
                <a:uFillTx/>
                <a:latin typeface="Aptos"/>
                <a:ea typeface="+mn-ea"/>
                <a:cs typeface="+mn-cs"/>
              </a:rPr>
              <a:t>," wants to develop a machine learning system to predict which customers are most likely to churn (stop buying their products) in the next three months. They have access to historical customer transaction data, demographics, and website activity logs. The company aims to proactively offer incentives to high-risk customers to retain them.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a:ea typeface="+mn-ea"/>
                <a:cs typeface="+mn-cs"/>
              </a:rPr>
              <a:t>Based on your understanding of the machine learning process, outline the key steps </a:t>
            </a:r>
            <a:r>
              <a:rPr kumimoji="0" lang="en-US" sz="2000" b="0" i="0" u="none" strike="noStrike" kern="1200" cap="none" spc="0" normalizeH="0" baseline="0" noProof="0" dirty="0" err="1">
                <a:ln>
                  <a:noFill/>
                </a:ln>
                <a:solidFill>
                  <a:prstClr val="black"/>
                </a:solidFill>
                <a:effectLst/>
                <a:uLnTx/>
                <a:uFillTx/>
                <a:latin typeface="Aptos"/>
                <a:ea typeface="+mn-ea"/>
                <a:cs typeface="+mn-cs"/>
              </a:rPr>
              <a:t>TrendFinders</a:t>
            </a:r>
            <a:r>
              <a:rPr kumimoji="0" lang="en-US" sz="2000" b="0" i="0" u="none" strike="noStrike" kern="1200" cap="none" spc="0" normalizeH="0" baseline="0" noProof="0" dirty="0">
                <a:ln>
                  <a:noFill/>
                </a:ln>
                <a:solidFill>
                  <a:prstClr val="black"/>
                </a:solidFill>
                <a:effectLst/>
                <a:uLnTx/>
                <a:uFillTx/>
                <a:latin typeface="Aptos"/>
                <a:ea typeface="+mn-ea"/>
                <a:cs typeface="+mn-cs"/>
              </a:rPr>
              <a:t> should take from the Problem Formulation to Model Deployment stages to successfully implement this customer churn prediction system. Focus on the core activities within each major stage.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Aptos Display"/>
              <a:ea typeface="+mn-ea"/>
              <a:cs typeface="+mn-cs"/>
            </a:endParaRPr>
          </a:p>
        </p:txBody>
      </p:sp>
    </p:spTree>
    <p:extLst>
      <p:ext uri="{BB962C8B-B14F-4D97-AF65-F5344CB8AC3E}">
        <p14:creationId xmlns:p14="http://schemas.microsoft.com/office/powerpoint/2010/main" val="39538124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fontScale="47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Solution: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Problem Formulation: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Define Problem &amp; Objectives: Clearly define "churn" (e.g., no purchases for 3 months) and the objective to predict high-risk customers. Set a target accuracy or reduction in churn rate.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Data Assessment: Evaluate existing data sources (transaction history, demographics, website logs) for relevance, completeness, and quality. Identify potential data gaps.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Scope &amp; Constraints: Determine the scope (e.g., focus on online customers first) and consider constraints like budget, timeline, and ethical implications of using customer 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Performance Metrics: Establish metrics for success, such as precision and recall for identifying churners, or a specific uplift in retention rates due to interventions.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Team &amp; Baseline: Assemble a team including data scientists, marketing specialists, and IT. Identify any current, non-ML methods for churn prediction as a baseline.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Data Collection and Exploration: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Data Gathering: Collect all relevant data from databases, CRM systems, and web analytics platforms.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Data Cleaning: Preprocess the raw data to handle missing values (e.g., impute or remove), identify and treat outliers in transaction amounts, and ensure data consistency.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Exploratory Data Analysis (EDA): Analyze customer segments, purchasing patterns, website engagement, and demographic distributions. Visualize relationships between these factors and historical churn.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Feature Engineering: Create new features like "days since last purchase," "average order value," "number of product categories bought," or "website visit frequency."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Data Splitting: Divide the processed data into training, validation, and test sets to facilitate robust model development and evaluation.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Model Training and Evaluation: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Model Selection: Choose appropriate classification algorithms (e.g., Logistic Regression, Random Forest, Gradient Boosting) suitable for predicting a binary outcome (churn/no churn).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Model Training: Train the selected model(s) using the prepared training data, optimizing parameters to minimize prediction errors on churn prediction.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Model Validation: Evaluate the trained model(s) performance on the validation set using metrics like F1-score, AUC-ROC, precision, and recall, as churn prediction often deals with imbalanced classes.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Hyperparameter Tuning: Fine-tune model hyperparameters to achieve optimal performance and prevent overfitting.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Model Interpretability &amp; Ensemble: Ensure the model's predictions are interpretable (e.g., which factors contribute most to churn risk) and consider combining multiple models for better accuracy.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Model Deployment: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Scalability &amp; Security: Ensure the deployed model can handle real-time scoring of new customer data efficiently and securely, protecting sensitive customer information.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Monitoring: Implement continuous monitoring to track the model's predictive accuracy over time, identify data or concept drift, and alert when retraining is necessary.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API Integration: Integrate the churn prediction model into TrendFinders' CRM system or marketing automation platform via an API, allowing for automated identification of at-risk customers.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Aptos"/>
                <a:ea typeface="+mn-ea"/>
                <a:cs typeface="+mn-cs"/>
              </a:rPr>
              <a:t>Documentation &amp; Maintenance: Provide comprehensive documentation for the model's input/output, performance characteristics, and set up a plan for regular maintenance, updates, and periodic retraining with fresh data.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Aptos Display"/>
              <a:ea typeface="+mn-ea"/>
              <a:cs typeface="+mn-cs"/>
            </a:endParaRPr>
          </a:p>
        </p:txBody>
      </p:sp>
    </p:spTree>
    <p:extLst>
      <p:ext uri="{BB962C8B-B14F-4D97-AF65-F5344CB8AC3E}">
        <p14:creationId xmlns:p14="http://schemas.microsoft.com/office/powerpoint/2010/main" val="409857832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Tx/>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Session Summary</a:t>
            </a:r>
            <a:endParaRPr kumimoji="0" lang="en-US" sz="2800" b="1" i="0" u="none" strike="noStrike" kern="1200" cap="none" spc="0" normalizeH="0" baseline="0" noProof="0" dirty="0">
              <a:ln>
                <a:noFill/>
              </a:ln>
              <a:solidFill>
                <a:srgbClr val="D9212B"/>
              </a:solidFill>
              <a:effectLst/>
              <a:uLnTx/>
              <a:uFillTx/>
              <a:latin typeface="Aptos"/>
              <a:ea typeface="+mn-ea"/>
              <a:cs typeface="+mn-cs"/>
            </a:endParaRPr>
          </a:p>
        </p:txBody>
      </p:sp>
      <p:sp>
        <p:nvSpPr>
          <p:cNvPr id="5" name="Google Shape;135;p9"/>
          <p:cNvSpPr txBox="1"/>
          <p:nvPr/>
        </p:nvSpPr>
        <p:spPr>
          <a:xfrm>
            <a:off x="715540" y="1569935"/>
            <a:ext cx="10714460" cy="321981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15000"/>
              </a:lnSpc>
              <a:spcBef>
                <a:spcPts val="0"/>
              </a:spcBef>
              <a:spcAft>
                <a:spcPts val="100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
              <a:ea typeface="Times New Roman"/>
              <a:cs typeface="Times New Roman"/>
            </a:endParaRPr>
          </a:p>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
                <a:ea typeface="Times New Roman"/>
                <a:cs typeface="Times New Roman"/>
              </a:rPr>
              <a:t>•   Describe the foundational stages of the machine learning process.</a:t>
            </a:r>
          </a:p>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
                <a:ea typeface="Times New Roman"/>
                <a:cs typeface="Times New Roman"/>
              </a:rPr>
              <a:t>•   Outline the critical steps involved in formulating a machine learning problem effectively.</a:t>
            </a:r>
          </a:p>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
                <a:ea typeface="Times New Roman"/>
                <a:cs typeface="Times New Roman"/>
              </a:rPr>
              <a:t>•   Explain the importance of data collection, cleaning, and feature engineering for model development.</a:t>
            </a:r>
          </a:p>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
                <a:ea typeface="Times New Roman"/>
                <a:cs typeface="Times New Roman"/>
              </a:rPr>
              <a:t>•   Understand the procedures for training, validating, and evaluating machine learning models.</a:t>
            </a:r>
          </a:p>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
                <a:ea typeface="Times New Roman"/>
                <a:cs typeface="Times New Roman"/>
              </a:rPr>
              <a:t>•   Identify key considerations for successfully deploying and maintaining ML models in production.</a:t>
            </a:r>
          </a:p>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
                <a:ea typeface="Times New Roman"/>
                <a:cs typeface="Times New Roman"/>
              </a:rPr>
              <a:t> </a:t>
            </a:r>
          </a:p>
        </p:txBody>
      </p:sp>
    </p:spTree>
    <p:extLst>
      <p:ext uri="{BB962C8B-B14F-4D97-AF65-F5344CB8AC3E}">
        <p14:creationId xmlns:p14="http://schemas.microsoft.com/office/powerpoint/2010/main" val="304461955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Learning Objectives 4</a:t>
            </a:r>
            <a:endParaRPr lang="en-US" sz="2800" b="1" dirty="0">
              <a:solidFill>
                <a:srgbClr val="D9212B"/>
              </a:solidFill>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96;p3"/>
          <p:cNvSpPr txBox="1"/>
          <p:nvPr/>
        </p:nvSpPr>
        <p:spPr>
          <a:xfrm>
            <a:off x="773393" y="1672895"/>
            <a:ext cx="8074981" cy="57134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000"/>
              <a:buFont typeface="Arial"/>
              <a:buNone/>
            </a:pPr>
            <a:r>
              <a:rPr lang="en-US" sz="2000" b="1" dirty="0">
                <a:solidFill>
                  <a:schemeClr val="dk1"/>
                </a:solidFill>
                <a:latin typeface="Avenir"/>
                <a:ea typeface="Avenir"/>
                <a:cs typeface="Avenir"/>
                <a:sym typeface="Avenir"/>
              </a:rPr>
              <a:t>By the end of this session, you will be able to:</a:t>
            </a:r>
            <a:endParaRPr dirty="0"/>
          </a:p>
        </p:txBody>
      </p:sp>
      <p:sp>
        <p:nvSpPr>
          <p:cNvPr id="5" name="Google Shape;98;p3"/>
          <p:cNvSpPr txBox="1"/>
          <p:nvPr/>
        </p:nvSpPr>
        <p:spPr>
          <a:xfrm>
            <a:off x="885636" y="2326538"/>
            <a:ext cx="10132884" cy="3219815"/>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Understand the fundamental concepts of supervised learning.</a:t>
            </a:r>
          </a:p>
          <a:p>
            <a:pPr>
              <a:lnSpc>
                <a:spcPct val="115000"/>
              </a:lnSpc>
              <a:spcAft>
                <a:spcPts val="1000"/>
              </a:spcAft>
            </a:pPr>
            <a:r>
              <a:rPr lang="en-US" dirty="0">
                <a:latin typeface=""/>
                <a:ea typeface="Times New Roman"/>
                <a:cs typeface="Times New Roman"/>
              </a:rPr>
              <a:t>•   Explore the different types of supervised learning algorithms and their applications.</a:t>
            </a:r>
          </a:p>
          <a:p>
            <a:pPr>
              <a:lnSpc>
                <a:spcPct val="115000"/>
              </a:lnSpc>
              <a:spcAft>
                <a:spcPts val="1000"/>
              </a:spcAft>
            </a:pPr>
            <a:r>
              <a:rPr lang="en-US" dirty="0">
                <a:latin typeface=""/>
                <a:ea typeface="Times New Roman"/>
                <a:cs typeface="Times New Roman"/>
              </a:rPr>
              <a:t>•   Differentiate between classification and regression tasks in supervised learning.</a:t>
            </a:r>
          </a:p>
          <a:p>
            <a:pPr>
              <a:lnSpc>
                <a:spcPct val="115000"/>
              </a:lnSpc>
              <a:spcAft>
                <a:spcPts val="1000"/>
              </a:spcAft>
            </a:pPr>
            <a:r>
              <a:rPr lang="en-US" dirty="0">
                <a:latin typeface=""/>
                <a:ea typeface="Times New Roman"/>
                <a:cs typeface="Times New Roman"/>
              </a:rPr>
              <a:t>•   Identify key factors for selecting appropriate supervised learning algorithms.</a:t>
            </a:r>
          </a:p>
          <a:p>
            <a:pPr>
              <a:lnSpc>
                <a:spcPct val="115000"/>
              </a:lnSpc>
              <a:spcAft>
                <a:spcPts val="1000"/>
              </a:spcAft>
            </a:pPr>
            <a:r>
              <a:rPr lang="en-US" dirty="0">
                <a:latin typeface=""/>
                <a:ea typeface="Times New Roman"/>
                <a:cs typeface="Times New Roman"/>
              </a:rPr>
              <a:t>•   Gain insights into the strengths and weaknesses of various supervised learning algorithms.</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6346314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1241631"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Supervised learning is a core concept in machine learning, a subfield of Artificial Intelligence.</a:t>
            </a:r>
          </a:p>
          <a:p>
            <a:endParaRPr lang="en-US" sz="2000" dirty="0"/>
          </a:p>
          <a:p>
            <a:r>
              <a:rPr lang="en-US" sz="2000" dirty="0"/>
              <a:t>•  Models learn from </a:t>
            </a:r>
            <a:r>
              <a:rPr lang="en-US" sz="2000" dirty="0">
                <a:solidFill>
                  <a:srgbClr val="FF0000"/>
                </a:solidFill>
              </a:rPr>
              <a:t>labeled data</a:t>
            </a:r>
            <a:r>
              <a:rPr lang="en-US" sz="2000" dirty="0"/>
              <a:t>, which includes both inputs and their corresponding target outputs.</a:t>
            </a:r>
          </a:p>
          <a:p>
            <a:endParaRPr lang="en-US" sz="2000" dirty="0"/>
          </a:p>
          <a:p>
            <a:r>
              <a:rPr lang="en-US" sz="2000" dirty="0"/>
              <a:t>•   It establishes a clear, explicit relationship between input data and the desired outcome.</a:t>
            </a:r>
          </a:p>
          <a:p>
            <a:endParaRPr lang="en-US" sz="2000" dirty="0"/>
          </a:p>
          <a:p>
            <a:r>
              <a:rPr lang="en-US" sz="2000" dirty="0"/>
              <a:t>•   The primary goal is to enable the model to make predictions or decisions on new, unseen data.</a:t>
            </a:r>
          </a:p>
          <a:p>
            <a:endParaRPr lang="en-US" sz="2000" dirty="0"/>
          </a:p>
          <a:p>
            <a:r>
              <a:rPr lang="en-US" sz="2000" dirty="0"/>
              <a:t>•   The fundamental idea is to teach the model to effectively map inputs to correct outputs.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Introduction to Supervised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4268918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1436894"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The learning process begins by providing the algorithm with a training dataset.</a:t>
            </a:r>
          </a:p>
          <a:p>
            <a:endParaRPr lang="en-US" sz="2000" dirty="0"/>
          </a:p>
          <a:p>
            <a:r>
              <a:rPr lang="en-US" sz="2000" dirty="0"/>
              <a:t>• This dataset comprises numerous input-output pairs, allowing the model to learn from examples.</a:t>
            </a:r>
          </a:p>
          <a:p>
            <a:endParaRPr lang="en-US" sz="2000" dirty="0"/>
          </a:p>
          <a:p>
            <a:r>
              <a:rPr lang="en-US" sz="2000" dirty="0"/>
              <a:t>•   The model analyzes this data to identify inherent patterns and relationships.</a:t>
            </a:r>
          </a:p>
          <a:p>
            <a:endParaRPr lang="en-US" sz="2000" dirty="0"/>
          </a:p>
          <a:p>
            <a:r>
              <a:rPr lang="en-US" sz="2000" dirty="0"/>
              <a:t>•   These learned patterns are then used to generalize and predict outcomes for new inputs.</a:t>
            </a:r>
          </a:p>
          <a:p>
            <a:endParaRPr lang="en-US" sz="2000" dirty="0"/>
          </a:p>
          <a:p>
            <a:r>
              <a:rPr lang="en-US" sz="2000" dirty="0"/>
              <a:t>•   </a:t>
            </a:r>
            <a:r>
              <a:rPr lang="en-US" sz="1600" dirty="0"/>
              <a:t>Supervised learning forms the building blocks for many advanced AI applications requiring predictive capabilities.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Core Concepts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37299566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1427369"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Classification is a supervised learning task focused on </a:t>
            </a:r>
            <a:r>
              <a:rPr lang="en-US" sz="2000" dirty="0">
                <a:solidFill>
                  <a:srgbClr val="FF0000"/>
                </a:solidFill>
              </a:rPr>
              <a:t>assigning inputs to predefined categories</a:t>
            </a:r>
            <a:r>
              <a:rPr lang="en-US" sz="2000" dirty="0"/>
              <a:t>.</a:t>
            </a:r>
          </a:p>
          <a:p>
            <a:endParaRPr lang="en-US" sz="2000" dirty="0"/>
          </a:p>
          <a:p>
            <a:r>
              <a:rPr lang="en-US" sz="2000" dirty="0"/>
              <a:t>• The output variable in classification is typically categorical (e.g., "spam" or "not spam").</a:t>
            </a:r>
          </a:p>
          <a:p>
            <a:endParaRPr lang="en-US" sz="2000" dirty="0"/>
          </a:p>
          <a:p>
            <a:r>
              <a:rPr lang="en-US" sz="2000" dirty="0"/>
              <a:t>•   The model learns to draw decision boundaries in the input space to distinguish between classes.</a:t>
            </a:r>
          </a:p>
          <a:p>
            <a:endParaRPr lang="en-US" sz="2000" dirty="0"/>
          </a:p>
          <a:p>
            <a:r>
              <a:rPr lang="en-US" sz="2000" dirty="0"/>
              <a:t>• Common examples include spam email detection, image categorization, and sentiment analysis.</a:t>
            </a:r>
          </a:p>
          <a:p>
            <a:endParaRPr lang="en-US" sz="2000" dirty="0"/>
          </a:p>
          <a:p>
            <a:r>
              <a:rPr lang="en-US" sz="2000" dirty="0"/>
              <a:t>• </a:t>
            </a:r>
            <a:r>
              <a:rPr lang="en-US" dirty="0"/>
              <a:t>Key algorithms for classification include Decision Trees, Support Vector Machines (SVM), and Neural Networks.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Classification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38123020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ACE540-C16D-6096-2E3A-357AC86299FB}"/>
              </a:ext>
            </a:extLst>
          </p:cNvPr>
          <p:cNvSpPr txBox="1"/>
          <p:nvPr/>
        </p:nvSpPr>
        <p:spPr>
          <a:xfrm>
            <a:off x="376236" y="1673602"/>
            <a:ext cx="11768139" cy="2523768"/>
          </a:xfrm>
          <a:prstGeom prst="rect">
            <a:avLst/>
          </a:prstGeom>
          <a:noFill/>
        </p:spPr>
        <p:txBody>
          <a:bodyPr wrap="square">
            <a:spAutoFit/>
          </a:bodyPr>
          <a:lstStyle/>
          <a:p>
            <a:pPr>
              <a:buNone/>
            </a:pPr>
            <a:r>
              <a:rPr lang="en-IN" b="1" dirty="0"/>
              <a:t>Binary Classification (Two Categories)</a:t>
            </a:r>
          </a:p>
          <a:p>
            <a:pPr marL="285750" indent="-285750">
              <a:spcBef>
                <a:spcPts val="1200"/>
              </a:spcBef>
              <a:buFont typeface="Wingdings" panose="05000000000000000000" pitchFamily="2" charset="2"/>
              <a:buChar char="ü"/>
            </a:pPr>
            <a:r>
              <a:rPr lang="en-IN" b="1" dirty="0"/>
              <a:t>Email Filtering:</a:t>
            </a:r>
            <a:r>
              <a:rPr lang="en-IN" dirty="0"/>
              <a:t> Deciding if an incoming email is </a:t>
            </a:r>
            <a:r>
              <a:rPr lang="en-IN" b="1" dirty="0"/>
              <a:t>Spam</a:t>
            </a:r>
            <a:r>
              <a:rPr lang="en-IN" dirty="0"/>
              <a:t> or </a:t>
            </a:r>
            <a:r>
              <a:rPr lang="en-IN" b="1" dirty="0"/>
              <a:t>Not Spam (Ham)</a:t>
            </a:r>
            <a:r>
              <a:rPr lang="en-IN" dirty="0"/>
              <a:t>.</a:t>
            </a:r>
          </a:p>
          <a:p>
            <a:pPr marL="285750" indent="-285750">
              <a:spcBef>
                <a:spcPts val="1200"/>
              </a:spcBef>
              <a:buFont typeface="Wingdings" panose="05000000000000000000" pitchFamily="2" charset="2"/>
              <a:buChar char="ü"/>
            </a:pPr>
            <a:r>
              <a:rPr lang="en-IN" b="1" dirty="0"/>
              <a:t>Medical Diagnosis:</a:t>
            </a:r>
            <a:r>
              <a:rPr lang="en-IN" dirty="0"/>
              <a:t> Testing whether a patient's </a:t>
            </a:r>
            <a:r>
              <a:rPr lang="en-IN" dirty="0" err="1"/>
              <a:t>tumor</a:t>
            </a:r>
            <a:r>
              <a:rPr lang="en-IN" dirty="0"/>
              <a:t> sample is </a:t>
            </a:r>
            <a:r>
              <a:rPr lang="en-IN" b="1" dirty="0"/>
              <a:t>Benign (Harmless)</a:t>
            </a:r>
            <a:r>
              <a:rPr lang="en-IN" dirty="0"/>
              <a:t> or </a:t>
            </a:r>
            <a:r>
              <a:rPr lang="en-IN" b="1" dirty="0"/>
              <a:t>Malignant (Cancerous)</a:t>
            </a:r>
            <a:r>
              <a:rPr lang="en-IN" dirty="0"/>
              <a:t>.</a:t>
            </a:r>
          </a:p>
          <a:p>
            <a:pPr marL="285750" indent="-285750">
              <a:spcBef>
                <a:spcPts val="1200"/>
              </a:spcBef>
              <a:buFont typeface="Wingdings" panose="05000000000000000000" pitchFamily="2" charset="2"/>
              <a:buChar char="ü"/>
            </a:pPr>
            <a:r>
              <a:rPr lang="en-IN" b="1" dirty="0"/>
              <a:t>Banking Fraud:</a:t>
            </a:r>
            <a:r>
              <a:rPr lang="en-IN" dirty="0"/>
              <a:t> </a:t>
            </a:r>
            <a:r>
              <a:rPr lang="en-IN" dirty="0" err="1"/>
              <a:t>Analyzing</a:t>
            </a:r>
            <a:r>
              <a:rPr lang="en-IN" dirty="0"/>
              <a:t> a credit card swipe to flag it as a </a:t>
            </a:r>
            <a:r>
              <a:rPr lang="en-IN" b="1" dirty="0"/>
              <a:t>Legitimate Transaction</a:t>
            </a:r>
            <a:r>
              <a:rPr lang="en-IN" dirty="0"/>
              <a:t> or a </a:t>
            </a:r>
            <a:r>
              <a:rPr lang="en-IN" b="1" dirty="0"/>
              <a:t>Fraudulent Attempt</a:t>
            </a:r>
            <a:r>
              <a:rPr lang="en-IN" dirty="0"/>
              <a:t>.</a:t>
            </a:r>
          </a:p>
          <a:p>
            <a:pPr marL="285750" indent="-285750">
              <a:spcBef>
                <a:spcPts val="1200"/>
              </a:spcBef>
              <a:buFont typeface="Wingdings" panose="05000000000000000000" pitchFamily="2" charset="2"/>
              <a:buChar char="ü"/>
            </a:pPr>
            <a:r>
              <a:rPr lang="en-IN" b="1" dirty="0"/>
              <a:t>Customer Churn:</a:t>
            </a:r>
            <a:r>
              <a:rPr lang="en-IN" dirty="0"/>
              <a:t> Monitoring user activity to predict if a subscriber will </a:t>
            </a:r>
            <a:r>
              <a:rPr lang="en-IN" b="1" dirty="0"/>
              <a:t>Renew their subscription</a:t>
            </a:r>
            <a:r>
              <a:rPr lang="en-IN" dirty="0"/>
              <a:t> or </a:t>
            </a:r>
            <a:r>
              <a:rPr lang="en-IN" b="1" dirty="0"/>
              <a:t>Cancel it</a:t>
            </a:r>
            <a:r>
              <a:rPr lang="en-IN" dirty="0"/>
              <a:t>.</a:t>
            </a:r>
          </a:p>
          <a:p>
            <a:pPr marL="285750" indent="-285750">
              <a:spcBef>
                <a:spcPts val="1200"/>
              </a:spcBef>
              <a:buFont typeface="Wingdings" panose="05000000000000000000" pitchFamily="2" charset="2"/>
              <a:buChar char="ü"/>
            </a:pPr>
            <a:r>
              <a:rPr lang="en-IN" b="1" dirty="0"/>
              <a:t>Quality Control:</a:t>
            </a:r>
            <a:r>
              <a:rPr lang="en-IN" dirty="0"/>
              <a:t> Inspecting a factory assembly line to see if a manufactured part is </a:t>
            </a:r>
            <a:r>
              <a:rPr lang="en-IN" b="1" dirty="0"/>
              <a:t>Defective</a:t>
            </a:r>
            <a:r>
              <a:rPr lang="en-IN" dirty="0"/>
              <a:t> or </a:t>
            </a:r>
            <a:r>
              <a:rPr lang="en-IN" b="1" dirty="0"/>
              <a:t>Passed</a:t>
            </a:r>
            <a:r>
              <a:rPr lang="en-IN" dirty="0"/>
              <a:t>.</a:t>
            </a:r>
          </a:p>
        </p:txBody>
      </p:sp>
    </p:spTree>
    <p:extLst>
      <p:ext uri="{BB962C8B-B14F-4D97-AF65-F5344CB8AC3E}">
        <p14:creationId xmlns:p14="http://schemas.microsoft.com/office/powerpoint/2010/main" val="272714145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7809675-8F26-9518-95E9-C6ECB1A03EE2}"/>
              </a:ext>
            </a:extLst>
          </p:cNvPr>
          <p:cNvSpPr txBox="1"/>
          <p:nvPr/>
        </p:nvSpPr>
        <p:spPr>
          <a:xfrm>
            <a:off x="-52390" y="1373563"/>
            <a:ext cx="12206290" cy="2000548"/>
          </a:xfrm>
          <a:prstGeom prst="rect">
            <a:avLst/>
          </a:prstGeom>
          <a:noFill/>
        </p:spPr>
        <p:txBody>
          <a:bodyPr wrap="square">
            <a:spAutoFit/>
          </a:bodyPr>
          <a:lstStyle/>
          <a:p>
            <a:pPr>
              <a:buNone/>
            </a:pPr>
            <a:r>
              <a:rPr lang="en-IN" b="1" dirty="0"/>
              <a:t>Multiclass Classification (Three or More Categories)</a:t>
            </a:r>
          </a:p>
          <a:p>
            <a:pPr marL="285750" indent="-285750">
              <a:spcBef>
                <a:spcPts val="1200"/>
              </a:spcBef>
              <a:buFont typeface="Wingdings" panose="05000000000000000000" pitchFamily="2" charset="2"/>
              <a:buChar char="ü"/>
            </a:pPr>
            <a:r>
              <a:rPr lang="en-IN" sz="1400" b="1" dirty="0"/>
              <a:t>E-commerce Product Tagging: Automatically routing a newly listed item into categories like Electronics, Clothing, Home Decor, or Books.</a:t>
            </a:r>
          </a:p>
          <a:p>
            <a:pPr marL="285750" indent="-285750">
              <a:spcBef>
                <a:spcPts val="1200"/>
              </a:spcBef>
              <a:buFont typeface="Wingdings" panose="05000000000000000000" pitchFamily="2" charset="2"/>
              <a:buChar char="ü"/>
            </a:pPr>
            <a:r>
              <a:rPr lang="en-IN" sz="1600" b="1" dirty="0"/>
              <a:t>Document Routing: Sorting incoming customer support tickets into Billing Issues, Technical Glitches, or Account Recovery.</a:t>
            </a:r>
          </a:p>
          <a:p>
            <a:pPr marL="285750" indent="-285750">
              <a:spcBef>
                <a:spcPts val="1200"/>
              </a:spcBef>
              <a:buFont typeface="Wingdings" panose="05000000000000000000" pitchFamily="2" charset="2"/>
              <a:buChar char="ü"/>
            </a:pPr>
            <a:r>
              <a:rPr lang="en-IN" b="1" dirty="0"/>
              <a:t>Animal Identification: Scanning a photo in a wildlife app to determine if an animal is a Cat, Dog, Fox, or Wolf.</a:t>
            </a:r>
          </a:p>
          <a:p>
            <a:pPr marL="285750" indent="-285750">
              <a:spcBef>
                <a:spcPts val="1200"/>
              </a:spcBef>
              <a:buFont typeface="Wingdings" panose="05000000000000000000" pitchFamily="2" charset="2"/>
              <a:buChar char="ü"/>
            </a:pPr>
            <a:r>
              <a:rPr lang="en-IN" b="1" dirty="0"/>
              <a:t>Movie Rating Prediction: Evaluating a script to classify a movie's maturity rating as G, PG, PG-13, or R.</a:t>
            </a:r>
          </a:p>
        </p:txBody>
      </p:sp>
    </p:spTree>
    <p:extLst>
      <p:ext uri="{BB962C8B-B14F-4D97-AF65-F5344CB8AC3E}">
        <p14:creationId xmlns:p14="http://schemas.microsoft.com/office/powerpoint/2010/main" val="51442870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AF0365-D8D5-9543-0770-65075D6CE46F}"/>
              </a:ext>
            </a:extLst>
          </p:cNvPr>
          <p:cNvSpPr txBox="1"/>
          <p:nvPr/>
        </p:nvSpPr>
        <p:spPr>
          <a:xfrm>
            <a:off x="119062" y="1335851"/>
            <a:ext cx="11720513" cy="2185214"/>
          </a:xfrm>
          <a:prstGeom prst="rect">
            <a:avLst/>
          </a:prstGeom>
          <a:noFill/>
        </p:spPr>
        <p:txBody>
          <a:bodyPr wrap="square">
            <a:spAutoFit/>
          </a:bodyPr>
          <a:lstStyle/>
          <a:p>
            <a:pPr>
              <a:buNone/>
            </a:pPr>
            <a:r>
              <a:rPr lang="en-IN" b="1" dirty="0"/>
              <a:t>Image-Based Classification (Visual Examples)</a:t>
            </a:r>
          </a:p>
          <a:p>
            <a:pPr marL="285750" indent="-285750">
              <a:spcBef>
                <a:spcPts val="1200"/>
              </a:spcBef>
              <a:buFont typeface="Wingdings" panose="05000000000000000000" pitchFamily="2" charset="2"/>
              <a:buChar char="ü"/>
            </a:pPr>
            <a:r>
              <a:rPr lang="en-IN" b="1" dirty="0"/>
              <a:t>Autonomous Driving: A self-driving car's camera identifying whether a roadside object is a Pedestrian, Bicycle, Traffic Sign, or Another Vehicle.</a:t>
            </a:r>
          </a:p>
          <a:p>
            <a:pPr marL="285750" indent="-285750">
              <a:spcBef>
                <a:spcPts val="1200"/>
              </a:spcBef>
              <a:buFont typeface="Wingdings" panose="05000000000000000000" pitchFamily="2" charset="2"/>
              <a:buChar char="ü"/>
            </a:pPr>
            <a:r>
              <a:rPr lang="en-IN" b="1" dirty="0"/>
              <a:t>Biometric Security: A smartphone camera checking a face scan to decide if it belongs to the Authorized Owner or an Unauthorized User.</a:t>
            </a:r>
          </a:p>
          <a:p>
            <a:pPr marL="285750" indent="-285750">
              <a:spcBef>
                <a:spcPts val="1200"/>
              </a:spcBef>
              <a:buFont typeface="Wingdings" panose="05000000000000000000" pitchFamily="2" charset="2"/>
              <a:buChar char="ü"/>
            </a:pPr>
            <a:r>
              <a:rPr lang="en-IN" sz="1600" b="1" dirty="0"/>
              <a:t>Agricultural Sorting: Optical sensors on a conveyor belt separating harvested fruit into Ripe, Unripe, or Rotten batches.</a:t>
            </a:r>
          </a:p>
        </p:txBody>
      </p:sp>
    </p:spTree>
    <p:extLst>
      <p:ext uri="{BB962C8B-B14F-4D97-AF65-F5344CB8AC3E}">
        <p14:creationId xmlns:p14="http://schemas.microsoft.com/office/powerpoint/2010/main" val="375084960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497932" y="788609"/>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dirty="0"/>
              <a:t>•   Regression is a supervised learning task aimed at </a:t>
            </a:r>
            <a:r>
              <a:rPr lang="en-US" dirty="0">
                <a:solidFill>
                  <a:srgbClr val="FF0000"/>
                </a:solidFill>
              </a:rPr>
              <a:t>predicting a continuous, numerical output value.</a:t>
            </a:r>
          </a:p>
          <a:p>
            <a:endParaRPr lang="en-US" sz="2000" dirty="0"/>
          </a:p>
          <a:p>
            <a:r>
              <a:rPr lang="en-US" sz="2000" dirty="0"/>
              <a:t>•   The model learns to approximate a function that maps inputs to real numbers.</a:t>
            </a:r>
          </a:p>
          <a:p>
            <a:endParaRPr lang="en-US" sz="2000" dirty="0"/>
          </a:p>
          <a:p>
            <a:r>
              <a:rPr lang="en-US" sz="1600" dirty="0"/>
              <a:t>•   Objective is to find the best-fitting curve or hyperplane that minimizes error between predicted and actual values.</a:t>
            </a:r>
          </a:p>
          <a:p>
            <a:endParaRPr lang="en-US" sz="2000" dirty="0"/>
          </a:p>
          <a:p>
            <a:r>
              <a:rPr lang="en-US" sz="1600" dirty="0"/>
              <a:t>•   Common examples include predicting house prices, forecasting stock values, and estimating age from data.</a:t>
            </a:r>
          </a:p>
          <a:p>
            <a:endParaRPr lang="en-US" sz="2000" dirty="0"/>
          </a:p>
          <a:p>
            <a:r>
              <a:rPr lang="en-US" dirty="0"/>
              <a:t>• Key algorithms for regression include </a:t>
            </a:r>
          </a:p>
          <a:p>
            <a:pPr marL="800100" lvl="1" indent="-342900">
              <a:buFont typeface="Arial" panose="020B0604020202020204" pitchFamily="34" charset="0"/>
              <a:buChar char="•"/>
            </a:pPr>
            <a:r>
              <a:rPr lang="en-US" dirty="0">
                <a:solidFill>
                  <a:srgbClr val="FF0000"/>
                </a:solidFill>
              </a:rPr>
              <a:t>	Linear Regression, </a:t>
            </a:r>
          </a:p>
          <a:p>
            <a:pPr marL="800100" lvl="1" indent="-342900">
              <a:buFont typeface="Arial" panose="020B0604020202020204" pitchFamily="34" charset="0"/>
              <a:buChar char="•"/>
            </a:pPr>
            <a:r>
              <a:rPr lang="en-US" dirty="0">
                <a:solidFill>
                  <a:srgbClr val="FF0000"/>
                </a:solidFill>
              </a:rPr>
              <a:t>	Random Forest Regression, and </a:t>
            </a:r>
          </a:p>
          <a:p>
            <a:pPr marL="800100" lvl="1" indent="-342900">
              <a:buFont typeface="Arial" panose="020B0604020202020204" pitchFamily="34" charset="0"/>
              <a:buChar char="•"/>
            </a:pPr>
            <a:r>
              <a:rPr lang="en-US" dirty="0">
                <a:solidFill>
                  <a:srgbClr val="FF0000"/>
                </a:solidFill>
              </a:rPr>
              <a:t>	Gradient Boosting Regression.</a:t>
            </a:r>
          </a:p>
        </p:txBody>
      </p:sp>
      <p:sp>
        <p:nvSpPr>
          <p:cNvPr id="5" name="Google Shape;110;p5"/>
          <p:cNvSpPr txBox="1">
            <a:spLocks/>
          </p:cNvSpPr>
          <p:nvPr/>
        </p:nvSpPr>
        <p:spPr>
          <a:xfrm>
            <a:off x="295830" y="319088"/>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sym typeface="Avenir"/>
              </a:rPr>
              <a:t>Regression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27025277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272B25-E459-D93E-E94A-29282513B18C}"/>
              </a:ext>
            </a:extLst>
          </p:cNvPr>
          <p:cNvSpPr txBox="1"/>
          <p:nvPr/>
        </p:nvSpPr>
        <p:spPr>
          <a:xfrm>
            <a:off x="142875" y="1597015"/>
            <a:ext cx="11415713" cy="2923877"/>
          </a:xfrm>
          <a:prstGeom prst="rect">
            <a:avLst/>
          </a:prstGeom>
          <a:noFill/>
        </p:spPr>
        <p:txBody>
          <a:bodyPr wrap="square">
            <a:spAutoFit/>
          </a:bodyPr>
          <a:lstStyle/>
          <a:p>
            <a:pPr>
              <a:buNone/>
            </a:pPr>
            <a:r>
              <a:rPr lang="en-IN" b="1" dirty="0"/>
              <a:t>Financial &amp; Business Forecasting</a:t>
            </a:r>
          </a:p>
          <a:p>
            <a:pPr marL="285750" indent="-285750">
              <a:spcBef>
                <a:spcPts val="1200"/>
              </a:spcBef>
              <a:buFont typeface="Wingdings" panose="05000000000000000000" pitchFamily="2" charset="2"/>
              <a:buChar char="ü"/>
            </a:pPr>
            <a:r>
              <a:rPr lang="en-IN" b="1" dirty="0"/>
              <a:t>Real Estate Pricing: Predicting the market price of a house based on its square footage, number of bedrooms, and neighbourhood.</a:t>
            </a:r>
          </a:p>
          <a:p>
            <a:pPr marL="285750" indent="-285750">
              <a:spcBef>
                <a:spcPts val="1200"/>
              </a:spcBef>
              <a:buFont typeface="Wingdings" panose="05000000000000000000" pitchFamily="2" charset="2"/>
              <a:buChar char="ü"/>
            </a:pPr>
            <a:r>
              <a:rPr lang="en-IN" b="1" dirty="0"/>
              <a:t>Retail Sales Projections: Forecasting the total revenue in rupees a store will make next month based on its advertising budget and historical seasonal trends.</a:t>
            </a:r>
          </a:p>
          <a:p>
            <a:pPr marL="285750" indent="-285750">
              <a:spcBef>
                <a:spcPts val="1200"/>
              </a:spcBef>
              <a:buFont typeface="Wingdings" panose="05000000000000000000" pitchFamily="2" charset="2"/>
              <a:buChar char="ü"/>
            </a:pPr>
            <a:r>
              <a:rPr lang="en-IN" b="1" dirty="0"/>
              <a:t>Stock Market Trends: Estimating the future price of a company's stock based on quarterly earnings, market volume, and economic indicators.</a:t>
            </a:r>
          </a:p>
          <a:p>
            <a:pPr marL="285750" indent="-285750">
              <a:spcBef>
                <a:spcPts val="1200"/>
              </a:spcBef>
              <a:buFont typeface="Wingdings" panose="05000000000000000000" pitchFamily="2" charset="2"/>
              <a:buChar char="ü"/>
            </a:pPr>
            <a:r>
              <a:rPr lang="en-IN" b="1" dirty="0"/>
              <a:t>Used Car Valuation: Determining the resale value of a car based on its age, mileage, and service history.</a:t>
            </a:r>
          </a:p>
        </p:txBody>
      </p:sp>
    </p:spTree>
    <p:extLst>
      <p:ext uri="{BB962C8B-B14F-4D97-AF65-F5344CB8AC3E}">
        <p14:creationId xmlns:p14="http://schemas.microsoft.com/office/powerpoint/2010/main" val="251378855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620823-0116-A207-297C-97D6A9DAD92F}"/>
              </a:ext>
            </a:extLst>
          </p:cNvPr>
          <p:cNvSpPr txBox="1"/>
          <p:nvPr/>
        </p:nvSpPr>
        <p:spPr>
          <a:xfrm>
            <a:off x="333375" y="1549777"/>
            <a:ext cx="11263312" cy="2492990"/>
          </a:xfrm>
          <a:prstGeom prst="rect">
            <a:avLst/>
          </a:prstGeom>
          <a:noFill/>
        </p:spPr>
        <p:txBody>
          <a:bodyPr wrap="square">
            <a:spAutoFit/>
          </a:bodyPr>
          <a:lstStyle/>
          <a:p>
            <a:pPr>
              <a:buNone/>
            </a:pPr>
            <a:r>
              <a:rPr lang="en-IN" b="1" dirty="0"/>
              <a:t>Meteorology &amp; Scientific Predictions</a:t>
            </a:r>
          </a:p>
          <a:p>
            <a:pPr marL="285750" indent="-285750">
              <a:spcBef>
                <a:spcPts val="1200"/>
              </a:spcBef>
              <a:buFont typeface="Wingdings" panose="05000000000000000000" pitchFamily="2" charset="2"/>
              <a:buChar char="ü"/>
            </a:pPr>
            <a:r>
              <a:rPr lang="en-IN" b="1" dirty="0"/>
              <a:t>Weather Forecasting: Predicting tomorrow's exact temperature in Celsius or the expected amount of rainfall in </a:t>
            </a:r>
            <a:r>
              <a:rPr lang="en-IN" b="1" dirty="0" err="1"/>
              <a:t>millimeters</a:t>
            </a:r>
            <a:r>
              <a:rPr lang="en-IN" b="1" dirty="0"/>
              <a:t> based on current humidity, wind speed, and atmospheric pressure.</a:t>
            </a:r>
          </a:p>
          <a:p>
            <a:pPr marL="285750" indent="-285750">
              <a:spcBef>
                <a:spcPts val="1200"/>
              </a:spcBef>
              <a:buFont typeface="Wingdings" panose="05000000000000000000" pitchFamily="2" charset="2"/>
              <a:buChar char="ü"/>
            </a:pPr>
            <a:r>
              <a:rPr lang="en-IN" b="1" dirty="0"/>
              <a:t>Crop Yield Estimation: Predicting the total weight of a harvest (in tons) based on the amount of fertilizer used, rainfall levels, and soil quality.</a:t>
            </a:r>
          </a:p>
          <a:p>
            <a:pPr marL="285750" indent="-285750">
              <a:spcBef>
                <a:spcPts val="1200"/>
              </a:spcBef>
              <a:buFont typeface="Wingdings" panose="05000000000000000000" pitchFamily="2" charset="2"/>
              <a:buChar char="ü"/>
            </a:pPr>
            <a:r>
              <a:rPr lang="en-IN" b="1" dirty="0"/>
              <a:t>Resource Consumption: Estimating a city's daily electricity or water consumption (in megawatts or </a:t>
            </a:r>
            <a:r>
              <a:rPr lang="en-IN" b="1" dirty="0" err="1"/>
              <a:t>liters</a:t>
            </a:r>
            <a:r>
              <a:rPr lang="en-IN" b="1" dirty="0"/>
              <a:t>) based on the daily temperature forecast.</a:t>
            </a:r>
          </a:p>
        </p:txBody>
      </p:sp>
    </p:spTree>
    <p:extLst>
      <p:ext uri="{BB962C8B-B14F-4D97-AF65-F5344CB8AC3E}">
        <p14:creationId xmlns:p14="http://schemas.microsoft.com/office/powerpoint/2010/main" val="394881695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35B347-CDBB-BB6C-C17E-7BE980AB5BDD}"/>
              </a:ext>
            </a:extLst>
          </p:cNvPr>
          <p:cNvSpPr txBox="1"/>
          <p:nvPr/>
        </p:nvSpPr>
        <p:spPr>
          <a:xfrm>
            <a:off x="204788" y="1688276"/>
            <a:ext cx="11782424" cy="2492990"/>
          </a:xfrm>
          <a:prstGeom prst="rect">
            <a:avLst/>
          </a:prstGeom>
          <a:noFill/>
        </p:spPr>
        <p:txBody>
          <a:bodyPr wrap="square">
            <a:spAutoFit/>
          </a:bodyPr>
          <a:lstStyle/>
          <a:p>
            <a:pPr>
              <a:buNone/>
            </a:pPr>
            <a:r>
              <a:rPr lang="en-IN" b="1" dirty="0"/>
              <a:t>Health, Fitness &amp; Human Metrics</a:t>
            </a:r>
          </a:p>
          <a:p>
            <a:pPr marL="285750" indent="-285750">
              <a:spcBef>
                <a:spcPts val="1200"/>
              </a:spcBef>
              <a:buFont typeface="Wingdings" panose="05000000000000000000" pitchFamily="2" charset="2"/>
              <a:buChar char="ü"/>
            </a:pPr>
            <a:r>
              <a:rPr lang="en-IN" b="1" dirty="0"/>
              <a:t>Calorie Expenditure: Calculating the exact number of calories burned during a workout based on a person's heart rate, weight, and exercise duration.</a:t>
            </a:r>
          </a:p>
          <a:p>
            <a:pPr marL="285750" indent="-285750">
              <a:spcBef>
                <a:spcPts val="1200"/>
              </a:spcBef>
              <a:buFont typeface="Wingdings" panose="05000000000000000000" pitchFamily="2" charset="2"/>
              <a:buChar char="ü"/>
            </a:pPr>
            <a:r>
              <a:rPr lang="en-IN" b="1" dirty="0"/>
              <a:t>Biometric Estimation: Predicting a person's ideal body fat percentage based on waist circumference and height measurements.</a:t>
            </a:r>
          </a:p>
          <a:p>
            <a:pPr marL="285750" indent="-285750">
              <a:spcBef>
                <a:spcPts val="1200"/>
              </a:spcBef>
              <a:buFont typeface="Wingdings" panose="05000000000000000000" pitchFamily="2" charset="2"/>
              <a:buChar char="ü"/>
            </a:pPr>
            <a:r>
              <a:rPr lang="en-IN" b="1" dirty="0"/>
              <a:t>Lifespan/Longevity Analysis: Estimating a patient's remaining life expectancy (in years) based on lifestyle habits, genetic markers, and clinical health data.</a:t>
            </a:r>
          </a:p>
        </p:txBody>
      </p:sp>
    </p:spTree>
    <p:extLst>
      <p:ext uri="{BB962C8B-B14F-4D97-AF65-F5344CB8AC3E}">
        <p14:creationId xmlns:p14="http://schemas.microsoft.com/office/powerpoint/2010/main" val="48325451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BDD4C5-F16B-7037-8CC8-70B5CF5FA898}"/>
              </a:ext>
            </a:extLst>
          </p:cNvPr>
          <p:cNvSpPr txBox="1"/>
          <p:nvPr/>
        </p:nvSpPr>
        <p:spPr>
          <a:xfrm>
            <a:off x="223837" y="1720840"/>
            <a:ext cx="10663237" cy="2492990"/>
          </a:xfrm>
          <a:prstGeom prst="rect">
            <a:avLst/>
          </a:prstGeom>
          <a:noFill/>
        </p:spPr>
        <p:txBody>
          <a:bodyPr wrap="square">
            <a:spAutoFit/>
          </a:bodyPr>
          <a:lstStyle/>
          <a:p>
            <a:pPr>
              <a:buNone/>
            </a:pPr>
            <a:r>
              <a:rPr lang="en-IN" b="1" dirty="0"/>
              <a:t>Operations &amp; Logistics</a:t>
            </a:r>
          </a:p>
          <a:p>
            <a:pPr marL="285750" indent="-285750">
              <a:spcBef>
                <a:spcPts val="1200"/>
              </a:spcBef>
              <a:buFont typeface="Wingdings" panose="05000000000000000000" pitchFamily="2" charset="2"/>
              <a:buChar char="ü"/>
            </a:pPr>
            <a:r>
              <a:rPr lang="en-IN" b="1" dirty="0"/>
              <a:t>Delivery Time Estimation: Calculating the exact delivery time in minutes for an e-commerce order (like food or a package) based on distance, traffic conditions, and courier availability.</a:t>
            </a:r>
          </a:p>
          <a:p>
            <a:pPr marL="285750" indent="-285750">
              <a:spcBef>
                <a:spcPts val="1200"/>
              </a:spcBef>
              <a:buFont typeface="Wingdings" panose="05000000000000000000" pitchFamily="2" charset="2"/>
              <a:buChar char="ü"/>
            </a:pPr>
            <a:r>
              <a:rPr lang="en-IN" b="1" dirty="0"/>
              <a:t>Machine Lifespan (Predictive Maintenance): Forecasting the number of operational hours left for a factory machine before it breaks down, based on its vibration and temperature logs.</a:t>
            </a:r>
          </a:p>
          <a:p>
            <a:pPr marL="285750" indent="-285750">
              <a:spcBef>
                <a:spcPts val="1200"/>
              </a:spcBef>
              <a:buFont typeface="Wingdings" panose="05000000000000000000" pitchFamily="2" charset="2"/>
              <a:buChar char="ü"/>
            </a:pPr>
            <a:r>
              <a:rPr lang="en-IN" b="1" dirty="0"/>
              <a:t>Commute Times: Estimating how many minutes it will take to drive to work based on the time of day you leave and real-world traffic data.</a:t>
            </a:r>
          </a:p>
        </p:txBody>
      </p:sp>
    </p:spTree>
    <p:extLst>
      <p:ext uri="{BB962C8B-B14F-4D97-AF65-F5344CB8AC3E}">
        <p14:creationId xmlns:p14="http://schemas.microsoft.com/office/powerpoint/2010/main" val="385557762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BC4EB1-39C9-34AC-FF24-AFA275854F92}"/>
              </a:ext>
            </a:extLst>
          </p:cNvPr>
          <p:cNvSpPr txBox="1"/>
          <p:nvPr/>
        </p:nvSpPr>
        <p:spPr>
          <a:xfrm>
            <a:off x="638175" y="2690336"/>
            <a:ext cx="11510963" cy="1231106"/>
          </a:xfrm>
          <a:prstGeom prst="rect">
            <a:avLst/>
          </a:prstGeom>
          <a:noFill/>
        </p:spPr>
        <p:txBody>
          <a:bodyPr wrap="square">
            <a:spAutoFit/>
          </a:bodyPr>
          <a:lstStyle/>
          <a:p>
            <a:pPr>
              <a:buNone/>
            </a:pPr>
            <a:r>
              <a:rPr lang="en-IN" b="1" dirty="0"/>
              <a:t>Quick Contrast To Keep in Mind:</a:t>
            </a:r>
          </a:p>
          <a:p>
            <a:pPr marL="285750" indent="-285750">
              <a:spcBef>
                <a:spcPts val="1200"/>
              </a:spcBef>
              <a:buFont typeface="Wingdings" panose="05000000000000000000" pitchFamily="2" charset="2"/>
              <a:buChar char="ü"/>
            </a:pPr>
            <a:r>
              <a:rPr lang="en-IN" b="1" dirty="0"/>
              <a:t>Classification asks: "Is this transaction fraud or not?" (A choice between categories)</a:t>
            </a:r>
          </a:p>
          <a:p>
            <a:pPr marL="285750" indent="-285750">
              <a:spcBef>
                <a:spcPts val="1200"/>
              </a:spcBef>
              <a:buFont typeface="Wingdings" panose="05000000000000000000" pitchFamily="2" charset="2"/>
              <a:buChar char="ü"/>
            </a:pPr>
            <a:r>
              <a:rPr lang="en-IN" b="1" dirty="0"/>
              <a:t>Regression asks: "How much money will be stolen in this transaction?" (A specific numeric value)</a:t>
            </a:r>
          </a:p>
        </p:txBody>
      </p:sp>
    </p:spTree>
    <p:extLst>
      <p:ext uri="{BB962C8B-B14F-4D97-AF65-F5344CB8AC3E}">
        <p14:creationId xmlns:p14="http://schemas.microsoft.com/office/powerpoint/2010/main" val="109088649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Linear Regression: A foundational regression algorithm assuming a linear relationship between input features and the target. It seeks to find a straight line that best minimizes the sum of squared errors.</a:t>
            </a:r>
          </a:p>
          <a:p>
            <a:endParaRPr lang="en-US" sz="2000" dirty="0"/>
          </a:p>
          <a:p>
            <a:r>
              <a:rPr lang="en-US" sz="2000" dirty="0"/>
              <a:t>• Decision Trees: Versatile algorithms used for both classification and regression. They recursively split data based on significant features, forming a tree-like structure.</a:t>
            </a:r>
          </a:p>
          <a:p>
            <a:endParaRPr lang="en-US" sz="2000" dirty="0"/>
          </a:p>
          <a:p>
            <a:r>
              <a:rPr lang="en-US" sz="2000" dirty="0"/>
              <a:t>•   Decision Trees are highly interpretable, making their decision-making process easy to understand.</a:t>
            </a:r>
          </a:p>
          <a:p>
            <a:endParaRPr lang="en-US" sz="2000" dirty="0"/>
          </a:p>
          <a:p>
            <a:r>
              <a:rPr lang="en-US" sz="2000" dirty="0"/>
              <a:t>•   They can efficiently handle both numerical and categorical data types.</a:t>
            </a:r>
          </a:p>
          <a:p>
            <a:endParaRPr lang="en-US" sz="2000" dirty="0"/>
          </a:p>
          <a:p>
            <a:r>
              <a:rPr lang="en-US" sz="2000" dirty="0"/>
              <a:t>•   These algorithms provide fundamental approaches to predictive modeling.</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sym typeface="Avenir"/>
              </a:rPr>
              <a:t>Key Algorithms: Part 1</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4803853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9C3DD3-5029-DBF7-624E-D75D1E169A88}"/>
              </a:ext>
            </a:extLst>
          </p:cNvPr>
          <p:cNvSpPr txBox="1"/>
          <p:nvPr/>
        </p:nvSpPr>
        <p:spPr>
          <a:xfrm>
            <a:off x="366712" y="1793051"/>
            <a:ext cx="10501313" cy="2492990"/>
          </a:xfrm>
          <a:prstGeom prst="rect">
            <a:avLst/>
          </a:prstGeom>
          <a:noFill/>
        </p:spPr>
        <p:txBody>
          <a:bodyPr wrap="square">
            <a:spAutoFit/>
          </a:bodyPr>
          <a:lstStyle/>
          <a:p>
            <a:pPr>
              <a:buNone/>
            </a:pPr>
            <a:r>
              <a:rPr lang="en-IN" b="1" dirty="0"/>
              <a:t>Examples for Linear Regression</a:t>
            </a:r>
          </a:p>
          <a:p>
            <a:pPr marL="285750" indent="-285750">
              <a:spcBef>
                <a:spcPts val="1200"/>
              </a:spcBef>
              <a:buFont typeface="Wingdings" panose="05000000000000000000" pitchFamily="2" charset="2"/>
              <a:buChar char="ü"/>
            </a:pPr>
            <a:r>
              <a:rPr lang="en-IN" b="1" dirty="0"/>
              <a:t>Real Estate Valuation: Predicting the market price of a house (target) based on its square footage (input feature), assuming that price increases linearly with size.</a:t>
            </a:r>
          </a:p>
          <a:p>
            <a:pPr marL="285750" indent="-285750">
              <a:spcBef>
                <a:spcPts val="1200"/>
              </a:spcBef>
              <a:buFont typeface="Wingdings" panose="05000000000000000000" pitchFamily="2" charset="2"/>
              <a:buChar char="ü"/>
            </a:pPr>
            <a:r>
              <a:rPr lang="en-IN" b="1" dirty="0"/>
              <a:t>E-commerce Sales Forecasting: Estimating next month's total revenue (target) based on the historical monthly advertising budget (input feature).</a:t>
            </a:r>
          </a:p>
          <a:p>
            <a:pPr marL="285750" indent="-285750">
              <a:spcBef>
                <a:spcPts val="1200"/>
              </a:spcBef>
              <a:buFont typeface="Wingdings" panose="05000000000000000000" pitchFamily="2" charset="2"/>
              <a:buChar char="ü"/>
            </a:pPr>
            <a:r>
              <a:rPr lang="en-IN" b="1" dirty="0"/>
              <a:t>Hardware Benchmarking: Predicting execution time or CPU utilization (target) based on the size of the input data array or the number of processing threads (input features).</a:t>
            </a:r>
          </a:p>
        </p:txBody>
      </p:sp>
    </p:spTree>
    <p:extLst>
      <p:ext uri="{BB962C8B-B14F-4D97-AF65-F5344CB8AC3E}">
        <p14:creationId xmlns:p14="http://schemas.microsoft.com/office/powerpoint/2010/main" val="291389739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DB9AE8-C17B-301E-9272-BE571CB36D3A}"/>
              </a:ext>
            </a:extLst>
          </p:cNvPr>
          <p:cNvSpPr txBox="1"/>
          <p:nvPr/>
        </p:nvSpPr>
        <p:spPr>
          <a:xfrm>
            <a:off x="228600" y="1582341"/>
            <a:ext cx="11387138" cy="3323987"/>
          </a:xfrm>
          <a:prstGeom prst="rect">
            <a:avLst/>
          </a:prstGeom>
          <a:noFill/>
        </p:spPr>
        <p:txBody>
          <a:bodyPr wrap="square">
            <a:spAutoFit/>
          </a:bodyPr>
          <a:lstStyle/>
          <a:p>
            <a:pPr>
              <a:buNone/>
            </a:pPr>
            <a:r>
              <a:rPr lang="en-IN" b="1" dirty="0"/>
              <a:t>Examples for Decision Trees</a:t>
            </a:r>
          </a:p>
          <a:p>
            <a:pPr marL="285750" indent="-285750">
              <a:spcBef>
                <a:spcPts val="1200"/>
              </a:spcBef>
              <a:buFont typeface="Wingdings" panose="05000000000000000000" pitchFamily="2" charset="2"/>
              <a:buChar char="ü"/>
            </a:pPr>
            <a:r>
              <a:rPr lang="en-IN" b="1" dirty="0"/>
              <a:t>Loan Eligibility (Classification): A bank's model passing a customer's profile down a tree structure—checking features like Credit Score &gt; 700?, Income &gt; ₹50,000?, and Existing Debt?—to reach a final leaf node: Approve or Reject.</a:t>
            </a:r>
          </a:p>
          <a:p>
            <a:pPr marL="285750" indent="-285750">
              <a:spcBef>
                <a:spcPts val="1200"/>
              </a:spcBef>
              <a:buFont typeface="Wingdings" panose="05000000000000000000" pitchFamily="2" charset="2"/>
              <a:buChar char="ü"/>
            </a:pPr>
            <a:r>
              <a:rPr lang="en-IN" b="1" dirty="0"/>
              <a:t>Patient Triage (Classification): An emergency room system routing patients based on a flowchart of symptoms (e.g., Fever &gt; 101°F?, Oxygen Level &lt; 95%?) to classify them into High, Medium, or Low risk categories.</a:t>
            </a:r>
          </a:p>
          <a:p>
            <a:pPr marL="285750" indent="-285750">
              <a:spcBef>
                <a:spcPts val="1200"/>
              </a:spcBef>
              <a:buFont typeface="Wingdings" panose="05000000000000000000" pitchFamily="2" charset="2"/>
              <a:buChar char="ü"/>
            </a:pPr>
            <a:r>
              <a:rPr lang="en-IN" b="1" dirty="0"/>
              <a:t>Equipment Maintenance (Regression): Predicting the exact number of operational hours remaining for a factory machine before it requires servicing, by splitting data based on current vibration frequency and temperature levels.</a:t>
            </a:r>
          </a:p>
        </p:txBody>
      </p:sp>
    </p:spTree>
    <p:extLst>
      <p:ext uri="{BB962C8B-B14F-4D97-AF65-F5344CB8AC3E}">
        <p14:creationId xmlns:p14="http://schemas.microsoft.com/office/powerpoint/2010/main" val="310830898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6B1A91-AEE7-F607-36F9-3D6F884F8B6D}"/>
              </a:ext>
            </a:extLst>
          </p:cNvPr>
          <p:cNvSpPr txBox="1"/>
          <p:nvPr/>
        </p:nvSpPr>
        <p:spPr>
          <a:xfrm>
            <a:off x="552450" y="1997839"/>
            <a:ext cx="10815638" cy="2339102"/>
          </a:xfrm>
          <a:prstGeom prst="rect">
            <a:avLst/>
          </a:prstGeom>
          <a:noFill/>
        </p:spPr>
        <p:txBody>
          <a:bodyPr wrap="square">
            <a:spAutoFit/>
          </a:bodyPr>
          <a:lstStyle/>
          <a:p>
            <a:pPr>
              <a:buNone/>
            </a:pPr>
            <a:r>
              <a:rPr lang="en-IN" b="1" dirty="0"/>
              <a:t>Examples for Data Type Handling &amp; Interpretability</a:t>
            </a:r>
          </a:p>
          <a:p>
            <a:pPr marL="285750" indent="-285750">
              <a:spcBef>
                <a:spcPts val="1200"/>
              </a:spcBef>
              <a:buFont typeface="Wingdings" panose="05000000000000000000" pitchFamily="2" charset="2"/>
              <a:buChar char="ü"/>
            </a:pPr>
            <a:r>
              <a:rPr lang="en-IN" b="1" dirty="0"/>
              <a:t>Mixed Data Types: A customer churn model seamlessly processing a mix of numerical data (e.g., account balance, monthly usage minutes) and categorical data (e.g., subscription tier: Premium/Basic, city location) without requiring extensive pre-processing or scaling.</a:t>
            </a:r>
          </a:p>
          <a:p>
            <a:pPr marL="285750" indent="-285750">
              <a:spcBef>
                <a:spcPts val="1200"/>
              </a:spcBef>
              <a:buFont typeface="Wingdings" panose="05000000000000000000" pitchFamily="2" charset="2"/>
              <a:buChar char="ü"/>
            </a:pPr>
            <a:r>
              <a:rPr lang="en-IN" b="1" dirty="0"/>
              <a:t>Audit and Compliance: A credit scoring system using a Decision Tree because an auditor or regulator can trace the exact visual path (the "tree structure") to see precisely why an applicant was denied a credit card.</a:t>
            </a:r>
          </a:p>
        </p:txBody>
      </p:sp>
    </p:spTree>
    <p:extLst>
      <p:ext uri="{BB962C8B-B14F-4D97-AF65-F5344CB8AC3E}">
        <p14:creationId xmlns:p14="http://schemas.microsoft.com/office/powerpoint/2010/main" val="273028271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1279731"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Support Vector Machines (SVM): Primarily a classification algorithm that identifies an optimal hyperplane to separate data into distinct classes.</a:t>
            </a:r>
          </a:p>
          <a:p>
            <a:endParaRPr lang="en-US" sz="2000" dirty="0"/>
          </a:p>
          <a:p>
            <a:r>
              <a:rPr lang="en-US" sz="2000" dirty="0"/>
              <a:t>•   SVMs are effective for both linearly and non-linearly separable data through the use of various kernel functions.</a:t>
            </a:r>
          </a:p>
          <a:p>
            <a:endParaRPr lang="en-US" sz="2000" dirty="0"/>
          </a:p>
          <a:p>
            <a:r>
              <a:rPr lang="en-US" sz="2000" dirty="0"/>
              <a:t>• Neural Networks: Consist of layers of interconnected neurons, capable of approximating complex non-linear relationships.</a:t>
            </a:r>
          </a:p>
          <a:p>
            <a:endParaRPr lang="en-US" sz="2000" dirty="0"/>
          </a:p>
          <a:p>
            <a:r>
              <a:rPr lang="en-US" sz="2000" dirty="0"/>
              <a:t>•   Deep learning, a subset of neural networks, has driven significant advancements in fields like image recognition and natural language processing.</a:t>
            </a:r>
          </a:p>
          <a:p>
            <a:endParaRPr lang="en-US" sz="2000" dirty="0"/>
          </a:p>
          <a:p>
            <a:r>
              <a:rPr lang="en-US" sz="2000" dirty="0"/>
              <a:t>•   While powerful, neural networks often require substantial computational resources for training.</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Key Algorithms: Part 2</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427109763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A4A008-1679-6C13-9C58-B66CFD4A2F71}"/>
              </a:ext>
            </a:extLst>
          </p:cNvPr>
          <p:cNvSpPr txBox="1"/>
          <p:nvPr/>
        </p:nvSpPr>
        <p:spPr>
          <a:xfrm>
            <a:off x="76199" y="889844"/>
            <a:ext cx="11072813" cy="3600986"/>
          </a:xfrm>
          <a:prstGeom prst="rect">
            <a:avLst/>
          </a:prstGeom>
          <a:noFill/>
        </p:spPr>
        <p:txBody>
          <a:bodyPr wrap="square">
            <a:spAutoFit/>
          </a:bodyPr>
          <a:lstStyle/>
          <a:p>
            <a:pPr>
              <a:buNone/>
            </a:pPr>
            <a:r>
              <a:rPr lang="en-IN" b="1" dirty="0"/>
              <a:t>Examples for Support Vector Machines (SVM)</a:t>
            </a:r>
          </a:p>
          <a:p>
            <a:pPr marL="285750" indent="-285750">
              <a:spcBef>
                <a:spcPts val="1200"/>
              </a:spcBef>
              <a:buFont typeface="Wingdings" panose="05000000000000000000" pitchFamily="2" charset="2"/>
              <a:buChar char="ü"/>
            </a:pPr>
            <a:r>
              <a:rPr lang="en-IN" b="1" dirty="0"/>
              <a:t>Bioinformatics (Cancer Classification): Classifying patients into healthy or high-risk categories based on thousands of gene expression levels. An SVM finds the optimal boundary (hyperplane) to cleanly separate the two groups in a high-dimensional space.</a:t>
            </a:r>
          </a:p>
          <a:p>
            <a:pPr marL="285750" indent="-285750">
              <a:spcBef>
                <a:spcPts val="1200"/>
              </a:spcBef>
              <a:buFont typeface="Wingdings" panose="05000000000000000000" pitchFamily="2" charset="2"/>
              <a:buChar char="ü"/>
            </a:pPr>
            <a:r>
              <a:rPr lang="en-IN" b="1" dirty="0"/>
              <a:t>Handwritten Digit Recognition: Postal services using scanning software to read handwritten ZIP codes on envelopes. The algorithm maps pixel intensities into a feature space to distinguish between the numbers 0 through 9.</a:t>
            </a:r>
          </a:p>
          <a:p>
            <a:pPr marL="285750" indent="-285750">
              <a:spcBef>
                <a:spcPts val="1200"/>
              </a:spcBef>
              <a:buFont typeface="Wingdings" panose="05000000000000000000" pitchFamily="2" charset="2"/>
              <a:buChar char="ü"/>
            </a:pPr>
            <a:r>
              <a:rPr lang="en-IN" b="1" dirty="0"/>
              <a:t>Face Detection (The Kernel Trick): Camera apps detecting faces in a frame. Because real-world lighting, shadows, and facial orientations are non-linearly separable (you cannot separate faces from background objects with a simple straight line), SVM uses a kernel function to project the pixel data into a higher dimension where a clean boundary can be drawn.</a:t>
            </a:r>
          </a:p>
        </p:txBody>
      </p:sp>
    </p:spTree>
    <p:extLst>
      <p:ext uri="{BB962C8B-B14F-4D97-AF65-F5344CB8AC3E}">
        <p14:creationId xmlns:p14="http://schemas.microsoft.com/office/powerpoint/2010/main" val="412644675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486BE7-0083-9ABF-AA31-B619419E9E2E}"/>
              </a:ext>
            </a:extLst>
          </p:cNvPr>
          <p:cNvSpPr txBox="1"/>
          <p:nvPr/>
        </p:nvSpPr>
        <p:spPr>
          <a:xfrm>
            <a:off x="138113" y="1070431"/>
            <a:ext cx="11506200" cy="3877985"/>
          </a:xfrm>
          <a:prstGeom prst="rect">
            <a:avLst/>
          </a:prstGeom>
          <a:noFill/>
        </p:spPr>
        <p:txBody>
          <a:bodyPr wrap="square">
            <a:spAutoFit/>
          </a:bodyPr>
          <a:lstStyle/>
          <a:p>
            <a:pPr>
              <a:buNone/>
            </a:pPr>
            <a:r>
              <a:rPr lang="en-IN" b="1" dirty="0"/>
              <a:t>Examples for Neural Networks &amp; Deep Learning</a:t>
            </a:r>
          </a:p>
          <a:p>
            <a:pPr marL="285750" indent="-285750">
              <a:spcBef>
                <a:spcPts val="1200"/>
              </a:spcBef>
              <a:buFont typeface="Wingdings" panose="05000000000000000000" pitchFamily="2" charset="2"/>
              <a:buChar char="ü"/>
            </a:pPr>
            <a:r>
              <a:rPr lang="en-IN" b="1" dirty="0"/>
              <a:t>Autonomous Vehicles (Image Recognition): Self-driving cars using deep convolutional neural networks (CNNs) to process real-time video feeds. The layers of interconnected neurons automatically extract complex features—moving from simple edges in the early layers to recognizing pedestrians, cyclists, and traffic lights in the deeper layers.</a:t>
            </a:r>
          </a:p>
          <a:p>
            <a:pPr marL="285750" indent="-285750">
              <a:spcBef>
                <a:spcPts val="1200"/>
              </a:spcBef>
              <a:buFont typeface="Wingdings" panose="05000000000000000000" pitchFamily="2" charset="2"/>
              <a:buChar char="ü"/>
            </a:pPr>
            <a:r>
              <a:rPr lang="en-IN" b="1" dirty="0"/>
              <a:t>Large Language Models (Natural Language Processing): Virtual assistants and chatbots processing and generating human-like text. Deep neural networks learn the intricate, non-linear contextual relationships between words to translate languages, summarize documents, or write code.</a:t>
            </a:r>
          </a:p>
          <a:p>
            <a:pPr marL="285750" indent="-285750">
              <a:spcBef>
                <a:spcPts val="1200"/>
              </a:spcBef>
              <a:buFont typeface="Wingdings" panose="05000000000000000000" pitchFamily="2" charset="2"/>
              <a:buChar char="ü"/>
            </a:pPr>
            <a:r>
              <a:rPr lang="en-IN" b="1" dirty="0"/>
              <a:t>Large-Scale Financial </a:t>
            </a:r>
            <a:r>
              <a:rPr lang="en-IN" b="1" dirty="0" err="1"/>
              <a:t>Modeling</a:t>
            </a:r>
            <a:r>
              <a:rPr lang="en-IN" b="1" dirty="0"/>
              <a:t> (Resource-Heavy Training): Global credit card networks training deep learning models on billions of historical international transactions to flag fraud instantly. Because of the vast scale and network complexity, training these models requires substantial computational resources, often utilizing clusters of high-performance GPUs working continuously for days.</a:t>
            </a:r>
          </a:p>
        </p:txBody>
      </p:sp>
    </p:spTree>
    <p:extLst>
      <p:ext uri="{BB962C8B-B14F-4D97-AF65-F5344CB8AC3E}">
        <p14:creationId xmlns:p14="http://schemas.microsoft.com/office/powerpoint/2010/main" val="361095258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Random Forest: An ensemble learning algorithm that enhances prediction accuracy by combining multiple decision trees.</a:t>
            </a:r>
          </a:p>
          <a:p>
            <a:endParaRPr lang="en-US" sz="2000" dirty="0"/>
          </a:p>
          <a:p>
            <a:r>
              <a:rPr lang="en-US" sz="2000" dirty="0"/>
              <a:t>•   It is known for its robustness and capability to handle high-dimensional datasets with many features.</a:t>
            </a:r>
          </a:p>
          <a:p>
            <a:endParaRPr lang="en-US" sz="2000" dirty="0"/>
          </a:p>
          <a:p>
            <a:r>
              <a:rPr lang="en-US" sz="2000" dirty="0"/>
              <a:t>• k-Nearest Neighbors (KNN): A simple, effective classification algorithm that classifies data points based on the majority class among their 'k' nearest neighbors.</a:t>
            </a:r>
          </a:p>
          <a:p>
            <a:endParaRPr lang="en-US" sz="2000" dirty="0"/>
          </a:p>
          <a:p>
            <a:r>
              <a:rPr lang="en-US" sz="2000" dirty="0"/>
              <a:t>•   KNN's performance is critically dependent on the chosen distance metric and the specific value of 'k'.</a:t>
            </a:r>
          </a:p>
          <a:p>
            <a:endParaRPr lang="en-US" sz="2000" dirty="0"/>
          </a:p>
          <a:p>
            <a:r>
              <a:rPr lang="en-US" sz="2000" dirty="0"/>
              <a:t>•   Both algorithms offer unique approaches to tackling supervised learning challenges with varying complexities.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Key Algorithms: Part 3</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24113083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6D6DFA-E8C8-3906-C3F7-FA989FF38441}"/>
              </a:ext>
            </a:extLst>
          </p:cNvPr>
          <p:cNvSpPr txBox="1"/>
          <p:nvPr/>
        </p:nvSpPr>
        <p:spPr>
          <a:xfrm>
            <a:off x="209550" y="612845"/>
            <a:ext cx="10458450" cy="4154984"/>
          </a:xfrm>
          <a:prstGeom prst="rect">
            <a:avLst/>
          </a:prstGeom>
          <a:noFill/>
        </p:spPr>
        <p:txBody>
          <a:bodyPr wrap="square">
            <a:spAutoFit/>
          </a:bodyPr>
          <a:lstStyle/>
          <a:p>
            <a:pPr>
              <a:buNone/>
            </a:pPr>
            <a:r>
              <a:rPr lang="en-IN" b="1" dirty="0"/>
              <a:t>Examples for Random Forest</a:t>
            </a:r>
          </a:p>
          <a:p>
            <a:pPr marL="285750" indent="-285750">
              <a:spcBef>
                <a:spcPts val="1200"/>
              </a:spcBef>
              <a:buFont typeface="Wingdings" panose="05000000000000000000" pitchFamily="2" charset="2"/>
              <a:buChar char="ü"/>
            </a:pPr>
            <a:r>
              <a:rPr lang="en-IN" b="1" dirty="0"/>
              <a:t>Banking &amp; Credit Scoring: Assessing whether a loan applicant is high-risk. A single decision tree might overfit by focusing too heavily on a single factor like income. A Random Forest combines hundreds of trees—each looking at different random subsets of features (e.g., credit history, employment duration, debt ratio)—and aggregates their votes to deliver a highly accurate and stable risk score.</a:t>
            </a:r>
          </a:p>
          <a:p>
            <a:pPr marL="285750" indent="-285750">
              <a:spcBef>
                <a:spcPts val="1200"/>
              </a:spcBef>
              <a:buFont typeface="Wingdings" panose="05000000000000000000" pitchFamily="2" charset="2"/>
              <a:buChar char="ü"/>
            </a:pPr>
            <a:r>
              <a:rPr lang="en-IN" b="1" dirty="0"/>
              <a:t>E-commerce Recommendation Engines: Predicting whether a user will buy a product. Random Forests easily handle high-dimensional datasets containing thousands of features, such as user clickstreams, past purchase history, time of day, device type, and search queries, without dropping performance or requiring complex feature selection.</a:t>
            </a:r>
          </a:p>
          <a:p>
            <a:pPr marL="285750" indent="-285750">
              <a:spcBef>
                <a:spcPts val="1200"/>
              </a:spcBef>
              <a:buFont typeface="Wingdings" panose="05000000000000000000" pitchFamily="2" charset="2"/>
              <a:buChar char="ü"/>
            </a:pPr>
            <a:r>
              <a:rPr lang="en-IN" b="1" dirty="0"/>
              <a:t>Remote Sensing &amp; Satellite Imagery: Classifying land cover (e.g., identifying forest, water bodies, or urban areas) from satellite data. The algorithm is highly robust against the noise and missing data points common in satellite telemetry.</a:t>
            </a:r>
          </a:p>
        </p:txBody>
      </p:sp>
    </p:spTree>
    <p:extLst>
      <p:ext uri="{BB962C8B-B14F-4D97-AF65-F5344CB8AC3E}">
        <p14:creationId xmlns:p14="http://schemas.microsoft.com/office/powerpoint/2010/main" val="257088744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7BAB9F-B1A9-F13A-D92C-D0F6E94CFA21}"/>
              </a:ext>
            </a:extLst>
          </p:cNvPr>
          <p:cNvSpPr txBox="1"/>
          <p:nvPr/>
        </p:nvSpPr>
        <p:spPr>
          <a:xfrm>
            <a:off x="242887" y="612845"/>
            <a:ext cx="11163301" cy="3877985"/>
          </a:xfrm>
          <a:prstGeom prst="rect">
            <a:avLst/>
          </a:prstGeom>
          <a:noFill/>
        </p:spPr>
        <p:txBody>
          <a:bodyPr wrap="square">
            <a:spAutoFit/>
          </a:bodyPr>
          <a:lstStyle/>
          <a:p>
            <a:pPr>
              <a:buNone/>
            </a:pPr>
            <a:r>
              <a:rPr lang="en-IN" b="1" dirty="0">
                <a:effectLst/>
                <a:latin typeface="Google Sans"/>
              </a:rPr>
              <a:t>Examples for </a:t>
            </a:r>
            <a:r>
              <a:rPr lang="en-IN" b="1" dirty="0">
                <a:effectLst/>
                <a:latin typeface="Google Sans Text"/>
              </a:rPr>
              <a:t>k-Nearest </a:t>
            </a:r>
            <a:r>
              <a:rPr lang="en-IN" b="1" dirty="0" err="1">
                <a:effectLst/>
                <a:latin typeface="Google Sans Text"/>
              </a:rPr>
              <a:t>Neighbors</a:t>
            </a:r>
            <a:r>
              <a:rPr lang="en-IN" b="1" dirty="0">
                <a:effectLst/>
                <a:latin typeface="Google Sans Text"/>
              </a:rPr>
              <a:t> (KNN)</a:t>
            </a:r>
            <a:endParaRPr lang="en-IN" b="1" dirty="0">
              <a:effectLst/>
              <a:latin typeface="Google Sans"/>
            </a:endParaRPr>
          </a:p>
          <a:p>
            <a:pPr marL="285750" indent="-285750">
              <a:spcBef>
                <a:spcPts val="1200"/>
              </a:spcBef>
              <a:buFont typeface="Wingdings" panose="05000000000000000000" pitchFamily="2" charset="2"/>
              <a:buChar char="ü"/>
            </a:pPr>
            <a:r>
              <a:rPr lang="en-IN" b="1" dirty="0"/>
              <a:t>E-commerce "Customers Also Bought" Widgets: Recommending a new movie or product. If a user likes a specific sci-fi movie, KNN looks across the feature space to find the k nearest </a:t>
            </a:r>
            <a:r>
              <a:rPr lang="en-IN" b="1" dirty="0" err="1"/>
              <a:t>neighbors</a:t>
            </a:r>
            <a:r>
              <a:rPr lang="en-IN" b="1" dirty="0"/>
              <a:t> (the most similar movies based on genre, director, and user ratings) and recommends them.</a:t>
            </a:r>
          </a:p>
          <a:p>
            <a:pPr marL="285750" indent="-285750">
              <a:spcBef>
                <a:spcPts val="1200"/>
              </a:spcBef>
              <a:buFont typeface="Wingdings" panose="05000000000000000000" pitchFamily="2" charset="2"/>
              <a:buChar char="ü"/>
            </a:pPr>
            <a:r>
              <a:rPr lang="en-IN" b="1" dirty="0"/>
              <a:t>Handwriting and Signature Verification: Comparing a digital signature against a database of a user's genuine signatures. The algorithm relies heavily on a distance metric (like Euclidean distance) to calculate how closely the geometric curves of the new signature match historical coordinates.</a:t>
            </a:r>
          </a:p>
          <a:p>
            <a:pPr marL="285750" indent="-285750">
              <a:spcBef>
                <a:spcPts val="1200"/>
              </a:spcBef>
              <a:buFont typeface="Wingdings" panose="05000000000000000000" pitchFamily="2" charset="2"/>
              <a:buChar char="ü"/>
            </a:pPr>
            <a:r>
              <a:rPr lang="en-IN" b="1" dirty="0"/>
              <a:t>Real Estate Price Estimation (Local): Valuing an apartment by looking at the sale prices of the k=5 closest homes physically located within the same square </a:t>
            </a:r>
            <a:r>
              <a:rPr lang="en-IN" b="1" dirty="0" err="1"/>
              <a:t>kilometer</a:t>
            </a:r>
            <a:r>
              <a:rPr lang="en-IN" b="1" dirty="0"/>
              <a:t>. If 4 out of those 5 </a:t>
            </a:r>
            <a:r>
              <a:rPr lang="en-IN" b="1" dirty="0" err="1"/>
              <a:t>neighboring</a:t>
            </a:r>
            <a:r>
              <a:rPr lang="en-IN" b="1" dirty="0"/>
              <a:t> homes sold as "luxury tier," the target apartment is classified as luxury tier by majority vote. Choosing the right value of k is critical here; too small a number makes the prediction sensitive to one odd </a:t>
            </a:r>
            <a:r>
              <a:rPr lang="en-IN" b="1" dirty="0" err="1"/>
              <a:t>neighbor</a:t>
            </a:r>
            <a:r>
              <a:rPr lang="en-IN" b="1" dirty="0"/>
              <a:t>, while too large a number might pull in data from an entirely different </a:t>
            </a:r>
            <a:r>
              <a:rPr lang="en-IN" b="1" dirty="0" err="1"/>
              <a:t>neighborhood</a:t>
            </a:r>
            <a:r>
              <a:rPr lang="en-IN" b="1" dirty="0"/>
              <a:t>.</a:t>
            </a:r>
          </a:p>
        </p:txBody>
      </p:sp>
    </p:spTree>
    <p:extLst>
      <p:ext uri="{BB962C8B-B14F-4D97-AF65-F5344CB8AC3E}">
        <p14:creationId xmlns:p14="http://schemas.microsoft.com/office/powerpoint/2010/main" val="158830351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1479756"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Naive Bayes: A probabilistic classification algorithm founded on Bayes' theorem.</a:t>
            </a:r>
          </a:p>
          <a:p>
            <a:endParaRPr lang="en-US" sz="2000" dirty="0"/>
          </a:p>
          <a:p>
            <a:r>
              <a:rPr lang="en-US" sz="2000" dirty="0"/>
              <a:t>•   It operates under the assumption of strong independence among features, simplifying calculations.</a:t>
            </a:r>
          </a:p>
          <a:p>
            <a:endParaRPr lang="en-US" sz="2000" dirty="0"/>
          </a:p>
          <a:p>
            <a:r>
              <a:rPr lang="en-US" sz="2000" dirty="0"/>
              <a:t>•   Naive Bayes is particularly well-suited for various text classification applications.</a:t>
            </a:r>
          </a:p>
          <a:p>
            <a:endParaRPr lang="en-US" sz="2000" dirty="0"/>
          </a:p>
          <a:p>
            <a:r>
              <a:rPr lang="en-US" sz="2000" dirty="0"/>
              <a:t>• Common uses include effective spam detection and sentiment analysis.</a:t>
            </a:r>
          </a:p>
          <a:p>
            <a:endParaRPr lang="en-US" sz="2000" dirty="0"/>
          </a:p>
          <a:p>
            <a:r>
              <a:rPr lang="en-US" sz="2000" dirty="0"/>
              <a:t>•   Its simplicity and efficiency make it a valuable tool, even with limited training data.</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Key Algorithms: Part 4</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3308235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98AE99-E6EE-73AA-0D5F-165B188CE8EF}"/>
              </a:ext>
            </a:extLst>
          </p:cNvPr>
          <p:cNvSpPr txBox="1"/>
          <p:nvPr/>
        </p:nvSpPr>
        <p:spPr>
          <a:xfrm>
            <a:off x="57151" y="1443841"/>
            <a:ext cx="11915774" cy="2339102"/>
          </a:xfrm>
          <a:prstGeom prst="rect">
            <a:avLst/>
          </a:prstGeom>
          <a:noFill/>
        </p:spPr>
        <p:txBody>
          <a:bodyPr wrap="square">
            <a:spAutoFit/>
          </a:bodyPr>
          <a:lstStyle/>
          <a:p>
            <a:pPr>
              <a:buNone/>
            </a:pPr>
            <a:r>
              <a:rPr lang="en-IN" b="1" dirty="0"/>
              <a:t>Examples for Naive Bayes (Probabilistic &amp; Independence Assumption)</a:t>
            </a:r>
          </a:p>
          <a:p>
            <a:pPr marL="285750" indent="-285750">
              <a:spcBef>
                <a:spcPts val="1200"/>
              </a:spcBef>
              <a:buFont typeface="Wingdings" panose="05000000000000000000" pitchFamily="2" charset="2"/>
              <a:buChar char="ü"/>
            </a:pPr>
            <a:r>
              <a:rPr lang="en-IN" b="1" dirty="0"/>
              <a:t>E-mail Spam Filtering: Deciding if an email is spam based on the words it contains. The algorithm calculates the probability that an email is spam given that words like "lottery," "free," and "click" appear in the text.</a:t>
            </a:r>
          </a:p>
          <a:p>
            <a:pPr marL="285750" indent="-285750">
              <a:spcBef>
                <a:spcPts val="1200"/>
              </a:spcBef>
              <a:buFont typeface="Wingdings" panose="05000000000000000000" pitchFamily="2" charset="2"/>
              <a:buChar char="ü"/>
            </a:pPr>
            <a:r>
              <a:rPr lang="en-IN" b="1" dirty="0"/>
              <a:t>The "Naive" Assumption in Action: If an email contains the phrase "Free Money," Naive Bayes treats the appearance of the word "Free" and the word "Money" as completely independent events that do not influence each other. While grammatically incorrect in human language, this strong independence assumption drastically simplifies the complex mathematics, allowing the computer to compute probabilities instantly.</a:t>
            </a:r>
          </a:p>
        </p:txBody>
      </p:sp>
    </p:spTree>
    <p:extLst>
      <p:ext uri="{BB962C8B-B14F-4D97-AF65-F5344CB8AC3E}">
        <p14:creationId xmlns:p14="http://schemas.microsoft.com/office/powerpoint/2010/main" val="7289585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A701EC-3D0D-2C64-2F5F-DDB2EE1B263B}"/>
              </a:ext>
            </a:extLst>
          </p:cNvPr>
          <p:cNvSpPr txBox="1"/>
          <p:nvPr/>
        </p:nvSpPr>
        <p:spPr>
          <a:xfrm>
            <a:off x="409575" y="1859340"/>
            <a:ext cx="11277600" cy="2062103"/>
          </a:xfrm>
          <a:prstGeom prst="rect">
            <a:avLst/>
          </a:prstGeom>
          <a:noFill/>
        </p:spPr>
        <p:txBody>
          <a:bodyPr wrap="square">
            <a:spAutoFit/>
          </a:bodyPr>
          <a:lstStyle/>
          <a:p>
            <a:pPr>
              <a:buNone/>
            </a:pPr>
            <a:r>
              <a:rPr lang="en-IN" b="1" dirty="0"/>
              <a:t>Examples for Text Classification &amp; Sentiment Analysis</a:t>
            </a:r>
          </a:p>
          <a:p>
            <a:pPr marL="285750" indent="-285750">
              <a:spcBef>
                <a:spcPts val="1200"/>
              </a:spcBef>
              <a:buFont typeface="Wingdings" panose="05000000000000000000" pitchFamily="2" charset="2"/>
              <a:buChar char="ü"/>
            </a:pPr>
            <a:r>
              <a:rPr lang="en-IN" b="1" dirty="0"/>
              <a:t>Social Media Sentiment Analysis: Brand monitoring tools scanning thousands of daily tweets or product reviews to classify the public sentiment as Positive, Negative, or Neutral. Naive Bayes looks at the probability of specific emotional words (e.g., "amazing," "broken," "disappointed") to tag the text.</a:t>
            </a:r>
          </a:p>
          <a:p>
            <a:pPr marL="285750" indent="-285750">
              <a:spcBef>
                <a:spcPts val="1200"/>
              </a:spcBef>
              <a:buFont typeface="Wingdings" panose="05000000000000000000" pitchFamily="2" charset="2"/>
              <a:buChar char="ü"/>
            </a:pPr>
            <a:r>
              <a:rPr lang="en-IN" b="1" dirty="0"/>
              <a:t>News Article Categorization: Automating news feeds (like Google News) by </a:t>
            </a:r>
            <a:r>
              <a:rPr lang="en-IN" b="1" dirty="0" err="1"/>
              <a:t>analyzing</a:t>
            </a:r>
            <a:r>
              <a:rPr lang="en-IN" b="1" dirty="0"/>
              <a:t> the words in an incoming article and instantly routing it to categories like Sports, Politics, Technology, or Finance.</a:t>
            </a:r>
          </a:p>
        </p:txBody>
      </p:sp>
    </p:spTree>
    <p:extLst>
      <p:ext uri="{BB962C8B-B14F-4D97-AF65-F5344CB8AC3E}">
        <p14:creationId xmlns:p14="http://schemas.microsoft.com/office/powerpoint/2010/main" val="132860169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A2215E-E8B6-54DD-3787-EC6B87540C52}"/>
              </a:ext>
            </a:extLst>
          </p:cNvPr>
          <p:cNvSpPr txBox="1"/>
          <p:nvPr/>
        </p:nvSpPr>
        <p:spPr>
          <a:xfrm>
            <a:off x="300038" y="1859340"/>
            <a:ext cx="11663362" cy="2492990"/>
          </a:xfrm>
          <a:prstGeom prst="rect">
            <a:avLst/>
          </a:prstGeom>
          <a:noFill/>
        </p:spPr>
        <p:txBody>
          <a:bodyPr wrap="square">
            <a:spAutoFit/>
          </a:bodyPr>
          <a:lstStyle/>
          <a:p>
            <a:pPr>
              <a:buNone/>
            </a:pPr>
            <a:r>
              <a:rPr lang="en-IN" b="1" dirty="0"/>
              <a:t>A. The Optimization Goal (Cost Functions)</a:t>
            </a:r>
          </a:p>
          <a:p>
            <a:pPr marL="285750" indent="-285750">
              <a:spcBef>
                <a:spcPts val="1200"/>
              </a:spcBef>
              <a:buFont typeface="Wingdings" panose="05000000000000000000" pitchFamily="2" charset="2"/>
              <a:buChar char="ü"/>
            </a:pPr>
            <a:r>
              <a:rPr lang="en-IN" b="1" dirty="0"/>
              <a:t>The slides explain what the algorithms do, but they skip how the computer measures success during training.</a:t>
            </a:r>
          </a:p>
          <a:p>
            <a:pPr marL="285750" indent="-285750">
              <a:spcBef>
                <a:spcPts val="1200"/>
              </a:spcBef>
              <a:buFont typeface="Wingdings" panose="05000000000000000000" pitchFamily="2" charset="2"/>
              <a:buChar char="ü"/>
            </a:pPr>
            <a:r>
              <a:rPr lang="en-IN" b="1" dirty="0"/>
              <a:t>The Missing Piece: Mentioning Cost Functions (or Loss Functions).</a:t>
            </a:r>
          </a:p>
          <a:p>
            <a:pPr marL="285750" indent="-285750">
              <a:spcBef>
                <a:spcPts val="1200"/>
              </a:spcBef>
              <a:buFont typeface="Wingdings" panose="05000000000000000000" pitchFamily="2" charset="2"/>
              <a:buChar char="ü"/>
            </a:pPr>
            <a:r>
              <a:rPr lang="en-IN" b="1" dirty="0"/>
              <a:t>Why it matters: Algorithms like Linear Regression or Neural Networks don't just find a boundary by magic; they iteratively minimize an error metric. Introducing terms like Mean Squared Error (MSE) for regression and Cross-Entropy Loss for classification connects the algorithmic structure to the optimization process.</a:t>
            </a:r>
          </a:p>
        </p:txBody>
      </p:sp>
      <p:sp>
        <p:nvSpPr>
          <p:cNvPr id="4" name="TextBox 3">
            <a:extLst>
              <a:ext uri="{FF2B5EF4-FFF2-40B4-BE49-F238E27FC236}">
                <a16:creationId xmlns:a16="http://schemas.microsoft.com/office/drawing/2014/main" id="{B57C9F18-87CF-2174-36D5-3F404BAF5278}"/>
              </a:ext>
            </a:extLst>
          </p:cNvPr>
          <p:cNvSpPr txBox="1"/>
          <p:nvPr/>
        </p:nvSpPr>
        <p:spPr>
          <a:xfrm>
            <a:off x="495300" y="1328738"/>
            <a:ext cx="3287888" cy="369332"/>
          </a:xfrm>
          <a:prstGeom prst="rect">
            <a:avLst/>
          </a:prstGeom>
          <a:noFill/>
        </p:spPr>
        <p:txBody>
          <a:bodyPr wrap="none" rtlCol="0">
            <a:spAutoFit/>
          </a:bodyPr>
          <a:lstStyle/>
          <a:p>
            <a:r>
              <a:rPr lang="en-IN" dirty="0">
                <a:solidFill>
                  <a:srgbClr val="FF0000"/>
                </a:solidFill>
              </a:rPr>
              <a:t>1. Missing Concepts in All parts</a:t>
            </a:r>
          </a:p>
        </p:txBody>
      </p:sp>
    </p:spTree>
    <p:extLst>
      <p:ext uri="{BB962C8B-B14F-4D97-AF65-F5344CB8AC3E}">
        <p14:creationId xmlns:p14="http://schemas.microsoft.com/office/powerpoint/2010/main" val="113306205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542EC7-5ED0-31A9-3476-F1CD469A3B44}"/>
              </a:ext>
            </a:extLst>
          </p:cNvPr>
          <p:cNvSpPr txBox="1"/>
          <p:nvPr/>
        </p:nvSpPr>
        <p:spPr>
          <a:xfrm>
            <a:off x="357188" y="1312039"/>
            <a:ext cx="11320462" cy="2769989"/>
          </a:xfrm>
          <a:prstGeom prst="rect">
            <a:avLst/>
          </a:prstGeom>
          <a:noFill/>
        </p:spPr>
        <p:txBody>
          <a:bodyPr wrap="square">
            <a:spAutoFit/>
          </a:bodyPr>
          <a:lstStyle/>
          <a:p>
            <a:pPr>
              <a:buNone/>
            </a:pPr>
            <a:r>
              <a:rPr lang="en-IN" b="1" dirty="0"/>
              <a:t>B. The Core Dilemma: Bias-Variance Trade-off</a:t>
            </a:r>
          </a:p>
          <a:p>
            <a:pPr marL="285750" indent="-285750">
              <a:spcBef>
                <a:spcPts val="1200"/>
              </a:spcBef>
              <a:buFont typeface="Wingdings" panose="05000000000000000000" pitchFamily="2" charset="2"/>
              <a:buChar char="ü"/>
            </a:pPr>
            <a:r>
              <a:rPr lang="en-IN" b="1" dirty="0"/>
              <a:t>This is the single most important rule in predictive </a:t>
            </a:r>
            <a:r>
              <a:rPr lang="en-IN" b="1" dirty="0" err="1"/>
              <a:t>modeling</a:t>
            </a:r>
            <a:r>
              <a:rPr lang="en-IN" b="1" dirty="0"/>
              <a:t>, yet it isn't mentioned explicitly anywhere in the 4 parts.</a:t>
            </a:r>
          </a:p>
          <a:p>
            <a:pPr marL="285750" indent="-285750">
              <a:spcBef>
                <a:spcPts val="1200"/>
              </a:spcBef>
              <a:buFont typeface="Wingdings" panose="05000000000000000000" pitchFamily="2" charset="2"/>
              <a:buChar char="ü"/>
            </a:pPr>
            <a:r>
              <a:rPr lang="en-IN" b="1" dirty="0"/>
              <a:t>The Missing Piece: A brief slide explaining Overfitting (high variance, memorizing noise—like a single deep Decision Tree) vs. Underfitting (high bias, oversimplifying the trend—like forcing a Linear Regression line onto curved data).</a:t>
            </a:r>
          </a:p>
          <a:p>
            <a:pPr marL="285750" indent="-285750">
              <a:spcBef>
                <a:spcPts val="1200"/>
              </a:spcBef>
              <a:buFont typeface="Wingdings" panose="05000000000000000000" pitchFamily="2" charset="2"/>
              <a:buChar char="ü"/>
            </a:pPr>
            <a:r>
              <a:rPr lang="en-IN" b="1" dirty="0"/>
              <a:t>Why it matters: It explains why we transition from simple algorithms (Part 1) to complex ensembles like Random Forests (Part 3).</a:t>
            </a:r>
          </a:p>
        </p:txBody>
      </p:sp>
    </p:spTree>
    <p:extLst>
      <p:ext uri="{BB962C8B-B14F-4D97-AF65-F5344CB8AC3E}">
        <p14:creationId xmlns:p14="http://schemas.microsoft.com/office/powerpoint/2010/main" val="411874655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689C00-8093-1EBA-CE86-28C8D3E1ACA0}"/>
              </a:ext>
            </a:extLst>
          </p:cNvPr>
          <p:cNvSpPr txBox="1"/>
          <p:nvPr/>
        </p:nvSpPr>
        <p:spPr>
          <a:xfrm>
            <a:off x="752475" y="791646"/>
            <a:ext cx="6096000" cy="369332"/>
          </a:xfrm>
          <a:prstGeom prst="rect">
            <a:avLst/>
          </a:prstGeom>
          <a:noFill/>
        </p:spPr>
        <p:txBody>
          <a:bodyPr wrap="square">
            <a:spAutoFit/>
          </a:bodyPr>
          <a:lstStyle/>
          <a:p>
            <a:r>
              <a:rPr lang="en-IN" dirty="0"/>
              <a:t>2. </a:t>
            </a:r>
            <a:r>
              <a:rPr lang="en-IN" dirty="0">
                <a:solidFill>
                  <a:srgbClr val="FF0000"/>
                </a:solidFill>
              </a:rPr>
              <a:t>Missing Structural &amp; Algorithmic Links</a:t>
            </a:r>
          </a:p>
        </p:txBody>
      </p:sp>
      <p:sp>
        <p:nvSpPr>
          <p:cNvPr id="5" name="TextBox 4">
            <a:extLst>
              <a:ext uri="{FF2B5EF4-FFF2-40B4-BE49-F238E27FC236}">
                <a16:creationId xmlns:a16="http://schemas.microsoft.com/office/drawing/2014/main" id="{D82FD51D-32BE-853D-29A6-0662A2F68DD6}"/>
              </a:ext>
            </a:extLst>
          </p:cNvPr>
          <p:cNvSpPr txBox="1"/>
          <p:nvPr/>
        </p:nvSpPr>
        <p:spPr>
          <a:xfrm>
            <a:off x="538163" y="1610528"/>
            <a:ext cx="11244262" cy="3046988"/>
          </a:xfrm>
          <a:prstGeom prst="rect">
            <a:avLst/>
          </a:prstGeom>
          <a:noFill/>
        </p:spPr>
        <p:txBody>
          <a:bodyPr wrap="square">
            <a:spAutoFit/>
          </a:bodyPr>
          <a:lstStyle/>
          <a:p>
            <a:pPr>
              <a:buNone/>
            </a:pPr>
            <a:r>
              <a:rPr lang="en-IN" b="1" dirty="0"/>
              <a:t>A. Gradient Boosting Trees (The Counterpart to Random Forest)</a:t>
            </a:r>
          </a:p>
          <a:p>
            <a:pPr marL="285750" indent="-285750">
              <a:spcBef>
                <a:spcPts val="1200"/>
              </a:spcBef>
              <a:buFont typeface="Wingdings" panose="05000000000000000000" pitchFamily="2" charset="2"/>
              <a:buChar char="ü"/>
            </a:pPr>
            <a:r>
              <a:rPr lang="en-IN" b="1" dirty="0"/>
              <a:t>Part 3 introduces Random Forest as the primary ensemble method, which is excellent. However, missing its sister technique leaves the ensemble story half-told.</a:t>
            </a:r>
          </a:p>
          <a:p>
            <a:pPr marL="285750" indent="-285750">
              <a:spcBef>
                <a:spcPts val="1200"/>
              </a:spcBef>
              <a:buFont typeface="Wingdings" panose="05000000000000000000" pitchFamily="2" charset="2"/>
              <a:buChar char="ü"/>
            </a:pPr>
            <a:r>
              <a:rPr lang="en-IN" b="1" dirty="0"/>
              <a:t>The Missing Piece: Gradient Boosted Decision Trees (GBDT) or modern implementations like </a:t>
            </a:r>
            <a:r>
              <a:rPr lang="en-IN" b="1" dirty="0" err="1"/>
              <a:t>XGBoost</a:t>
            </a:r>
            <a:r>
              <a:rPr lang="en-IN" b="1" dirty="0"/>
              <a:t> / </a:t>
            </a:r>
            <a:r>
              <a:rPr lang="en-IN" b="1" dirty="0" err="1"/>
              <a:t>LightGBM</a:t>
            </a:r>
            <a:r>
              <a:rPr lang="en-IN" b="1" dirty="0"/>
              <a:t>.</a:t>
            </a:r>
          </a:p>
          <a:p>
            <a:pPr marL="285750" indent="-285750">
              <a:spcBef>
                <a:spcPts val="1200"/>
              </a:spcBef>
              <a:buFont typeface="Wingdings" panose="05000000000000000000" pitchFamily="2" charset="2"/>
              <a:buChar char="ü"/>
            </a:pPr>
            <a:r>
              <a:rPr lang="en-IN" b="1" dirty="0"/>
              <a:t>Why it matters: While Random Forest builds trees independently in parallel (Bagging) to reduce variance, Gradient Boosting builds trees sequentially (Boosting) to reduce bias by having each new tree correct the mistakes of the previous one. </a:t>
            </a:r>
            <a:r>
              <a:rPr lang="en-IN" b="1" dirty="0" err="1"/>
              <a:t>XGBoost</a:t>
            </a:r>
            <a:r>
              <a:rPr lang="en-IN" b="1" dirty="0"/>
              <a:t> is the reigning champion of structured data competitions worldwide.</a:t>
            </a:r>
          </a:p>
        </p:txBody>
      </p:sp>
    </p:spTree>
    <p:extLst>
      <p:ext uri="{BB962C8B-B14F-4D97-AF65-F5344CB8AC3E}">
        <p14:creationId xmlns:p14="http://schemas.microsoft.com/office/powerpoint/2010/main" val="133124240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2846FA-49DF-061B-685F-2A1A39EDBB57}"/>
              </a:ext>
            </a:extLst>
          </p:cNvPr>
          <p:cNvSpPr txBox="1"/>
          <p:nvPr/>
        </p:nvSpPr>
        <p:spPr>
          <a:xfrm>
            <a:off x="700088" y="1146125"/>
            <a:ext cx="9705975" cy="2215991"/>
          </a:xfrm>
          <a:prstGeom prst="rect">
            <a:avLst/>
          </a:prstGeom>
          <a:noFill/>
        </p:spPr>
        <p:txBody>
          <a:bodyPr wrap="square">
            <a:spAutoFit/>
          </a:bodyPr>
          <a:lstStyle/>
          <a:p>
            <a:pPr>
              <a:buNone/>
            </a:pPr>
            <a:r>
              <a:rPr lang="en-IN" b="1" dirty="0"/>
              <a:t>B. Logistic Regression (The True Bridge)</a:t>
            </a:r>
          </a:p>
          <a:p>
            <a:pPr marL="285750" indent="-285750">
              <a:spcBef>
                <a:spcPts val="1200"/>
              </a:spcBef>
              <a:buFont typeface="Wingdings" panose="05000000000000000000" pitchFamily="2" charset="2"/>
              <a:buChar char="ü"/>
            </a:pPr>
            <a:r>
              <a:rPr lang="en-IN" b="1" dirty="0"/>
              <a:t>Part 1 covers Linear Regression (Regression). Part 4 covers Naive Bayes (Classification).</a:t>
            </a:r>
          </a:p>
          <a:p>
            <a:pPr marL="285750" indent="-285750">
              <a:spcBef>
                <a:spcPts val="1200"/>
              </a:spcBef>
              <a:buFont typeface="Wingdings" panose="05000000000000000000" pitchFamily="2" charset="2"/>
              <a:buChar char="ü"/>
            </a:pPr>
            <a:r>
              <a:rPr lang="en-IN" b="1" dirty="0"/>
              <a:t>The Missing Piece: Logistic Regression.</a:t>
            </a:r>
          </a:p>
          <a:p>
            <a:pPr marL="285750" indent="-285750">
              <a:spcBef>
                <a:spcPts val="1200"/>
              </a:spcBef>
              <a:buFont typeface="Wingdings" panose="05000000000000000000" pitchFamily="2" charset="2"/>
              <a:buChar char="ü"/>
            </a:pPr>
            <a:r>
              <a:rPr lang="en-IN" b="1" dirty="0"/>
              <a:t>Why it matters: It is the conceptual bridge between linear </a:t>
            </a:r>
            <a:r>
              <a:rPr lang="en-IN" b="1" dirty="0" err="1"/>
              <a:t>modeling</a:t>
            </a:r>
            <a:r>
              <a:rPr lang="en-IN" b="1" dirty="0"/>
              <a:t> and categorical classification. It uses the exact same linear formula as linear regression but wraps it in a Sigmoid function to output a probability between 0 and 1.</a:t>
            </a:r>
          </a:p>
        </p:txBody>
      </p:sp>
    </p:spTree>
    <p:extLst>
      <p:ext uri="{BB962C8B-B14F-4D97-AF65-F5344CB8AC3E}">
        <p14:creationId xmlns:p14="http://schemas.microsoft.com/office/powerpoint/2010/main" val="246481209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C7A0EA-822A-3410-0443-F24134BEBBE0}"/>
              </a:ext>
            </a:extLst>
          </p:cNvPr>
          <p:cNvSpPr txBox="1"/>
          <p:nvPr/>
        </p:nvSpPr>
        <p:spPr>
          <a:xfrm>
            <a:off x="814388" y="972622"/>
            <a:ext cx="6096000" cy="369332"/>
          </a:xfrm>
          <a:prstGeom prst="rect">
            <a:avLst/>
          </a:prstGeom>
          <a:noFill/>
        </p:spPr>
        <p:txBody>
          <a:bodyPr wrap="square">
            <a:spAutoFit/>
          </a:bodyPr>
          <a:lstStyle/>
          <a:p>
            <a:r>
              <a:rPr lang="en-IN" dirty="0"/>
              <a:t>3</a:t>
            </a:r>
            <a:r>
              <a:rPr lang="en-IN" dirty="0">
                <a:solidFill>
                  <a:srgbClr val="FF0000"/>
                </a:solidFill>
              </a:rPr>
              <a:t>. Missing Practical &amp; Operational Realities</a:t>
            </a:r>
          </a:p>
        </p:txBody>
      </p:sp>
      <p:sp>
        <p:nvSpPr>
          <p:cNvPr id="5" name="TextBox 4">
            <a:extLst>
              <a:ext uri="{FF2B5EF4-FFF2-40B4-BE49-F238E27FC236}">
                <a16:creationId xmlns:a16="http://schemas.microsoft.com/office/drawing/2014/main" id="{76CA6B5D-1698-A109-07F8-3DD024F70BEE}"/>
              </a:ext>
            </a:extLst>
          </p:cNvPr>
          <p:cNvSpPr txBox="1"/>
          <p:nvPr/>
        </p:nvSpPr>
        <p:spPr>
          <a:xfrm>
            <a:off x="152399" y="2006204"/>
            <a:ext cx="11763376" cy="2769989"/>
          </a:xfrm>
          <a:prstGeom prst="rect">
            <a:avLst/>
          </a:prstGeom>
          <a:noFill/>
        </p:spPr>
        <p:txBody>
          <a:bodyPr wrap="square">
            <a:spAutoFit/>
          </a:bodyPr>
          <a:lstStyle/>
          <a:p>
            <a:pPr>
              <a:buNone/>
            </a:pPr>
            <a:r>
              <a:rPr lang="en-IN" b="1" dirty="0"/>
              <a:t>A. Feature Scaling &amp; Data Preprocessing Requirements</a:t>
            </a:r>
          </a:p>
          <a:p>
            <a:pPr marL="285750" indent="-285750">
              <a:spcBef>
                <a:spcPts val="1200"/>
              </a:spcBef>
              <a:buFont typeface="Wingdings" panose="05000000000000000000" pitchFamily="2" charset="2"/>
              <a:buChar char="ü"/>
            </a:pPr>
            <a:r>
              <a:rPr lang="en-IN" b="1" dirty="0"/>
              <a:t>Algorithms have vastly different tolerances for raw data, which is a major engineering consideration during deployment.</a:t>
            </a:r>
          </a:p>
          <a:p>
            <a:pPr marL="285750" indent="-285750">
              <a:spcBef>
                <a:spcPts val="1200"/>
              </a:spcBef>
              <a:buFont typeface="Wingdings" panose="05000000000000000000" pitchFamily="2" charset="2"/>
              <a:buChar char="ü"/>
            </a:pPr>
            <a:r>
              <a:rPr lang="en-IN" b="1" dirty="0"/>
              <a:t>The Missing Piece: A quick comparison of data preparation needs.</a:t>
            </a:r>
          </a:p>
          <a:p>
            <a:pPr marL="285750" indent="-285750">
              <a:spcBef>
                <a:spcPts val="1200"/>
              </a:spcBef>
              <a:buFont typeface="Wingdings" panose="05000000000000000000" pitchFamily="2" charset="2"/>
              <a:buChar char="ü"/>
            </a:pPr>
            <a:r>
              <a:rPr lang="en-IN" b="1" dirty="0"/>
              <a:t>Why it matters: Distance-based and gradient-based algorithms (KNN, SVM, Neural Networks) will completely fail or miscalculate if features aren't scaled or normalized (e.g., comparing a person's age [0–100] directly to their salary [0–1,000,000]). Meanwhile, tree-based models (Decision Trees, Random Forests) don't care about scaling at all.</a:t>
            </a:r>
          </a:p>
        </p:txBody>
      </p:sp>
    </p:spTree>
    <p:extLst>
      <p:ext uri="{BB962C8B-B14F-4D97-AF65-F5344CB8AC3E}">
        <p14:creationId xmlns:p14="http://schemas.microsoft.com/office/powerpoint/2010/main" val="358360013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235E22-9231-B1F5-D6DF-CA60A43812C2}"/>
              </a:ext>
            </a:extLst>
          </p:cNvPr>
          <p:cNvSpPr txBox="1"/>
          <p:nvPr/>
        </p:nvSpPr>
        <p:spPr>
          <a:xfrm>
            <a:off x="757237" y="2056537"/>
            <a:ext cx="10225087" cy="1785104"/>
          </a:xfrm>
          <a:prstGeom prst="rect">
            <a:avLst/>
          </a:prstGeom>
          <a:noFill/>
        </p:spPr>
        <p:txBody>
          <a:bodyPr wrap="square">
            <a:spAutoFit/>
          </a:bodyPr>
          <a:lstStyle/>
          <a:p>
            <a:pPr>
              <a:buNone/>
            </a:pPr>
            <a:r>
              <a:rPr lang="en-IN" b="1" dirty="0"/>
              <a:t>B. No Free Lunch Theorem</a:t>
            </a:r>
          </a:p>
          <a:p>
            <a:pPr marL="285750" indent="-285750">
              <a:spcBef>
                <a:spcPts val="1200"/>
              </a:spcBef>
              <a:buFont typeface="Wingdings" panose="05000000000000000000" pitchFamily="2" charset="2"/>
              <a:buChar char="ü"/>
            </a:pPr>
            <a:r>
              <a:rPr lang="en-IN" b="1" dirty="0"/>
              <a:t>The Missing Piece: A concluding point stating that no single algorithm is universally superior for every problem.</a:t>
            </a:r>
          </a:p>
          <a:p>
            <a:pPr marL="285750" indent="-285750">
              <a:spcBef>
                <a:spcPts val="1200"/>
              </a:spcBef>
              <a:buFont typeface="Wingdings" panose="05000000000000000000" pitchFamily="2" charset="2"/>
              <a:buChar char="ü"/>
            </a:pPr>
            <a:r>
              <a:rPr lang="en-IN" b="1" dirty="0"/>
              <a:t>Why it matters: The best model always depends on dataset size, number of features, noise levels, and inference speed requirements.</a:t>
            </a:r>
          </a:p>
        </p:txBody>
      </p:sp>
    </p:spTree>
    <p:extLst>
      <p:ext uri="{BB962C8B-B14F-4D97-AF65-F5344CB8AC3E}">
        <p14:creationId xmlns:p14="http://schemas.microsoft.com/office/powerpoint/2010/main" val="35095025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0ABFF8E5-3527-1161-D73B-9BA42AD01E23}"/>
              </a:ext>
            </a:extLst>
          </p:cNvPr>
          <p:cNvGraphicFramePr>
            <a:graphicFrameLocks noGrp="1"/>
          </p:cNvGraphicFramePr>
          <p:nvPr>
            <p:extLst>
              <p:ext uri="{D42A27DB-BD31-4B8C-83A1-F6EECF244321}">
                <p14:modId xmlns:p14="http://schemas.microsoft.com/office/powerpoint/2010/main" val="2571713857"/>
              </p:ext>
            </p:extLst>
          </p:nvPr>
        </p:nvGraphicFramePr>
        <p:xfrm>
          <a:off x="176213" y="95250"/>
          <a:ext cx="11658600" cy="6710361"/>
        </p:xfrm>
        <a:graphic>
          <a:graphicData uri="http://schemas.openxmlformats.org/drawingml/2006/table">
            <a:tbl>
              <a:tblPr/>
              <a:tblGrid>
                <a:gridCol w="2024530">
                  <a:extLst>
                    <a:ext uri="{9D8B030D-6E8A-4147-A177-3AD203B41FA5}">
                      <a16:colId xmlns:a16="http://schemas.microsoft.com/office/drawing/2014/main" val="3151956005"/>
                    </a:ext>
                  </a:extLst>
                </a:gridCol>
                <a:gridCol w="2024530">
                  <a:extLst>
                    <a:ext uri="{9D8B030D-6E8A-4147-A177-3AD203B41FA5}">
                      <a16:colId xmlns:a16="http://schemas.microsoft.com/office/drawing/2014/main" val="2077078798"/>
                    </a:ext>
                  </a:extLst>
                </a:gridCol>
                <a:gridCol w="2024530">
                  <a:extLst>
                    <a:ext uri="{9D8B030D-6E8A-4147-A177-3AD203B41FA5}">
                      <a16:colId xmlns:a16="http://schemas.microsoft.com/office/drawing/2014/main" val="476557369"/>
                    </a:ext>
                  </a:extLst>
                </a:gridCol>
                <a:gridCol w="2024530">
                  <a:extLst>
                    <a:ext uri="{9D8B030D-6E8A-4147-A177-3AD203B41FA5}">
                      <a16:colId xmlns:a16="http://schemas.microsoft.com/office/drawing/2014/main" val="1764237555"/>
                    </a:ext>
                  </a:extLst>
                </a:gridCol>
                <a:gridCol w="3560480">
                  <a:extLst>
                    <a:ext uri="{9D8B030D-6E8A-4147-A177-3AD203B41FA5}">
                      <a16:colId xmlns:a16="http://schemas.microsoft.com/office/drawing/2014/main" val="649179967"/>
                    </a:ext>
                  </a:extLst>
                </a:gridCol>
              </a:tblGrid>
              <a:tr h="298843">
                <a:tc>
                  <a:txBody>
                    <a:bodyPr/>
                    <a:lstStyle/>
                    <a:p>
                      <a:pPr rtl="0">
                        <a:buNone/>
                      </a:pPr>
                      <a:r>
                        <a:rPr lang="en-IN" sz="1000" b="1">
                          <a:solidFill>
                            <a:srgbClr val="1F1F1F"/>
                          </a:solidFill>
                          <a:effectLst/>
                          <a:latin typeface="Google Sans Text"/>
                        </a:rPr>
                        <a:t>Algorithm</a:t>
                      </a:r>
                      <a:endParaRPr lang="en-IN" sz="1000">
                        <a:solidFill>
                          <a:srgbClr val="1F1F1F"/>
                        </a:solidFill>
                        <a:effectLst/>
                        <a:latin typeface="Google Sans Text"/>
                      </a:endParaRP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Type</a:t>
                      </a:r>
                      <a:endParaRPr lang="en-IN" sz="1000">
                        <a:solidFill>
                          <a:srgbClr val="1F1F1F"/>
                        </a:solidFill>
                        <a:effectLst/>
                        <a:latin typeface="Google Sans Text"/>
                      </a:endParaRP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Strengths</a:t>
                      </a:r>
                      <a:endParaRPr lang="en-IN" sz="1000">
                        <a:solidFill>
                          <a:srgbClr val="1F1F1F"/>
                        </a:solidFill>
                        <a:effectLst/>
                        <a:latin typeface="Google Sans Text"/>
                      </a:endParaRP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Weaknesses</a:t>
                      </a:r>
                      <a:endParaRPr lang="en-IN" sz="1000">
                        <a:solidFill>
                          <a:srgbClr val="1F1F1F"/>
                        </a:solidFill>
                        <a:effectLst/>
                        <a:latin typeface="Google Sans Text"/>
                      </a:endParaRP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Best Used For</a:t>
                      </a:r>
                      <a:endParaRPr lang="en-IN" sz="1000">
                        <a:solidFill>
                          <a:srgbClr val="1F1F1F"/>
                        </a:solidFill>
                        <a:effectLst/>
                        <a:latin typeface="Google Sans Text"/>
                      </a:endParaRP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354351992"/>
                  </a:ext>
                </a:extLst>
              </a:tr>
              <a:tr h="543349">
                <a:tc>
                  <a:txBody>
                    <a:bodyPr/>
                    <a:lstStyle/>
                    <a:p>
                      <a:pPr rtl="0">
                        <a:buNone/>
                      </a:pPr>
                      <a:r>
                        <a:rPr lang="en-IN" sz="1000" b="1">
                          <a:solidFill>
                            <a:srgbClr val="1F1F1F"/>
                          </a:solidFill>
                          <a:effectLst/>
                          <a:latin typeface="Google Sans Text"/>
                        </a:rPr>
                        <a:t>Linear Regression</a:t>
                      </a:r>
                      <a:endParaRPr lang="en-IN" sz="1000">
                        <a:solidFill>
                          <a:srgbClr val="1F1F1F"/>
                        </a:solidFill>
                        <a:effectLst/>
                        <a:latin typeface="Google Sans Text"/>
                      </a:endParaRP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Supervised (Regression)</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Simple, fast, highly interpretable</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Cannot capture non-linear trends</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Quick baseline for continuous trends</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283576876"/>
                  </a:ext>
                </a:extLst>
              </a:tr>
              <a:tr h="543349">
                <a:tc>
                  <a:txBody>
                    <a:bodyPr/>
                    <a:lstStyle/>
                    <a:p>
                      <a:pPr rtl="0">
                        <a:buNone/>
                      </a:pPr>
                      <a:r>
                        <a:rPr lang="en-IN" sz="1000" b="1">
                          <a:solidFill>
                            <a:srgbClr val="1F1F1F"/>
                          </a:solidFill>
                          <a:effectLst/>
                          <a:latin typeface="Google Sans Text"/>
                        </a:rPr>
                        <a:t>Logistic Regression</a:t>
                      </a:r>
                      <a:endParaRPr lang="en-IN" sz="1000">
                        <a:solidFill>
                          <a:srgbClr val="1F1F1F"/>
                        </a:solidFill>
                        <a:effectLst/>
                        <a:latin typeface="Google Sans Text"/>
                      </a:endParaRP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Supervised (Classification)</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Fast, outputs clean probabilities</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Assumes linear boundaries</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Binary choices (Pass/Fail, Yes/No)</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54394842"/>
                  </a:ext>
                </a:extLst>
              </a:tr>
              <a:tr h="543349">
                <a:tc>
                  <a:txBody>
                    <a:bodyPr/>
                    <a:lstStyle/>
                    <a:p>
                      <a:pPr rtl="0">
                        <a:buNone/>
                      </a:pPr>
                      <a:r>
                        <a:rPr lang="en-IN" sz="1000" b="1">
                          <a:solidFill>
                            <a:srgbClr val="1F1F1F"/>
                          </a:solidFill>
                          <a:effectLst/>
                          <a:latin typeface="Google Sans Text"/>
                        </a:rPr>
                        <a:t>Decision Trees</a:t>
                      </a:r>
                      <a:endParaRPr lang="en-IN" sz="1000">
                        <a:solidFill>
                          <a:srgbClr val="1F1F1F"/>
                        </a:solidFill>
                        <a:effectLst/>
                        <a:latin typeface="Google Sans Text"/>
                      </a:endParaRP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Supervised (Both)</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Handles mixed data, zero scaling needed</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Prone to overfitting / high variance</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Simple rule-based logic &amp; diagnostics</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407721861"/>
                  </a:ext>
                </a:extLst>
              </a:tr>
              <a:tr h="543349">
                <a:tc>
                  <a:txBody>
                    <a:bodyPr/>
                    <a:lstStyle/>
                    <a:p>
                      <a:pPr rtl="0">
                        <a:buNone/>
                      </a:pPr>
                      <a:r>
                        <a:rPr lang="en-IN" sz="1000" b="1">
                          <a:solidFill>
                            <a:srgbClr val="1F1F1F"/>
                          </a:solidFill>
                          <a:effectLst/>
                          <a:latin typeface="Google Sans Text"/>
                        </a:rPr>
                        <a:t>Random Forest</a:t>
                      </a:r>
                      <a:endParaRPr lang="en-IN" sz="1000">
                        <a:solidFill>
                          <a:srgbClr val="1F1F1F"/>
                        </a:solidFill>
                        <a:effectLst/>
                        <a:latin typeface="Google Sans Text"/>
                      </a:endParaRP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Supervised (Both)</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Robust, accurate, resists overfitting</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Slow inference on huge tree counts</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High-performance tabular data</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626885852"/>
                  </a:ext>
                </a:extLst>
              </a:tr>
              <a:tr h="787856">
                <a:tc>
                  <a:txBody>
                    <a:bodyPr/>
                    <a:lstStyle/>
                    <a:p>
                      <a:pPr rtl="0">
                        <a:buNone/>
                      </a:pPr>
                      <a:r>
                        <a:rPr lang="en-IN" sz="1000" b="1">
                          <a:solidFill>
                            <a:srgbClr val="1F1F1F"/>
                          </a:solidFill>
                          <a:effectLst/>
                          <a:latin typeface="Google Sans Text"/>
                        </a:rPr>
                        <a:t>Gradient Boosting (XGBoost)</a:t>
                      </a:r>
                      <a:endParaRPr lang="en-IN" sz="1000">
                        <a:solidFill>
                          <a:srgbClr val="1F1F1F"/>
                        </a:solidFill>
                        <a:effectLst/>
                        <a:latin typeface="Google Sans Text"/>
                      </a:endParaRP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Supervised (Both)</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State-of-the-art accuracy on tables</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Expensive to tune, prone to noise</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Complex tabular predictions, competitions</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295695362"/>
                  </a:ext>
                </a:extLst>
              </a:tr>
              <a:tr h="787856">
                <a:tc>
                  <a:txBody>
                    <a:bodyPr/>
                    <a:lstStyle/>
                    <a:p>
                      <a:pPr rtl="0">
                        <a:buNone/>
                      </a:pPr>
                      <a:r>
                        <a:rPr lang="en-IN" sz="1000" b="1">
                          <a:solidFill>
                            <a:srgbClr val="1F1F1F"/>
                          </a:solidFill>
                          <a:effectLst/>
                          <a:latin typeface="Google Sans Text"/>
                        </a:rPr>
                        <a:t>SVM</a:t>
                      </a:r>
                      <a:endParaRPr lang="en-IN" sz="1000">
                        <a:solidFill>
                          <a:srgbClr val="1F1F1F"/>
                        </a:solidFill>
                        <a:effectLst/>
                        <a:latin typeface="Google Sans Text"/>
                      </a:endParaRP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Supervised (Both)</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Maximizes margins, handles complex spaces</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Slow on massive datasets</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Specialized text/biological classification</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890963675"/>
                  </a:ext>
                </a:extLst>
              </a:tr>
              <a:tr h="787856">
                <a:tc>
                  <a:txBody>
                    <a:bodyPr/>
                    <a:lstStyle/>
                    <a:p>
                      <a:pPr rtl="0">
                        <a:buNone/>
                      </a:pPr>
                      <a:r>
                        <a:rPr lang="en-IN" sz="1000" b="1">
                          <a:solidFill>
                            <a:srgbClr val="1F1F1F"/>
                          </a:solidFill>
                          <a:effectLst/>
                          <a:latin typeface="Google Sans Text"/>
                        </a:rPr>
                        <a:t>KNN</a:t>
                      </a:r>
                      <a:endParaRPr lang="en-IN" sz="1000">
                        <a:solidFill>
                          <a:srgbClr val="1F1F1F"/>
                        </a:solidFill>
                        <a:effectLst/>
                        <a:latin typeface="Google Sans Text"/>
                      </a:endParaRP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Supervised (Both)</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No training phase, highly intuitive</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Slow inference, scales poorly with features</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Localized recommendations</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467161280"/>
                  </a:ext>
                </a:extLst>
              </a:tr>
              <a:tr h="543349">
                <a:tc>
                  <a:txBody>
                    <a:bodyPr/>
                    <a:lstStyle/>
                    <a:p>
                      <a:pPr rtl="0">
                        <a:buNone/>
                      </a:pPr>
                      <a:r>
                        <a:rPr lang="en-IN" sz="1000" b="1">
                          <a:solidFill>
                            <a:srgbClr val="1F1F1F"/>
                          </a:solidFill>
                          <a:effectLst/>
                          <a:latin typeface="Google Sans Text"/>
                        </a:rPr>
                        <a:t>Naive Bayes</a:t>
                      </a:r>
                      <a:endParaRPr lang="en-IN" sz="1000">
                        <a:solidFill>
                          <a:srgbClr val="1F1F1F"/>
                        </a:solidFill>
                        <a:effectLst/>
                        <a:latin typeface="Google Sans Text"/>
                      </a:endParaRP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Supervised (Classification)</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Fast, works well with tiny training data</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Assumes features don't interact</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Spam filtering, quick sentiment analysis</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390660301"/>
                  </a:ext>
                </a:extLst>
              </a:tr>
              <a:tr h="543349">
                <a:tc>
                  <a:txBody>
                    <a:bodyPr/>
                    <a:lstStyle/>
                    <a:p>
                      <a:pPr rtl="0">
                        <a:buNone/>
                      </a:pPr>
                      <a:r>
                        <a:rPr lang="en-IN" sz="1000" b="1">
                          <a:solidFill>
                            <a:srgbClr val="1F1F1F"/>
                          </a:solidFill>
                          <a:effectLst/>
                          <a:latin typeface="Google Sans Text"/>
                        </a:rPr>
                        <a:t>Neural Networks</a:t>
                      </a:r>
                      <a:endParaRPr lang="en-IN" sz="1000">
                        <a:solidFill>
                          <a:srgbClr val="1F1F1F"/>
                        </a:solidFill>
                        <a:effectLst/>
                        <a:latin typeface="Google Sans Text"/>
                      </a:endParaRP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Supervised (Both)</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Unmatched power for unstructured data</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"Black Box", massive compute cost</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Computer Vision, Speech, NLP, GenAI</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428455211"/>
                  </a:ext>
                </a:extLst>
              </a:tr>
              <a:tr h="787856">
                <a:tc>
                  <a:txBody>
                    <a:bodyPr/>
                    <a:lstStyle/>
                    <a:p>
                      <a:pPr rtl="0">
                        <a:buNone/>
                      </a:pPr>
                      <a:r>
                        <a:rPr lang="en-IN" sz="1000" b="1">
                          <a:solidFill>
                            <a:srgbClr val="1F1F1F"/>
                          </a:solidFill>
                          <a:effectLst/>
                          <a:latin typeface="Google Sans Text"/>
                        </a:rPr>
                        <a:t>K-Means</a:t>
                      </a:r>
                      <a:endParaRPr lang="en-IN" sz="1000">
                        <a:solidFill>
                          <a:srgbClr val="1F1F1F"/>
                        </a:solidFill>
                        <a:effectLst/>
                        <a:latin typeface="Google Sans Text"/>
                      </a:endParaRP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Unsupervised (Clustering)</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Automatically finds hidden groupings</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Must guess $K$ value, sensitive to noise</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dirty="0">
                          <a:solidFill>
                            <a:srgbClr val="1F1F1F"/>
                          </a:solidFill>
                          <a:effectLst/>
                          <a:latin typeface="Google Sans Text"/>
                        </a:rPr>
                        <a:t>Customer profiling, anomaly detection</a:t>
                      </a:r>
                    </a:p>
                  </a:txBody>
                  <a:tcPr marL="26425" marR="26425" marT="17617" marB="1761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239377604"/>
                  </a:ext>
                </a:extLst>
              </a:tr>
            </a:tbl>
          </a:graphicData>
        </a:graphic>
      </p:graphicFrame>
    </p:spTree>
    <p:extLst>
      <p:ext uri="{BB962C8B-B14F-4D97-AF65-F5344CB8AC3E}">
        <p14:creationId xmlns:p14="http://schemas.microsoft.com/office/powerpoint/2010/main" val="172822075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49117C-AF13-7DB8-D819-EBAAFA78E9B3}"/>
              </a:ext>
            </a:extLst>
          </p:cNvPr>
          <p:cNvSpPr txBox="1"/>
          <p:nvPr/>
        </p:nvSpPr>
        <p:spPr>
          <a:xfrm>
            <a:off x="-71439" y="403682"/>
            <a:ext cx="11725275" cy="5940088"/>
          </a:xfrm>
          <a:prstGeom prst="rect">
            <a:avLst/>
          </a:prstGeom>
          <a:noFill/>
        </p:spPr>
        <p:txBody>
          <a:bodyPr wrap="square">
            <a:spAutoFit/>
          </a:bodyPr>
          <a:lstStyle/>
          <a:p>
            <a:pPr>
              <a:buNone/>
            </a:pPr>
            <a:r>
              <a:rPr lang="en-IN" b="1" dirty="0"/>
              <a:t>1. Classification (Predicting a Label / Category)</a:t>
            </a:r>
          </a:p>
          <a:p>
            <a:pPr marL="285750" indent="-285750">
              <a:spcBef>
                <a:spcPts val="1200"/>
              </a:spcBef>
              <a:buFont typeface="Wingdings" panose="05000000000000000000" pitchFamily="2" charset="2"/>
              <a:buChar char="ü"/>
            </a:pPr>
            <a:r>
              <a:rPr lang="en-IN" b="1" dirty="0"/>
              <a:t>The Goal: To assign data into distinct, discrete buckets or classes.</a:t>
            </a:r>
          </a:p>
          <a:p>
            <a:pPr marL="285750" indent="-285750">
              <a:spcBef>
                <a:spcPts val="1200"/>
              </a:spcBef>
              <a:buFont typeface="Wingdings" panose="05000000000000000000" pitchFamily="2" charset="2"/>
              <a:buChar char="ü"/>
            </a:pPr>
            <a:r>
              <a:rPr lang="en-IN" b="1" dirty="0"/>
              <a:t>The Output: A categorical choice (e.g., Yes/No, A/B/C, Spam/Not Spam).</a:t>
            </a:r>
          </a:p>
          <a:p>
            <a:pPr marL="285750" indent="-285750">
              <a:spcBef>
                <a:spcPts val="1200"/>
              </a:spcBef>
              <a:buFont typeface="Wingdings" panose="05000000000000000000" pitchFamily="2" charset="2"/>
              <a:buChar char="ü"/>
            </a:pPr>
            <a:r>
              <a:rPr lang="en-IN" b="1" dirty="0"/>
              <a:t>Core Algorithms: Logistic Regression, Decision Trees, Support Vector Machines (SVM), Naive Bayes, Random Forests, Neural Networks.</a:t>
            </a:r>
          </a:p>
          <a:p>
            <a:pPr marL="285750" indent="-285750">
              <a:spcBef>
                <a:spcPts val="1200"/>
              </a:spcBef>
              <a:buFont typeface="Wingdings" panose="05000000000000000000" pitchFamily="2" charset="2"/>
              <a:buChar char="ü"/>
            </a:pPr>
            <a:r>
              <a:rPr lang="en-IN" b="1" dirty="0"/>
              <a:t>Analogy: Sorting fruit into baskets </a:t>
            </a:r>
            <a:r>
              <a:rPr lang="en-IN" b="1" dirty="0" err="1"/>
              <a:t>labeled</a:t>
            </a:r>
            <a:r>
              <a:rPr lang="en-IN" b="1" dirty="0"/>
              <a:t> "Apples," "Oranges," or "Bananas.“</a:t>
            </a:r>
          </a:p>
          <a:p>
            <a:pPr marL="285750" indent="-285750">
              <a:spcBef>
                <a:spcPts val="1200"/>
              </a:spcBef>
              <a:buFont typeface="Wingdings" panose="05000000000000000000" pitchFamily="2" charset="2"/>
              <a:buChar char="ü"/>
            </a:pPr>
            <a:endParaRPr lang="en-IN" b="1" dirty="0"/>
          </a:p>
          <a:p>
            <a:pPr marL="285750" indent="-285750">
              <a:spcBef>
                <a:spcPts val="1200"/>
              </a:spcBef>
              <a:buFont typeface="Wingdings" panose="05000000000000000000" pitchFamily="2" charset="2"/>
              <a:buChar char="ü"/>
            </a:pPr>
            <a:endParaRPr lang="en-IN" b="1" dirty="0"/>
          </a:p>
          <a:p>
            <a:pPr marL="285750" indent="-285750">
              <a:spcBef>
                <a:spcPts val="1200"/>
              </a:spcBef>
              <a:buFont typeface="Wingdings" panose="05000000000000000000" pitchFamily="2" charset="2"/>
              <a:buChar char="ü"/>
            </a:pPr>
            <a:endParaRPr lang="en-IN" b="1" dirty="0"/>
          </a:p>
          <a:p>
            <a:pPr>
              <a:buNone/>
            </a:pPr>
            <a:r>
              <a:rPr lang="en-IN" b="1" dirty="0"/>
              <a:t>2. Regression (Predicting a Continuous Number)</a:t>
            </a:r>
          </a:p>
          <a:p>
            <a:pPr marL="285750" indent="-285750">
              <a:spcBef>
                <a:spcPts val="1200"/>
              </a:spcBef>
              <a:buFont typeface="Wingdings" panose="05000000000000000000" pitchFamily="2" charset="2"/>
              <a:buChar char="ü"/>
            </a:pPr>
            <a:r>
              <a:rPr lang="en-IN" b="1" dirty="0"/>
              <a:t>The Goal: To predict a specific mathematical value on a continuous scale.</a:t>
            </a:r>
          </a:p>
          <a:p>
            <a:pPr marL="285750" indent="-285750">
              <a:spcBef>
                <a:spcPts val="1200"/>
              </a:spcBef>
              <a:buFont typeface="Wingdings" panose="05000000000000000000" pitchFamily="2" charset="2"/>
              <a:buChar char="ü"/>
            </a:pPr>
            <a:r>
              <a:rPr lang="en-IN" b="1" dirty="0"/>
              <a:t>The Output: A real number (e.g., price, temperature, weight, time).</a:t>
            </a:r>
          </a:p>
          <a:p>
            <a:pPr marL="285750" indent="-285750">
              <a:spcBef>
                <a:spcPts val="1200"/>
              </a:spcBef>
              <a:buFont typeface="Wingdings" panose="05000000000000000000" pitchFamily="2" charset="2"/>
              <a:buChar char="ü"/>
            </a:pPr>
            <a:r>
              <a:rPr lang="en-IN" b="1" dirty="0"/>
              <a:t>Core Algorithms: Linear Regression, Decision Trees, Random Forests, Gradient Boosting (</a:t>
            </a:r>
            <a:r>
              <a:rPr lang="en-IN" b="1" dirty="0" err="1"/>
              <a:t>XGBoost</a:t>
            </a:r>
            <a:r>
              <a:rPr lang="en-IN" b="1" dirty="0"/>
              <a:t>), Support Vector Regression (SVR), Neural Networks.</a:t>
            </a:r>
          </a:p>
          <a:p>
            <a:pPr marL="285750" indent="-285750">
              <a:spcBef>
                <a:spcPts val="1200"/>
              </a:spcBef>
              <a:buFont typeface="Wingdings" panose="05000000000000000000" pitchFamily="2" charset="2"/>
              <a:buChar char="ü"/>
            </a:pPr>
            <a:r>
              <a:rPr lang="en-IN" b="1" dirty="0"/>
              <a:t>Analogy: Estimating the exact weight of a fruit in grams.</a:t>
            </a:r>
          </a:p>
        </p:txBody>
      </p:sp>
    </p:spTree>
    <p:extLst>
      <p:ext uri="{BB962C8B-B14F-4D97-AF65-F5344CB8AC3E}">
        <p14:creationId xmlns:p14="http://schemas.microsoft.com/office/powerpoint/2010/main" val="99697347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Model Performance: The primary factor, evaluated using metrics such as accuracy, precision, recall (for classification), or mean squared error (for regression).</a:t>
            </a:r>
          </a:p>
          <a:p>
            <a:endParaRPr lang="en-US" sz="2000"/>
          </a:p>
          <a:p>
            <a:r>
              <a:rPr lang="en-US" sz="2000"/>
              <a:t>• Data Characteristics: The nature of the data, including its size, dimensionality, and distribution, significantly influences algorithm suitability.</a:t>
            </a:r>
          </a:p>
          <a:p>
            <a:endParaRPr lang="en-US" sz="2000"/>
          </a:p>
          <a:p>
            <a:r>
              <a:rPr lang="en-US" sz="2000"/>
              <a:t>•   Some algorithms perform better on high-dimensional data, while others are more suitable for smaller datasets.</a:t>
            </a:r>
          </a:p>
          <a:p>
            <a:endParaRPr lang="en-US" sz="2000"/>
          </a:p>
          <a:p>
            <a:r>
              <a:rPr lang="en-US" sz="2000"/>
              <a:t>•   Thorough understanding of the dataset is crucial for making an informed choice.</a:t>
            </a:r>
          </a:p>
          <a:p>
            <a:endParaRPr lang="en-US" sz="2000"/>
          </a:p>
          <a:p>
            <a:r>
              <a:rPr lang="en-US" sz="2000"/>
              <a:t>•   There is no single "best" algorithm; the ideal choice is problem- and data-dependent.</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Choosing the Right Algorithm: Factors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85783674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374106" y="1441072"/>
            <a:ext cx="11132094"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Computational Resources: Availability of CPU, GPU, and memory can restrict algorithm selection, as some models (e.g., deep learning) are computationally intensive.</a:t>
            </a:r>
          </a:p>
          <a:p>
            <a:endParaRPr lang="en-US" sz="2000" dirty="0"/>
          </a:p>
          <a:p>
            <a:r>
              <a:rPr lang="en-US" sz="2000" dirty="0"/>
              <a:t>• Interpretability: For applications requiring transparency, algorithms that offer understandable decision-making processes (e.g., Decision Trees, Linear Regression) are preferred.</a:t>
            </a:r>
          </a:p>
          <a:p>
            <a:endParaRPr lang="en-US" sz="2000" dirty="0"/>
          </a:p>
          <a:p>
            <a:r>
              <a:rPr lang="en-US" sz="2000" dirty="0"/>
              <a:t>• Robustness: This refers to an algorithm's ability to maintain performance in the presence of noisy or missing data. Random Forest and SVM are noted for their robustness.</a:t>
            </a:r>
          </a:p>
          <a:p>
            <a:endParaRPr lang="en-US" sz="2000" dirty="0"/>
          </a:p>
          <a:p>
            <a:r>
              <a:rPr lang="en-US" sz="2000" dirty="0"/>
              <a:t>•   Balancing these factors leads to effective, practical, and justifiable machine learning solutions.</a:t>
            </a:r>
          </a:p>
          <a:p>
            <a:endParaRPr lang="en-US" sz="2000" dirty="0"/>
          </a:p>
          <a:p>
            <a:r>
              <a:rPr lang="en-US" sz="2000" dirty="0"/>
              <a:t>•   Careful consideration across these dimensions is key to successful model deployment.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Choosing the Right Algorithm: Considerations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41132411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 Which of the following best describes the fundamental characteristic of data used in supervised learning?</a:t>
            </a:r>
          </a:p>
          <a:p>
            <a:r>
              <a:rPr lang="en-US" sz="2000"/>
              <a:t>A) Data consists of features with no predefined categories.</a:t>
            </a:r>
          </a:p>
          <a:p>
            <a:r>
              <a:rPr lang="en-US" sz="2000"/>
              <a:t>B) Data includes only numerical values without associated labels.</a:t>
            </a:r>
          </a:p>
          <a:p>
            <a:r>
              <a:rPr lang="en-US" sz="2000"/>
              <a:t>C) Data is labeled, meaning each input is paired with a known target output.</a:t>
            </a:r>
          </a:p>
          <a:p>
            <a:r>
              <a:rPr lang="en-US" sz="2000"/>
              <a:t>D) Data is collected through real-time interaction with an environment.</a:t>
            </a:r>
          </a:p>
          <a:p>
            <a:endParaRPr lang="en-US" sz="2000" dirty="0"/>
          </a:p>
        </p:txBody>
      </p:sp>
    </p:spTree>
    <p:extLst>
      <p:ext uri="{BB962C8B-B14F-4D97-AF65-F5344CB8AC3E}">
        <p14:creationId xmlns:p14="http://schemas.microsoft.com/office/powerpoint/2010/main" val="407530117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 Which of the following best describes the fundamental characteristic of data used in supervised learning?</a:t>
            </a:r>
          </a:p>
          <a:p>
            <a:r>
              <a:rPr lang="en-US" sz="2000"/>
              <a:t>A) Data consists of features with no predefined categories.</a:t>
            </a:r>
          </a:p>
          <a:p>
            <a:r>
              <a:rPr lang="en-US" sz="2000"/>
              <a:t>B) Data includes only numerical values without associated labels.</a:t>
            </a:r>
          </a:p>
          <a:p>
            <a:r>
              <a:rPr lang="en-US" sz="2000"/>
              <a:t>C) Data is labeled, meaning each input is paired with a known target output.</a:t>
            </a:r>
          </a:p>
          <a:p>
            <a:r>
              <a:rPr lang="en-US" sz="2000"/>
              <a:t>D) Data is collected through real-time interaction with an environment.</a:t>
            </a:r>
          </a:p>
          <a:p>
            <a:endParaRPr lang="en-US" sz="2000"/>
          </a:p>
          <a:p>
            <a:endParaRPr lang="en-US" sz="2000"/>
          </a:p>
          <a:p>
            <a:r>
              <a:rPr lang="en-US" sz="2000" b="1"/>
              <a:t>Correct Answer: C) Data is labeled, meaning each input is paired with a known target output.</a:t>
            </a:r>
          </a:p>
          <a:p>
            <a:r>
              <a:rPr lang="en-US" sz="2000" b="1"/>
              <a:t>Explanation: Supervised learning explicitly requires labeled data, where the correct output for each input is known, allowing the model to learn the mapping function. Options A, B, and D describe characteristics of unsupervised or reinforcement learning, or incomplete descriptions.</a:t>
            </a:r>
          </a:p>
          <a:p>
            <a:endParaRPr lang="en-US" sz="2000" b="1"/>
          </a:p>
          <a:p>
            <a:endParaRPr lang="en-US" sz="2000" dirty="0"/>
          </a:p>
        </p:txBody>
      </p:sp>
    </p:spTree>
    <p:extLst>
      <p:ext uri="{BB962C8B-B14F-4D97-AF65-F5344CB8AC3E}">
        <p14:creationId xmlns:p14="http://schemas.microsoft.com/office/powerpoint/2010/main" val="149661588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 A financial institution wants to develop a model to predict the credit score (a numerical value between 300 and 850) of loan applicants based on their financial history. What type of supervised learning task is this, and which algorithm could be a suitable initial choice?</a:t>
            </a:r>
          </a:p>
          <a:p>
            <a:r>
              <a:rPr lang="en-US" sz="2000"/>
              <a:t>A) Classification; Decision Tree</a:t>
            </a:r>
          </a:p>
          <a:p>
            <a:r>
              <a:rPr lang="en-US" sz="2000"/>
              <a:t>B) Regression; Linear Regression</a:t>
            </a:r>
          </a:p>
          <a:p>
            <a:r>
              <a:rPr lang="en-US" sz="2000"/>
              <a:t>C) Classification; Support Vector Machine</a:t>
            </a:r>
          </a:p>
          <a:p>
            <a:r>
              <a:rPr lang="en-US" sz="2000"/>
              <a:t>D) Regression; k-Nearest Neighbors (KNN)</a:t>
            </a:r>
          </a:p>
          <a:p>
            <a:endParaRPr lang="en-US" sz="2000" dirty="0"/>
          </a:p>
        </p:txBody>
      </p:sp>
    </p:spTree>
    <p:extLst>
      <p:ext uri="{BB962C8B-B14F-4D97-AF65-F5344CB8AC3E}">
        <p14:creationId xmlns:p14="http://schemas.microsoft.com/office/powerpoint/2010/main" val="238457714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lnSpcReduction="10000"/>
          </a:bodyPr>
          <a:lstStyle/>
          <a:p>
            <a:r>
              <a:rPr lang="en-US" sz="2000"/>
              <a:t>Question 2: A financial institution wants to develop a model to predict the credit score (a numerical value between 300 and 850) of loan applicants based on their financial history. What type of supervised learning task is this, and which algorithm could be a suitable initial choice?</a:t>
            </a:r>
          </a:p>
          <a:p>
            <a:r>
              <a:rPr lang="en-US" sz="2000"/>
              <a:t>A) Classification; Decision Tree</a:t>
            </a:r>
          </a:p>
          <a:p>
            <a:r>
              <a:rPr lang="en-US" sz="2000"/>
              <a:t>B) Regression; Linear Regression</a:t>
            </a:r>
          </a:p>
          <a:p>
            <a:r>
              <a:rPr lang="en-US" sz="2000"/>
              <a:t>C) Classification; Support Vector Machine</a:t>
            </a:r>
          </a:p>
          <a:p>
            <a:r>
              <a:rPr lang="en-US" sz="2000"/>
              <a:t>D) Regression; k-Nearest Neighbors (KNN)</a:t>
            </a:r>
          </a:p>
          <a:p>
            <a:endParaRPr lang="en-US" sz="2000"/>
          </a:p>
          <a:p>
            <a:endParaRPr lang="en-US" sz="2000"/>
          </a:p>
          <a:p>
            <a:r>
              <a:rPr lang="en-US" sz="2000" b="1"/>
              <a:t>Correct Answer: B) Regression; Linear Regression</a:t>
            </a:r>
          </a:p>
          <a:p>
            <a:r>
              <a:rPr lang="en-US" sz="2000" b="1"/>
              <a:t>Explanation: Predicting a credit score, which is a continuous numerical value, is a regression task. Linear Regression is a fundamental algorithm for such tasks, assuming a linear relationship between input features and the target. Decision Trees and SVM are primarily associated with classification, and while KNN can do regression, Linear Regression is a more direct fit for predicting a continuous score.</a:t>
            </a:r>
          </a:p>
          <a:p>
            <a:endParaRPr lang="en-US" sz="2000" b="1"/>
          </a:p>
          <a:p>
            <a:endParaRPr lang="en-US" sz="2000" dirty="0"/>
          </a:p>
        </p:txBody>
      </p:sp>
    </p:spTree>
    <p:extLst>
      <p:ext uri="{BB962C8B-B14F-4D97-AF65-F5344CB8AC3E}">
        <p14:creationId xmlns:p14="http://schemas.microsoft.com/office/powerpoint/2010/main" val="8131613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3: In the context of evaluating supervised learning algorithms, if a model's decision-making process needs to be clearly understood and explained to stakeholders (e.g., in medical diagnosis), which factor would be prioritized?</a:t>
            </a:r>
          </a:p>
          <a:p>
            <a:r>
              <a:rPr lang="en-US" sz="2000"/>
              <a:t>A) Computational Resources</a:t>
            </a:r>
          </a:p>
          <a:p>
            <a:r>
              <a:rPr lang="en-US" sz="2000"/>
              <a:t>B) Robustness</a:t>
            </a:r>
          </a:p>
          <a:p>
            <a:r>
              <a:rPr lang="en-US" sz="2000"/>
              <a:t>C) Interpretability</a:t>
            </a:r>
          </a:p>
          <a:p>
            <a:r>
              <a:rPr lang="en-US" sz="2000"/>
              <a:t>D) Data Characteristics</a:t>
            </a:r>
          </a:p>
          <a:p>
            <a:endParaRPr lang="en-US" sz="2000" dirty="0"/>
          </a:p>
        </p:txBody>
      </p:sp>
    </p:spTree>
    <p:extLst>
      <p:ext uri="{BB962C8B-B14F-4D97-AF65-F5344CB8AC3E}">
        <p14:creationId xmlns:p14="http://schemas.microsoft.com/office/powerpoint/2010/main" val="362355326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dirty="0"/>
              <a:t>Question 3: In the context of evaluating supervised learning algorithms, if a model's decision-making process needs to be clearly understood and explained to stakeholders (e.g., in medical diagnosis), which factor would be prioritized?</a:t>
            </a:r>
          </a:p>
          <a:p>
            <a:r>
              <a:rPr lang="en-US" sz="2000" dirty="0"/>
              <a:t>A) Computational Resources</a:t>
            </a:r>
          </a:p>
          <a:p>
            <a:r>
              <a:rPr lang="en-US" sz="2000" dirty="0"/>
              <a:t>B) Robustness</a:t>
            </a:r>
          </a:p>
          <a:p>
            <a:r>
              <a:rPr lang="en-US" sz="2000" dirty="0"/>
              <a:t>C) Interpretability</a:t>
            </a:r>
          </a:p>
          <a:p>
            <a:r>
              <a:rPr lang="en-US" sz="2000" dirty="0"/>
              <a:t>D) Data Characteristics</a:t>
            </a:r>
          </a:p>
          <a:p>
            <a:endParaRPr lang="en-US" sz="2000" dirty="0"/>
          </a:p>
          <a:p>
            <a:endParaRPr lang="en-US" sz="2000" dirty="0"/>
          </a:p>
          <a:p>
            <a:r>
              <a:rPr lang="en-US" sz="2000" b="1" dirty="0"/>
              <a:t>Correct Answer: C) Interpretability</a:t>
            </a:r>
          </a:p>
          <a:p>
            <a:r>
              <a:rPr lang="en-US" sz="2000" b="1" dirty="0"/>
              <a:t>Explanation: Interpretability refers to how transparent and understandable a model's decision-making process is. In fields like medical diagnosis or finance, being able to explain why a specific prediction was made is crucial, making interpretability a top priority. The other factors are important but do not directly address the need for understanding the "why" behind predictions.</a:t>
            </a:r>
          </a:p>
          <a:p>
            <a:endParaRPr lang="en-US" sz="2000" b="1" dirty="0"/>
          </a:p>
          <a:p>
            <a:endParaRPr lang="en-US" sz="2000" dirty="0"/>
          </a:p>
        </p:txBody>
      </p:sp>
    </p:spTree>
    <p:extLst>
      <p:ext uri="{BB962C8B-B14F-4D97-AF65-F5344CB8AC3E}">
        <p14:creationId xmlns:p14="http://schemas.microsoft.com/office/powerpoint/2010/main" val="280167195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4: A supervised learning model is being developed to distinguish between benign and malignant tumors based on patient data. This involves assigning each case to one of two distinct categories. Which of the following algorithms is not typically used for such a classification task?</a:t>
            </a:r>
          </a:p>
          <a:p>
            <a:r>
              <a:rPr lang="en-US" sz="2000"/>
              <a:t>A) Decision Trees</a:t>
            </a:r>
          </a:p>
          <a:p>
            <a:r>
              <a:rPr lang="en-US" sz="2000"/>
              <a:t>B) Support Vector Machines (SVM)</a:t>
            </a:r>
          </a:p>
          <a:p>
            <a:r>
              <a:rPr lang="en-US" sz="2000"/>
              <a:t>C) Linear Regression</a:t>
            </a:r>
          </a:p>
          <a:p>
            <a:r>
              <a:rPr lang="en-US" sz="2000"/>
              <a:t>D) Neural Networks</a:t>
            </a:r>
          </a:p>
          <a:p>
            <a:endParaRPr lang="en-US" sz="2000" dirty="0"/>
          </a:p>
        </p:txBody>
      </p:sp>
    </p:spTree>
    <p:extLst>
      <p:ext uri="{BB962C8B-B14F-4D97-AF65-F5344CB8AC3E}">
        <p14:creationId xmlns:p14="http://schemas.microsoft.com/office/powerpoint/2010/main" val="42730584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dirty="0"/>
              <a:t>Question 4: A supervised learning model is being developed to distinguish between benign and malignant tumors based on patient data. This involves assigning each case to one of two distinct categories. Which of the following algorithms is not typically used for such a classification task?</a:t>
            </a:r>
          </a:p>
          <a:p>
            <a:r>
              <a:rPr lang="en-US" sz="2000" dirty="0"/>
              <a:t>A) Decision Trees</a:t>
            </a:r>
          </a:p>
          <a:p>
            <a:r>
              <a:rPr lang="en-US" sz="2000" dirty="0"/>
              <a:t>B) Support Vector Machines (SVM)</a:t>
            </a:r>
          </a:p>
          <a:p>
            <a:r>
              <a:rPr lang="en-US" sz="2000" dirty="0"/>
              <a:t>C) Linear Regression</a:t>
            </a:r>
          </a:p>
          <a:p>
            <a:r>
              <a:rPr lang="en-US" sz="2000" dirty="0"/>
              <a:t>D) Neural Networks</a:t>
            </a:r>
          </a:p>
          <a:p>
            <a:endParaRPr lang="en-US" sz="2000" dirty="0"/>
          </a:p>
          <a:p>
            <a:endParaRPr lang="en-US" sz="2000" dirty="0"/>
          </a:p>
          <a:p>
            <a:r>
              <a:rPr lang="en-US" sz="2000" b="1" dirty="0"/>
              <a:t>Correct Answer: C) Linear Regression</a:t>
            </a:r>
          </a:p>
          <a:p>
            <a:r>
              <a:rPr lang="en-US" sz="2000" b="1" dirty="0"/>
              <a:t>Explanation: Linear Regression is a regression algorithm designed to predict continuous numerical values. Classification tasks, like distinguishing between benign and malignant tumors, require algorithms that predict categorical outcomes. Decision Trees, SVM, and Neural Networks are all common algorithms used for classification.</a:t>
            </a:r>
          </a:p>
          <a:p>
            <a:endParaRPr lang="en-US" sz="2000" b="1" dirty="0"/>
          </a:p>
          <a:p>
            <a:endParaRPr lang="en-US" sz="2000" dirty="0"/>
          </a:p>
        </p:txBody>
      </p:sp>
    </p:spTree>
    <p:extLst>
      <p:ext uri="{BB962C8B-B14F-4D97-AF65-F5344CB8AC3E}">
        <p14:creationId xmlns:p14="http://schemas.microsoft.com/office/powerpoint/2010/main" val="64647283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 A company is building a spam email detector. They have a dataset of millions of emails, many of which are unlabeled, but a smaller subset has been manually labeled as 'spam' or 'not spam'. If the goal is to make use of both labeled and unlabeled data for training, which learning paradigm would involve combining supervised and unsupervised elements, but is not the focus of section 2.1?</a:t>
            </a:r>
          </a:p>
          <a:p>
            <a:r>
              <a:rPr lang="en-US" sz="2000"/>
              <a:t>A) Supervised Learning</a:t>
            </a:r>
          </a:p>
          <a:p>
            <a:r>
              <a:rPr lang="en-US" sz="2000"/>
              <a:t>B) Unsupervised Learning</a:t>
            </a:r>
          </a:p>
          <a:p>
            <a:r>
              <a:rPr lang="en-US" sz="2000"/>
              <a:t>C) Reinforcement Learning</a:t>
            </a:r>
          </a:p>
          <a:p>
            <a:r>
              <a:rPr lang="en-US" sz="2000"/>
              <a:t>D) Semi-Supervised Learning</a:t>
            </a:r>
          </a:p>
          <a:p>
            <a:endParaRPr lang="en-US" sz="2000" dirty="0"/>
          </a:p>
        </p:txBody>
      </p:sp>
    </p:spTree>
    <p:extLst>
      <p:ext uri="{BB962C8B-B14F-4D97-AF65-F5344CB8AC3E}">
        <p14:creationId xmlns:p14="http://schemas.microsoft.com/office/powerpoint/2010/main" val="24676188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a:bodyPr>
          <a:lstStyle/>
          <a:p>
            <a:r>
              <a:rPr lang="en-US" sz="2000"/>
              <a:t>Question 5: A company is building a spam email detector. They have a dataset of millions of emails, many of which are unlabeled, but a smaller subset has been manually labeled as 'spam' or 'not spam'. If the goal is to make use of both labeled and unlabeled data for training, which learning paradigm would involve combining supervised and unsupervised elements, but is not the focus of section 2.1?</a:t>
            </a:r>
          </a:p>
          <a:p>
            <a:r>
              <a:rPr lang="en-US" sz="2000"/>
              <a:t>A) Supervised Learning</a:t>
            </a:r>
          </a:p>
          <a:p>
            <a:r>
              <a:rPr lang="en-US" sz="2000"/>
              <a:t>B) Unsupervised Learning</a:t>
            </a:r>
          </a:p>
          <a:p>
            <a:r>
              <a:rPr lang="en-US" sz="2000"/>
              <a:t>C) Reinforcement Learning</a:t>
            </a:r>
          </a:p>
          <a:p>
            <a:r>
              <a:rPr lang="en-US" sz="2000"/>
              <a:t>D) Semi-Supervised Learning</a:t>
            </a:r>
          </a:p>
          <a:p>
            <a:endParaRPr lang="en-US" sz="2000"/>
          </a:p>
          <a:p>
            <a:endParaRPr lang="en-US" sz="2000"/>
          </a:p>
          <a:p>
            <a:r>
              <a:rPr lang="en-US" sz="2000" b="1"/>
              <a:t>Correct Answer: D) Semi-Supervised Learning</a:t>
            </a:r>
          </a:p>
          <a:p>
            <a:r>
              <a:rPr lang="en-US" sz="2000" b="1"/>
              <a:t>Explanation: While section 2.1 focuses only on Supervised Learning, the question asks about a paradigm that combines labeled and unlabeled data, making Semi-Supervised Learning the correct answer. Standard Supervised Learning relies solely on labeled data, Unsupervised Learning on unlabeled data, and Reinforcement Learning is a different paradigm altogether.</a:t>
            </a:r>
          </a:p>
          <a:p>
            <a:endParaRPr lang="en-US" sz="2000" b="1"/>
          </a:p>
          <a:p>
            <a:endParaRPr lang="en-US" sz="2000" dirty="0"/>
          </a:p>
        </p:txBody>
      </p:sp>
    </p:spTree>
    <p:extLst>
      <p:ext uri="{BB962C8B-B14F-4D97-AF65-F5344CB8AC3E}">
        <p14:creationId xmlns:p14="http://schemas.microsoft.com/office/powerpoint/2010/main" val="156793325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6: When selecting a supervised learning algorithm, considering whether it performs well in the presence of missing or incorrect input values relates to which factor?</a:t>
            </a:r>
          </a:p>
          <a:p>
            <a:r>
              <a:rPr lang="en-US" sz="2000"/>
              <a:t>A) Model Performance</a:t>
            </a:r>
          </a:p>
          <a:p>
            <a:r>
              <a:rPr lang="en-US" sz="2000"/>
              <a:t>B) Interpretability</a:t>
            </a:r>
          </a:p>
          <a:p>
            <a:r>
              <a:rPr lang="en-US" sz="2000"/>
              <a:t>C) Robustness</a:t>
            </a:r>
          </a:p>
          <a:p>
            <a:r>
              <a:rPr lang="en-US" sz="2000"/>
              <a:t>D) Computational Resources</a:t>
            </a:r>
          </a:p>
          <a:p>
            <a:endParaRPr lang="en-US" sz="2000" dirty="0"/>
          </a:p>
        </p:txBody>
      </p:sp>
    </p:spTree>
    <p:extLst>
      <p:ext uri="{BB962C8B-B14F-4D97-AF65-F5344CB8AC3E}">
        <p14:creationId xmlns:p14="http://schemas.microsoft.com/office/powerpoint/2010/main" val="128575379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6: When selecting a supervised learning algorithm, considering whether it performs well in the presence of missing or incorrect input values relates to which factor?</a:t>
            </a:r>
          </a:p>
          <a:p>
            <a:r>
              <a:rPr lang="en-US" sz="2000"/>
              <a:t>A) Model Performance</a:t>
            </a:r>
          </a:p>
          <a:p>
            <a:r>
              <a:rPr lang="en-US" sz="2000"/>
              <a:t>B) Interpretability</a:t>
            </a:r>
          </a:p>
          <a:p>
            <a:r>
              <a:rPr lang="en-US" sz="2000"/>
              <a:t>C) Robustness</a:t>
            </a:r>
          </a:p>
          <a:p>
            <a:r>
              <a:rPr lang="en-US" sz="2000"/>
              <a:t>D) Computational Resources</a:t>
            </a:r>
          </a:p>
          <a:p>
            <a:endParaRPr lang="en-US" sz="2000"/>
          </a:p>
          <a:p>
            <a:endParaRPr lang="en-US" sz="2000"/>
          </a:p>
          <a:p>
            <a:r>
              <a:rPr lang="en-US" sz="2000" b="1"/>
              <a:t>Correct Answer: C) Robustness</a:t>
            </a:r>
          </a:p>
          <a:p>
            <a:r>
              <a:rPr lang="en-US" sz="2000" b="1"/>
              <a:t>Explanation: Robustness refers to how well an algorithm maintains its performance and accuracy when dealing with imperfections in the data, such as noise or missing values. Algorithms known for good robustness can handle such issues better, making them more reliable in real-world scenarios.</a:t>
            </a:r>
          </a:p>
          <a:p>
            <a:endParaRPr lang="en-US" sz="2000" b="1"/>
          </a:p>
          <a:p>
            <a:endParaRPr lang="en-US" sz="2000" dirty="0"/>
          </a:p>
        </p:txBody>
      </p:sp>
    </p:spTree>
    <p:extLst>
      <p:ext uri="{BB962C8B-B14F-4D97-AF65-F5344CB8AC3E}">
        <p14:creationId xmlns:p14="http://schemas.microsoft.com/office/powerpoint/2010/main" val="361679959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7: A data scientist is working on a project to automatically classify news articles into predefined topics (e.g., 'Politics', 'Sports', 'Technology'). They have a large dataset of articles, each with a known topic label. Which supervised learning task and a commonly associated algorithm would be most appropriate for this problem?</a:t>
            </a:r>
          </a:p>
          <a:p>
            <a:r>
              <a:rPr lang="en-US" sz="2000"/>
              <a:t>A) Regression; Random Forest Regression</a:t>
            </a:r>
          </a:p>
          <a:p>
            <a:r>
              <a:rPr lang="en-US" sz="2000"/>
              <a:t>B) Classification; Naive Bayes</a:t>
            </a:r>
          </a:p>
          <a:p>
            <a:r>
              <a:rPr lang="en-US" sz="2000"/>
              <a:t>C) Clustering; K-Means</a:t>
            </a:r>
          </a:p>
          <a:p>
            <a:r>
              <a:rPr lang="en-US" sz="2000"/>
              <a:t>D) Dimensionality Reduction; PCA</a:t>
            </a:r>
          </a:p>
          <a:p>
            <a:endParaRPr lang="en-US" sz="2000" dirty="0"/>
          </a:p>
        </p:txBody>
      </p:sp>
    </p:spTree>
    <p:extLst>
      <p:ext uri="{BB962C8B-B14F-4D97-AF65-F5344CB8AC3E}">
        <p14:creationId xmlns:p14="http://schemas.microsoft.com/office/powerpoint/2010/main" val="189926145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lnSpcReduction="10000"/>
          </a:bodyPr>
          <a:lstStyle/>
          <a:p>
            <a:r>
              <a:rPr lang="en-US" sz="2000"/>
              <a:t>Question 7: A data scientist is working on a project to automatically classify news articles into predefined topics (e.g., 'Politics', 'Sports', 'Technology'). They have a large dataset of articles, each with a known topic label. Which supervised learning task and a commonly associated algorithm would be most appropriate for this problem?</a:t>
            </a:r>
          </a:p>
          <a:p>
            <a:r>
              <a:rPr lang="en-US" sz="2000"/>
              <a:t>A) Regression; Random Forest Regression</a:t>
            </a:r>
          </a:p>
          <a:p>
            <a:r>
              <a:rPr lang="en-US" sz="2000"/>
              <a:t>B) Classification; Naive Bayes</a:t>
            </a:r>
          </a:p>
          <a:p>
            <a:r>
              <a:rPr lang="en-US" sz="2000"/>
              <a:t>C) Clustering; K-Means</a:t>
            </a:r>
          </a:p>
          <a:p>
            <a:r>
              <a:rPr lang="en-US" sz="2000"/>
              <a:t>D) Dimensionality Reduction; PCA</a:t>
            </a:r>
          </a:p>
          <a:p>
            <a:endParaRPr lang="en-US" sz="2000"/>
          </a:p>
          <a:p>
            <a:endParaRPr lang="en-US" sz="2000"/>
          </a:p>
          <a:p>
            <a:r>
              <a:rPr lang="en-US" sz="2000" b="1"/>
              <a:t>Correct Answer: B) Classification; Naive Bayes</a:t>
            </a:r>
          </a:p>
          <a:p>
            <a:r>
              <a:rPr lang="en-US" sz="2000" b="1"/>
              <a:t>Explanation: Classifying news articles into predefined topics is a classification task, as the output is a categorical label. Naive Bayes is explicitly mentioned as being particularly suitable for text classification tasks, such as sentiment analysis and spam detection, which are similar in nature to topic classification for news articles. Regression, Clustering, and Dimensionality Reduction are different types of tasks.</a:t>
            </a:r>
          </a:p>
          <a:p>
            <a:endParaRPr lang="en-US" sz="2000" b="1"/>
          </a:p>
          <a:p>
            <a:endParaRPr lang="en-US" sz="2000" dirty="0"/>
          </a:p>
        </p:txBody>
      </p:sp>
    </p:spTree>
    <p:extLst>
      <p:ext uri="{BB962C8B-B14F-4D97-AF65-F5344CB8AC3E}">
        <p14:creationId xmlns:p14="http://schemas.microsoft.com/office/powerpoint/2010/main" val="14141514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A new e-commerce startup, "</a:t>
            </a:r>
            <a:r>
              <a:rPr lang="en-US" sz="2000" dirty="0" err="1"/>
              <a:t>TrendFinds</a:t>
            </a:r>
            <a:r>
              <a:rPr lang="en-US" sz="2000" dirty="0"/>
              <a:t>," wants to personalize the user experience on its website. Specifically, they have two immediate goals:</a:t>
            </a:r>
          </a:p>
          <a:p>
            <a:endParaRPr lang="en-US" sz="2000" dirty="0"/>
          </a:p>
          <a:p>
            <a:r>
              <a:rPr lang="en-US" sz="2000" dirty="0"/>
              <a:t>1.  Product Recommendation: When a user visits a product page, </a:t>
            </a:r>
            <a:r>
              <a:rPr lang="en-US" sz="2000" dirty="0" err="1"/>
              <a:t>TrendFinds</a:t>
            </a:r>
            <a:r>
              <a:rPr lang="en-US" sz="2000" dirty="0"/>
              <a:t> wants to suggest a price range for similar, complementary items based on the current product's features (e.g., if a user views a high-end dress, suggest shoes in a matching premium price range).</a:t>
            </a:r>
          </a:p>
          <a:p>
            <a:r>
              <a:rPr lang="en-US" sz="2000" dirty="0"/>
              <a:t>2.  Product Categorization: When new products are added to their inventory, the system needs to automatically assign them to one of their existing main product categories (e.g., "Apparel," "Electronics," "Home Goods," "Beauty"). They have a large historical dataset of products with their correct categories.</a:t>
            </a:r>
          </a:p>
          <a:p>
            <a:endParaRPr lang="en-US" sz="2000" dirty="0"/>
          </a:p>
          <a:p>
            <a:r>
              <a:rPr lang="en-US" sz="2000" dirty="0"/>
              <a:t>Identify the appropriate supervised learning task for each of </a:t>
            </a:r>
            <a:r>
              <a:rPr lang="en-US" sz="2000" dirty="0" err="1"/>
              <a:t>TrendFinds</a:t>
            </a:r>
            <a:r>
              <a:rPr lang="en-US" sz="2000" dirty="0"/>
              <a:t>' goals and suggest one suitable algorithm for each task, briefly justifying your choices based on the principles of supervised learning.</a:t>
            </a:r>
          </a:p>
          <a:p>
            <a:endParaRPr lang="en-US" sz="2000" dirty="0"/>
          </a:p>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177065666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fontScale="70000" lnSpcReduction="20000"/>
          </a:bodyPr>
          <a:lstStyle/>
          <a:p>
            <a:r>
              <a:rPr lang="en-US" sz="2000"/>
              <a:t>Solution:</a:t>
            </a:r>
          </a:p>
          <a:p>
            <a:endParaRPr lang="en-US" sz="2000"/>
          </a:p>
          <a:p>
            <a:endParaRPr lang="en-US" sz="2000"/>
          </a:p>
          <a:p>
            <a:r>
              <a:rPr lang="en-US" sz="2000"/>
              <a:t>Goal 1: Product Recommendation (Price Range Suggestion)</a:t>
            </a:r>
          </a:p>
          <a:p>
            <a:endParaRPr lang="en-US" sz="2000"/>
          </a:p>
          <a:p>
            <a:r>
              <a:rPr lang="en-US" sz="2000"/>
              <a:t>Supervised Learning Task: Regression</a:t>
            </a:r>
          </a:p>
          <a:p>
            <a:r>
              <a:rPr lang="en-US" sz="2000"/>
              <a:t>Justification: The task involves predicting a "price range," which signifies a continuous numerical output (or a range defined by continuous numbers). Regression models are specifically designed to forecast such continuous values.</a:t>
            </a:r>
          </a:p>
          <a:p>
            <a:r>
              <a:rPr lang="en-US" sz="2000"/>
              <a:t>Suitable Algorithm: Linear Regression or Random Forest Regression.</a:t>
            </a:r>
          </a:p>
          <a:p>
            <a:r>
              <a:rPr lang="en-US" sz="2000"/>
              <a:t>Linear Regression: A suitable initial choice if the relationship between product features and price is assumed to be roughly linear, offering simplicity and interpretability.</a:t>
            </a:r>
          </a:p>
          <a:p>
            <a:r>
              <a:rPr lang="en-US" sz="2000"/>
              <a:t>Random Forest Regression: A more robust option if the relationship is complex and non-linear, as it leverages an ensemble of decision trees to capture intricate patterns and is less prone to overfitting than a single tree.</a:t>
            </a:r>
          </a:p>
          <a:p>
            <a:endParaRPr lang="en-US" sz="2000"/>
          </a:p>
          <a:p>
            <a:r>
              <a:rPr lang="en-US" sz="2000"/>
              <a:t>Goal 2: Product Categorization</a:t>
            </a:r>
          </a:p>
          <a:p>
            <a:endParaRPr lang="en-US" sz="2000"/>
          </a:p>
          <a:p>
            <a:r>
              <a:rPr lang="en-US" sz="2000"/>
              <a:t>Supervised Learning Task: Classification</a:t>
            </a:r>
          </a:p>
          <a:p>
            <a:r>
              <a:rPr lang="en-US" sz="2000"/>
              <a:t>Justification: This goal requires assigning new products to one of several predefined, distinct categories ("Apparel," "Electronics," etc.). This is a classic classification problem where the model learns to predict a categorical label. The availability of a large historical dataset with correct categories makes supervised classification the ideal approach.</a:t>
            </a:r>
          </a:p>
          <a:p>
            <a:r>
              <a:rPr lang="en-US" sz="2000"/>
              <a:t>Suitable Algorithm: Decision Trees or Support Vector Machines (SVM).</a:t>
            </a:r>
          </a:p>
          <a:p>
            <a:r>
              <a:rPr lang="en-US" sz="2000"/>
              <a:t>Decision Trees: They are highly interpretable and can effectively handle various product features (both numerical and categorical). They create clear rules for categorization.</a:t>
            </a:r>
          </a:p>
          <a:p>
            <a:r>
              <a:rPr lang="en-US" sz="2000"/>
              <a:t>Support Vector Machines (SVM): Excellent for distinguishing between different product categories, especially when the data might have complex, non-linear boundaries between categories through the use of kernel functions.</a:t>
            </a:r>
          </a:p>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82028911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Session Summary</a:t>
            </a:r>
            <a:endParaRPr lang="en-US" sz="2800" b="1" dirty="0">
              <a:solidFill>
                <a:srgbClr val="D9212B"/>
              </a:solidFill>
            </a:endParaRPr>
          </a:p>
        </p:txBody>
      </p:sp>
      <p:sp>
        <p:nvSpPr>
          <p:cNvPr id="5" name="Google Shape;135;p9"/>
          <p:cNvSpPr txBox="1"/>
          <p:nvPr/>
        </p:nvSpPr>
        <p:spPr>
          <a:xfrm>
            <a:off x="715540" y="1569935"/>
            <a:ext cx="10412708" cy="3219815"/>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Understanding the fundamental concepts of supervised learning.</a:t>
            </a:r>
          </a:p>
          <a:p>
            <a:pPr>
              <a:lnSpc>
                <a:spcPct val="115000"/>
              </a:lnSpc>
              <a:spcAft>
                <a:spcPts val="1000"/>
              </a:spcAft>
            </a:pPr>
            <a:r>
              <a:rPr lang="en-US" dirty="0">
                <a:latin typeface=""/>
                <a:ea typeface="Times New Roman"/>
                <a:cs typeface="Times New Roman"/>
              </a:rPr>
              <a:t>•   Exploration of the different types of supervised learning algorithms and their applications.</a:t>
            </a:r>
          </a:p>
          <a:p>
            <a:pPr>
              <a:lnSpc>
                <a:spcPct val="115000"/>
              </a:lnSpc>
              <a:spcAft>
                <a:spcPts val="1000"/>
              </a:spcAft>
            </a:pPr>
            <a:r>
              <a:rPr lang="en-US" dirty="0">
                <a:latin typeface=""/>
                <a:ea typeface="Times New Roman"/>
                <a:cs typeface="Times New Roman"/>
              </a:rPr>
              <a:t>•   Differentiating between classification and regression tasks in supervised learning.</a:t>
            </a:r>
          </a:p>
          <a:p>
            <a:pPr>
              <a:lnSpc>
                <a:spcPct val="115000"/>
              </a:lnSpc>
              <a:spcAft>
                <a:spcPts val="1000"/>
              </a:spcAft>
            </a:pPr>
            <a:r>
              <a:rPr lang="en-US" dirty="0">
                <a:latin typeface=""/>
                <a:ea typeface="Times New Roman"/>
                <a:cs typeface="Times New Roman"/>
              </a:rPr>
              <a:t>•   Identification of key factors for selecting appropriate supervised learning algorithms.</a:t>
            </a:r>
          </a:p>
          <a:p>
            <a:pPr>
              <a:lnSpc>
                <a:spcPct val="115000"/>
              </a:lnSpc>
              <a:spcAft>
                <a:spcPts val="1000"/>
              </a:spcAft>
            </a:pPr>
            <a:r>
              <a:rPr lang="en-US" dirty="0">
                <a:latin typeface=""/>
                <a:ea typeface="Times New Roman"/>
                <a:cs typeface="Times New Roman"/>
              </a:rPr>
              <a:t>•   Gaining insights into the strengths and weaknesses of various supervised learning algorithms.</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213437458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Learning Objectives 5</a:t>
            </a:r>
            <a:endParaRPr lang="en-US" sz="2800" b="1" dirty="0">
              <a:solidFill>
                <a:srgbClr val="D9212B"/>
              </a:solidFill>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96;p3"/>
          <p:cNvSpPr txBox="1"/>
          <p:nvPr/>
        </p:nvSpPr>
        <p:spPr>
          <a:xfrm>
            <a:off x="773393" y="1672895"/>
            <a:ext cx="8074981" cy="57134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000"/>
              <a:buFont typeface="Arial"/>
              <a:buNone/>
            </a:pPr>
            <a:r>
              <a:rPr lang="en-US" sz="2000" b="1" dirty="0">
                <a:solidFill>
                  <a:schemeClr val="dk1"/>
                </a:solidFill>
                <a:latin typeface="Avenir"/>
                <a:ea typeface="Avenir"/>
                <a:cs typeface="Avenir"/>
                <a:sym typeface="Avenir"/>
              </a:rPr>
              <a:t>By the end of this session, you will be able to:</a:t>
            </a:r>
            <a:endParaRPr dirty="0"/>
          </a:p>
        </p:txBody>
      </p:sp>
      <p:sp>
        <p:nvSpPr>
          <p:cNvPr id="5" name="Google Shape;98;p3"/>
          <p:cNvSpPr txBox="1"/>
          <p:nvPr/>
        </p:nvSpPr>
        <p:spPr>
          <a:xfrm>
            <a:off x="885636" y="2326538"/>
            <a:ext cx="10132884" cy="3856913"/>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Understand the core principles and methodologies of unsupervised learning.</a:t>
            </a:r>
          </a:p>
          <a:p>
            <a:pPr>
              <a:lnSpc>
                <a:spcPct val="115000"/>
              </a:lnSpc>
              <a:spcAft>
                <a:spcPts val="1000"/>
              </a:spcAft>
            </a:pPr>
            <a:r>
              <a:rPr lang="en-US" dirty="0">
                <a:latin typeface=""/>
                <a:ea typeface="Times New Roman"/>
                <a:cs typeface="Times New Roman"/>
              </a:rPr>
              <a:t>•   Explore various unsupervised learning algorithms for clustering, dimensionality reduction, and anomaly detection.</a:t>
            </a:r>
          </a:p>
          <a:p>
            <a:pPr>
              <a:lnSpc>
                <a:spcPct val="115000"/>
              </a:lnSpc>
              <a:spcAft>
                <a:spcPts val="1000"/>
              </a:spcAft>
            </a:pPr>
            <a:r>
              <a:rPr lang="en-US" dirty="0">
                <a:latin typeface=""/>
                <a:ea typeface="Times New Roman"/>
                <a:cs typeface="Times New Roman"/>
              </a:rPr>
              <a:t>•   Identify real-world applications of unsupervised learning techniques.</a:t>
            </a:r>
          </a:p>
          <a:p>
            <a:pPr>
              <a:lnSpc>
                <a:spcPct val="115000"/>
              </a:lnSpc>
              <a:spcAft>
                <a:spcPts val="1000"/>
              </a:spcAft>
            </a:pPr>
            <a:r>
              <a:rPr lang="en-US" dirty="0">
                <a:latin typeface=""/>
                <a:ea typeface="Times New Roman"/>
                <a:cs typeface="Times New Roman"/>
              </a:rPr>
              <a:t>•   Learn the critical factors influencing the choice between supervised and unsupervised learning approaches.</a:t>
            </a:r>
          </a:p>
          <a:p>
            <a:pPr>
              <a:lnSpc>
                <a:spcPct val="115000"/>
              </a:lnSpc>
              <a:spcAft>
                <a:spcPts val="1000"/>
              </a:spcAft>
            </a:pPr>
            <a:r>
              <a:rPr lang="en-US" dirty="0">
                <a:latin typeface=""/>
                <a:ea typeface="Times New Roman"/>
                <a:cs typeface="Times New Roman"/>
              </a:rPr>
              <a:t>•   Analyze different scenarios to determine the most suitable machine learning paradigm.</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28561599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140494" y="1598233"/>
            <a:ext cx="12472988"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Unsupervised learning </a:t>
            </a:r>
            <a:r>
              <a:rPr lang="en-US" sz="2000" dirty="0">
                <a:solidFill>
                  <a:srgbClr val="FF0000"/>
                </a:solidFill>
              </a:rPr>
              <a:t>discovers patterns and structures in data without predefined labels or target variables.</a:t>
            </a:r>
          </a:p>
          <a:p>
            <a:endParaRPr lang="en-US" sz="2000" dirty="0"/>
          </a:p>
          <a:p>
            <a:r>
              <a:rPr lang="en-US" sz="2000" dirty="0"/>
              <a:t>•   It explores inherent characteristics within datasets to uncover hidden insights.</a:t>
            </a:r>
          </a:p>
          <a:p>
            <a:endParaRPr lang="en-US" sz="2000" dirty="0"/>
          </a:p>
          <a:p>
            <a:r>
              <a:rPr lang="en-US" sz="2000" dirty="0"/>
              <a:t>•   Key aspects include clustering, dimensionality reduction, and anomaly detection.</a:t>
            </a:r>
          </a:p>
          <a:p>
            <a:endParaRPr lang="en-US" sz="2000" dirty="0"/>
          </a:p>
          <a:p>
            <a:r>
              <a:rPr lang="en-US" sz="2000" dirty="0"/>
              <a:t>•   These techniques are vital for simplifying complex data and identifying unusual patterns.</a:t>
            </a:r>
          </a:p>
          <a:p>
            <a:endParaRPr lang="en-US" sz="2000" dirty="0"/>
          </a:p>
          <a:p>
            <a:r>
              <a:rPr lang="en-US" sz="2000" dirty="0"/>
              <a:t>•   It's a foundational branch of machine learning for exploratory data analysis.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Unsupervised Learning Fundamentals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50131556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100013" y="1388684"/>
            <a:ext cx="11687175"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a:t>
            </a:r>
            <a:r>
              <a:rPr lang="en-US" sz="2000" dirty="0">
                <a:solidFill>
                  <a:srgbClr val="FF0000"/>
                </a:solidFill>
              </a:rPr>
              <a:t>Clustering</a:t>
            </a:r>
            <a:r>
              <a:rPr lang="en-US" sz="2000" dirty="0"/>
              <a:t> is the process of </a:t>
            </a:r>
            <a:r>
              <a:rPr lang="en-US" sz="2000" dirty="0">
                <a:solidFill>
                  <a:srgbClr val="FF0000"/>
                </a:solidFill>
              </a:rPr>
              <a:t>grouping similar data points together </a:t>
            </a:r>
            <a:r>
              <a:rPr lang="en-US" sz="2000" dirty="0"/>
              <a:t>based on </a:t>
            </a:r>
            <a:r>
              <a:rPr lang="en-US" sz="2000" dirty="0">
                <a:solidFill>
                  <a:srgbClr val="FF0000"/>
                </a:solidFill>
              </a:rPr>
              <a:t>shared characteristics.</a:t>
            </a:r>
          </a:p>
          <a:p>
            <a:endParaRPr lang="en-US" sz="2000" dirty="0">
              <a:solidFill>
                <a:srgbClr val="FF0000"/>
              </a:solidFill>
            </a:endParaRPr>
          </a:p>
          <a:p>
            <a:r>
              <a:rPr lang="en-US" sz="2000" dirty="0"/>
              <a:t>•   It helps reveal natural groupings and underlying structures within unlabeled data.</a:t>
            </a:r>
          </a:p>
          <a:p>
            <a:endParaRPr lang="en-US" sz="2000" dirty="0"/>
          </a:p>
          <a:p>
            <a:r>
              <a:rPr lang="en-US" sz="2000" dirty="0"/>
              <a:t>•   This technique is invaluable for data analysis, pattern recognition, and market segmentation.</a:t>
            </a:r>
          </a:p>
          <a:p>
            <a:endParaRPr lang="en-US" sz="2000" dirty="0"/>
          </a:p>
          <a:p>
            <a:r>
              <a:rPr lang="en-US" sz="2000" dirty="0"/>
              <a:t>•   Prominent clustering algorithms include </a:t>
            </a:r>
            <a:r>
              <a:rPr lang="en-US" sz="2000" dirty="0">
                <a:solidFill>
                  <a:srgbClr val="FF0000"/>
                </a:solidFill>
              </a:rPr>
              <a:t>K-Means, DBSCAN, and Hierarchical Clustering</a:t>
            </a:r>
            <a:r>
              <a:rPr lang="en-US" sz="2000" dirty="0"/>
              <a:t>.</a:t>
            </a:r>
          </a:p>
          <a:p>
            <a:endParaRPr lang="en-US" sz="2000" dirty="0"/>
          </a:p>
          <a:p>
            <a:r>
              <a:rPr lang="en-US" sz="2000" dirty="0"/>
              <a:t>•   These algorithms differ in their approach to defining and forming clusters.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Clustering: Grouping Similar Data</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57117991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K-Means is a popular algorithm that partitions data points into 'K' distinct clusters.</a:t>
            </a:r>
          </a:p>
          <a:p>
            <a:endParaRPr lang="en-US" sz="2000"/>
          </a:p>
          <a:p>
            <a:r>
              <a:rPr lang="en-US" sz="2000"/>
              <a:t>•   'K' is a user-defined parameter representing the desired number of clusters.</a:t>
            </a:r>
          </a:p>
          <a:p>
            <a:endParaRPr lang="en-US" sz="2000"/>
          </a:p>
          <a:p>
            <a:r>
              <a:rPr lang="en-US" sz="2000"/>
              <a:t>•   The algorithm iteratively assigns data points to the nearest cluster center and recalculates centers until convergence.</a:t>
            </a:r>
          </a:p>
          <a:p>
            <a:endParaRPr lang="en-US" sz="2000"/>
          </a:p>
          <a:p>
            <a:r>
              <a:rPr lang="en-US" sz="2000"/>
              <a:t>•   It is particularly suitable for datasets where the number of clusters is known or can be reasonably estimated.</a:t>
            </a:r>
          </a:p>
          <a:p>
            <a:endParaRPr lang="en-US" sz="2000"/>
          </a:p>
          <a:p>
            <a:r>
              <a:rPr lang="en-US" sz="2000"/>
              <a:t>• Real-world Example: Customer segmentation in retail based on purchasing behavior for targeted marketing.</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K-Means Clustering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46111035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AF9D83-D730-5903-1DDD-99796FDF4228}"/>
              </a:ext>
            </a:extLst>
          </p:cNvPr>
          <p:cNvSpPr txBox="1"/>
          <p:nvPr/>
        </p:nvSpPr>
        <p:spPr>
          <a:xfrm>
            <a:off x="138111" y="1698189"/>
            <a:ext cx="11868151" cy="1785104"/>
          </a:xfrm>
          <a:prstGeom prst="rect">
            <a:avLst/>
          </a:prstGeom>
          <a:noFill/>
        </p:spPr>
        <p:txBody>
          <a:bodyPr wrap="square">
            <a:spAutoFit/>
          </a:bodyPr>
          <a:lstStyle/>
          <a:p>
            <a:pPr>
              <a:buNone/>
            </a:pPr>
            <a:r>
              <a:rPr lang="en-IN" b="1" dirty="0"/>
              <a:t>Market Segmentation &amp; Personalization</a:t>
            </a:r>
          </a:p>
          <a:p>
            <a:pPr marL="285750" indent="-285750">
              <a:spcBef>
                <a:spcPts val="1200"/>
              </a:spcBef>
              <a:buFont typeface="Wingdings" panose="05000000000000000000" pitchFamily="2" charset="2"/>
              <a:buChar char="ü"/>
            </a:pPr>
            <a:r>
              <a:rPr lang="en-IN" b="1" dirty="0"/>
              <a:t>E-commerce Customer Profiling: </a:t>
            </a:r>
            <a:r>
              <a:rPr lang="en-IN" dirty="0"/>
              <a:t>Grouping buyers into natural buckets—like "High Spend / Low Frequency" versus "Low Spend / High Frequency"—based entirely on purchasing </a:t>
            </a:r>
            <a:r>
              <a:rPr lang="en-IN" dirty="0" err="1"/>
              <a:t>behavior</a:t>
            </a:r>
            <a:r>
              <a:rPr lang="en-IN" dirty="0"/>
              <a:t> and average cart value.</a:t>
            </a:r>
          </a:p>
          <a:p>
            <a:pPr marL="285750" indent="-285750">
              <a:spcBef>
                <a:spcPts val="1200"/>
              </a:spcBef>
              <a:buFont typeface="Wingdings" panose="05000000000000000000" pitchFamily="2" charset="2"/>
              <a:buChar char="ü"/>
            </a:pPr>
            <a:r>
              <a:rPr lang="en-IN" b="1" dirty="0"/>
              <a:t>Streaming Content Curating: </a:t>
            </a:r>
            <a:r>
              <a:rPr lang="en-IN" dirty="0"/>
              <a:t>Platforms like Spotify or Netflix grouping users based on listening or watching habits (such as preferred tempos, genres, and active hours) to curate custom playlists and homepage recommendations.</a:t>
            </a:r>
          </a:p>
        </p:txBody>
      </p:sp>
    </p:spTree>
    <p:extLst>
      <p:ext uri="{BB962C8B-B14F-4D97-AF65-F5344CB8AC3E}">
        <p14:creationId xmlns:p14="http://schemas.microsoft.com/office/powerpoint/2010/main" val="426385109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7572AA-F8F2-DD7A-4853-3D7AD178ED66}"/>
              </a:ext>
            </a:extLst>
          </p:cNvPr>
          <p:cNvSpPr txBox="1"/>
          <p:nvPr/>
        </p:nvSpPr>
        <p:spPr>
          <a:xfrm>
            <a:off x="38100" y="2136339"/>
            <a:ext cx="12211049" cy="1785104"/>
          </a:xfrm>
          <a:prstGeom prst="rect">
            <a:avLst/>
          </a:prstGeom>
          <a:noFill/>
        </p:spPr>
        <p:txBody>
          <a:bodyPr wrap="square">
            <a:spAutoFit/>
          </a:bodyPr>
          <a:lstStyle/>
          <a:p>
            <a:pPr>
              <a:buNone/>
            </a:pPr>
            <a:r>
              <a:rPr lang="en-IN" b="1" dirty="0"/>
              <a:t>Operations &amp; Logistics Optimization</a:t>
            </a:r>
          </a:p>
          <a:p>
            <a:pPr marL="285750" indent="-285750">
              <a:spcBef>
                <a:spcPts val="1200"/>
              </a:spcBef>
              <a:buFont typeface="Wingdings" panose="05000000000000000000" pitchFamily="2" charset="2"/>
              <a:buChar char="ü"/>
            </a:pPr>
            <a:r>
              <a:rPr lang="en-IN" b="1" dirty="0"/>
              <a:t>Delivery Hub Placement: </a:t>
            </a:r>
            <a:r>
              <a:rPr lang="en-IN" dirty="0"/>
              <a:t>Plotting delivery destinations on a map and using the calculated cluster </a:t>
            </a:r>
            <a:r>
              <a:rPr lang="en-IN" dirty="0" err="1"/>
              <a:t>centers</a:t>
            </a:r>
            <a:r>
              <a:rPr lang="en-IN" dirty="0"/>
              <a:t> (centroids) as the mathematically perfect locations to build new warehouses or distribution hubs to minimize transit times.</a:t>
            </a:r>
          </a:p>
          <a:p>
            <a:pPr marL="285750" indent="-285750">
              <a:spcBef>
                <a:spcPts val="1200"/>
              </a:spcBef>
              <a:buFont typeface="Wingdings" panose="05000000000000000000" pitchFamily="2" charset="2"/>
              <a:buChar char="ü"/>
            </a:pPr>
            <a:r>
              <a:rPr lang="en-IN" b="1" dirty="0"/>
              <a:t>Telecom Tower Allocation:</a:t>
            </a:r>
            <a:r>
              <a:rPr lang="en-IN" dirty="0"/>
              <a:t> </a:t>
            </a:r>
            <a:r>
              <a:rPr lang="en-IN" dirty="0" err="1"/>
              <a:t>Analyzing</a:t>
            </a:r>
            <a:r>
              <a:rPr lang="en-IN" dirty="0"/>
              <a:t> the geographic density of smartphone users across a city to determine exactly where to erect cell towers to maximize network coverage and eliminate dead zones.</a:t>
            </a:r>
          </a:p>
        </p:txBody>
      </p:sp>
    </p:spTree>
    <p:extLst>
      <p:ext uri="{BB962C8B-B14F-4D97-AF65-F5344CB8AC3E}">
        <p14:creationId xmlns:p14="http://schemas.microsoft.com/office/powerpoint/2010/main" val="4637794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DAFB0A-B6D7-A07A-198C-986B669ABE45}"/>
              </a:ext>
            </a:extLst>
          </p:cNvPr>
          <p:cNvSpPr txBox="1"/>
          <p:nvPr/>
        </p:nvSpPr>
        <p:spPr>
          <a:xfrm>
            <a:off x="-71438" y="1998227"/>
            <a:ext cx="12396788" cy="1785104"/>
          </a:xfrm>
          <a:prstGeom prst="rect">
            <a:avLst/>
          </a:prstGeom>
          <a:noFill/>
        </p:spPr>
        <p:txBody>
          <a:bodyPr wrap="square">
            <a:spAutoFit/>
          </a:bodyPr>
          <a:lstStyle/>
          <a:p>
            <a:pPr>
              <a:buNone/>
            </a:pPr>
            <a:r>
              <a:rPr lang="en-IN" b="1" dirty="0">
                <a:effectLst/>
                <a:latin typeface="Google Sans"/>
              </a:rPr>
              <a:t>Computer Vision &amp; Image Processing</a:t>
            </a:r>
          </a:p>
          <a:p>
            <a:pPr marL="285750" indent="-285750">
              <a:spcBef>
                <a:spcPts val="1200"/>
              </a:spcBef>
              <a:buFont typeface="Wingdings" panose="05000000000000000000" pitchFamily="2" charset="2"/>
              <a:buChar char="ü"/>
            </a:pPr>
            <a:r>
              <a:rPr lang="en-IN" b="1" dirty="0"/>
              <a:t>Image </a:t>
            </a:r>
            <a:r>
              <a:rPr lang="en-IN" b="1" dirty="0" err="1"/>
              <a:t>Color</a:t>
            </a:r>
            <a:r>
              <a:rPr lang="en-IN" b="1" dirty="0"/>
              <a:t> Quantization:</a:t>
            </a:r>
            <a:r>
              <a:rPr lang="en-IN" dirty="0"/>
              <a:t> Compressing large image files by identifying the most dominant </a:t>
            </a:r>
            <a:r>
              <a:rPr lang="en-IN" dirty="0" err="1"/>
              <a:t>colors</a:t>
            </a:r>
            <a:r>
              <a:rPr lang="en-IN" dirty="0"/>
              <a:t> (e.g., setting K=8) and mapping every pixel to its nearest dominant </a:t>
            </a:r>
            <a:r>
              <a:rPr lang="en-IN" dirty="0" err="1"/>
              <a:t>color</a:t>
            </a:r>
            <a:r>
              <a:rPr lang="en-IN" dirty="0"/>
              <a:t> cluster, reducing file size while maintaining visual quality.</a:t>
            </a:r>
          </a:p>
          <a:p>
            <a:pPr marL="285750" indent="-285750">
              <a:spcBef>
                <a:spcPts val="1200"/>
              </a:spcBef>
              <a:buFont typeface="Wingdings" panose="05000000000000000000" pitchFamily="2" charset="2"/>
              <a:buChar char="ü"/>
            </a:pPr>
            <a:r>
              <a:rPr lang="en-IN" b="1" dirty="0"/>
              <a:t>Medical Scan Segmentation: </a:t>
            </a:r>
            <a:r>
              <a:rPr lang="en-IN" dirty="0"/>
              <a:t>Processing MRI or X-ray scans by clustering pixels based on tissue density and </a:t>
            </a:r>
            <a:r>
              <a:rPr lang="en-IN" dirty="0" err="1"/>
              <a:t>gray</a:t>
            </a:r>
            <a:r>
              <a:rPr lang="en-IN" dirty="0"/>
              <a:t>-scale intensity, allowing radiologists to automatically isolate potential </a:t>
            </a:r>
            <a:r>
              <a:rPr lang="en-IN" dirty="0" err="1"/>
              <a:t>tumor</a:t>
            </a:r>
            <a:r>
              <a:rPr lang="en-IN" dirty="0"/>
              <a:t> tissue from healthy bone or muscle.</a:t>
            </a:r>
          </a:p>
        </p:txBody>
      </p:sp>
    </p:spTree>
    <p:extLst>
      <p:ext uri="{BB962C8B-B14F-4D97-AF65-F5344CB8AC3E}">
        <p14:creationId xmlns:p14="http://schemas.microsoft.com/office/powerpoint/2010/main" val="207482275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20F1BB-5BAD-9ECD-78EB-1D304E208B8A}"/>
              </a:ext>
            </a:extLst>
          </p:cNvPr>
          <p:cNvSpPr txBox="1"/>
          <p:nvPr/>
        </p:nvSpPr>
        <p:spPr>
          <a:xfrm>
            <a:off x="328613" y="1997839"/>
            <a:ext cx="11196637" cy="2062103"/>
          </a:xfrm>
          <a:prstGeom prst="rect">
            <a:avLst/>
          </a:prstGeom>
          <a:noFill/>
        </p:spPr>
        <p:txBody>
          <a:bodyPr wrap="square">
            <a:spAutoFit/>
          </a:bodyPr>
          <a:lstStyle/>
          <a:p>
            <a:pPr>
              <a:buNone/>
            </a:pPr>
            <a:r>
              <a:rPr lang="en-IN" b="1" dirty="0"/>
              <a:t>Text &amp; Document Organization</a:t>
            </a:r>
          </a:p>
          <a:p>
            <a:pPr marL="285750" indent="-285750">
              <a:spcBef>
                <a:spcPts val="1200"/>
              </a:spcBef>
              <a:buFont typeface="Wingdings" panose="05000000000000000000" pitchFamily="2" charset="2"/>
              <a:buChar char="ü"/>
            </a:pPr>
            <a:r>
              <a:rPr lang="en-IN" b="1" dirty="0"/>
              <a:t>Search Engine Structuring:</a:t>
            </a:r>
            <a:r>
              <a:rPr lang="en-IN" dirty="0"/>
              <a:t> Automatically grouping millions of untagged web pages or news stories into matching topics (like </a:t>
            </a:r>
            <a:r>
              <a:rPr lang="en-IN" i="1" dirty="0"/>
              <a:t>Sports</a:t>
            </a:r>
            <a:r>
              <a:rPr lang="en-IN" dirty="0"/>
              <a:t>, </a:t>
            </a:r>
            <a:r>
              <a:rPr lang="en-IN" i="1" dirty="0"/>
              <a:t>Finance</a:t>
            </a:r>
            <a:r>
              <a:rPr lang="en-IN" dirty="0"/>
              <a:t>, or </a:t>
            </a:r>
            <a:r>
              <a:rPr lang="en-IN" i="1" dirty="0"/>
              <a:t>Tech</a:t>
            </a:r>
            <a:r>
              <a:rPr lang="en-IN" dirty="0"/>
              <a:t>) based on the frequency of similar words within the text.</a:t>
            </a:r>
          </a:p>
          <a:p>
            <a:pPr marL="285750" indent="-285750">
              <a:spcBef>
                <a:spcPts val="1200"/>
              </a:spcBef>
              <a:buFont typeface="Wingdings" panose="05000000000000000000" pitchFamily="2" charset="2"/>
              <a:buChar char="ü"/>
            </a:pPr>
            <a:r>
              <a:rPr lang="en-IN" b="1" dirty="0"/>
              <a:t>Customer Support Routing:</a:t>
            </a:r>
            <a:r>
              <a:rPr lang="en-IN" dirty="0"/>
              <a:t> Clustering high volumes of incoming customer complaint emails by their vocabulary so that matching issues (like a cluster of tickets containing "refund" and "billing") can be automatically routed to the correct department.</a:t>
            </a:r>
          </a:p>
        </p:txBody>
      </p:sp>
    </p:spTree>
    <p:extLst>
      <p:ext uri="{BB962C8B-B14F-4D97-AF65-F5344CB8AC3E}">
        <p14:creationId xmlns:p14="http://schemas.microsoft.com/office/powerpoint/2010/main" val="409602757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93501" y="1480123"/>
            <a:ext cx="12169937" cy="5292151"/>
          </a:xfrm>
          <a:prstGeom prst="rect">
            <a:avLst/>
          </a:prstGeom>
          <a:noFill/>
          <a:ln>
            <a:noFill/>
          </a:ln>
        </p:spPr>
        <p:txBody>
          <a:bodyPr spcFirstLastPara="1" wrap="square" lIns="91425" tIns="45700" rIns="91425" bIns="45700" anchor="t" anchorCtr="0">
            <a:noAutofit/>
          </a:bodyPr>
          <a:lstStyle/>
          <a:p>
            <a:endParaRPr lang="en-US" dirty="0"/>
          </a:p>
          <a:p>
            <a:r>
              <a:rPr lang="en-US" dirty="0"/>
              <a:t>• DBSCAN (Density-Based Spatial Clustering of Applications with Noise) identifies clusters based on data point density.</a:t>
            </a:r>
          </a:p>
          <a:p>
            <a:endParaRPr lang="en-US" dirty="0"/>
          </a:p>
          <a:p>
            <a:r>
              <a:rPr lang="en-US" dirty="0"/>
              <a:t>•   It groups densely packed points, separating less dense regions as noise, making it robust to irregularly shaped clusters.</a:t>
            </a:r>
          </a:p>
          <a:p>
            <a:endParaRPr lang="en-US" dirty="0"/>
          </a:p>
          <a:p>
            <a:r>
              <a:rPr lang="en-US" dirty="0"/>
              <a:t>• Real-world Example (DBSCAN): Detecting network intrusions by identifying unusual patterns in network traffic data.</a:t>
            </a:r>
          </a:p>
          <a:p>
            <a:endParaRPr lang="en-US" dirty="0"/>
          </a:p>
          <a:p>
            <a:r>
              <a:rPr lang="en-US" dirty="0"/>
              <a:t>• Hierarchical Clustering builds a tree-like structure (</a:t>
            </a:r>
            <a:r>
              <a:rPr lang="en-US" dirty="0" err="1"/>
              <a:t>dendrogram</a:t>
            </a:r>
            <a:r>
              <a:rPr lang="en-US" dirty="0"/>
              <a:t>) by successively merging or splitting clusters.</a:t>
            </a:r>
          </a:p>
          <a:p>
            <a:endParaRPr lang="en-US" dirty="0"/>
          </a:p>
          <a:p>
            <a:r>
              <a:rPr lang="en-US" dirty="0"/>
              <a:t>•   It allows exploration of different levels of granularity, using either agglomerative (bottom-up) or divisive (top-down) approaches.</a:t>
            </a:r>
          </a:p>
          <a:p>
            <a:endParaRPr lang="en-US" dirty="0"/>
          </a:p>
          <a:p>
            <a:r>
              <a:rPr lang="en-US" dirty="0"/>
              <a:t>• Real-world Example (Hierarchical): Creating biological taxonomies by clustering species based on genetic similarities.</a:t>
            </a:r>
          </a:p>
        </p:txBody>
      </p:sp>
      <p:sp>
        <p:nvSpPr>
          <p:cNvPr id="5" name="Google Shape;110;p5"/>
          <p:cNvSpPr txBox="1">
            <a:spLocks/>
          </p:cNvSpPr>
          <p:nvPr/>
        </p:nvSpPr>
        <p:spPr>
          <a:xfrm>
            <a:off x="93501" y="542734"/>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sym typeface="Avenir"/>
              </a:rPr>
              <a:t>DBSCAN and Hierarchical Clustering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40681192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C5ECBC-4972-B017-7EED-A8625E07D4F2}"/>
              </a:ext>
            </a:extLst>
          </p:cNvPr>
          <p:cNvSpPr txBox="1"/>
          <p:nvPr/>
        </p:nvSpPr>
        <p:spPr>
          <a:xfrm>
            <a:off x="257175" y="1305342"/>
            <a:ext cx="11120438" cy="3323987"/>
          </a:xfrm>
          <a:prstGeom prst="rect">
            <a:avLst/>
          </a:prstGeom>
          <a:noFill/>
        </p:spPr>
        <p:txBody>
          <a:bodyPr wrap="square">
            <a:spAutoFit/>
          </a:bodyPr>
          <a:lstStyle/>
          <a:p>
            <a:pPr>
              <a:buNone/>
            </a:pPr>
            <a:r>
              <a:rPr lang="en-IN" b="1" dirty="0"/>
              <a:t>Real-World Examples: DBSCAN</a:t>
            </a:r>
          </a:p>
          <a:p>
            <a:pPr marL="285750" indent="-285750">
              <a:spcBef>
                <a:spcPts val="1200"/>
              </a:spcBef>
              <a:buFont typeface="Wingdings" panose="05000000000000000000" pitchFamily="2" charset="2"/>
              <a:buChar char="ü"/>
            </a:pPr>
            <a:r>
              <a:rPr lang="en-IN" b="1" dirty="0"/>
              <a:t>Geographical Mapping &amp; Traffic Hotspots:</a:t>
            </a:r>
            <a:r>
              <a:rPr lang="en-IN" dirty="0"/>
              <a:t> </a:t>
            </a:r>
            <a:r>
              <a:rPr lang="en-IN" dirty="0" err="1"/>
              <a:t>Analyzing</a:t>
            </a:r>
            <a:r>
              <a:rPr lang="en-IN" dirty="0"/>
              <a:t> GPS coordinates from millions of delivery vehicles or taxis to automatically map high-density traffic congestion zones, while ignoring isolated vehicle pings as background noise.</a:t>
            </a:r>
          </a:p>
          <a:p>
            <a:pPr marL="285750" indent="-285750">
              <a:spcBef>
                <a:spcPts val="1200"/>
              </a:spcBef>
              <a:buFont typeface="Wingdings" panose="05000000000000000000" pitchFamily="2" charset="2"/>
              <a:buChar char="ü"/>
            </a:pPr>
            <a:r>
              <a:rPr lang="en-IN" b="1" dirty="0"/>
              <a:t>Astronomical Data Analysis:</a:t>
            </a:r>
            <a:r>
              <a:rPr lang="en-IN" dirty="0"/>
              <a:t> Identifying new star clusters and planetary systems in satellite imagery by grouping densely packed celestial bodies together while discarding random cosmic radiation and background space dust as noise.</a:t>
            </a:r>
          </a:p>
          <a:p>
            <a:pPr marL="285750" indent="-285750">
              <a:spcBef>
                <a:spcPts val="1200"/>
              </a:spcBef>
              <a:buFont typeface="Wingdings" panose="05000000000000000000" pitchFamily="2" charset="2"/>
              <a:buChar char="ü"/>
            </a:pPr>
            <a:r>
              <a:rPr lang="en-IN" b="1" dirty="0"/>
              <a:t>E-commerce Fraud Detection:</a:t>
            </a:r>
            <a:r>
              <a:rPr lang="en-IN" dirty="0"/>
              <a:t> Flagging fraudulent credit card activity by grouping normal, tightly clustered customer purchasing habits (like typical location, transaction sizes, and times) and isolating anomalous single swipes that sit far away in a low-density region.</a:t>
            </a:r>
          </a:p>
        </p:txBody>
      </p:sp>
    </p:spTree>
    <p:extLst>
      <p:ext uri="{BB962C8B-B14F-4D97-AF65-F5344CB8AC3E}">
        <p14:creationId xmlns:p14="http://schemas.microsoft.com/office/powerpoint/2010/main" val="381127408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5EFC60-9059-31C1-8C27-B05767717F0C}"/>
              </a:ext>
            </a:extLst>
          </p:cNvPr>
          <p:cNvSpPr txBox="1"/>
          <p:nvPr/>
        </p:nvSpPr>
        <p:spPr>
          <a:xfrm>
            <a:off x="452437" y="751344"/>
            <a:ext cx="10820401" cy="3323987"/>
          </a:xfrm>
          <a:prstGeom prst="rect">
            <a:avLst/>
          </a:prstGeom>
          <a:noFill/>
        </p:spPr>
        <p:txBody>
          <a:bodyPr wrap="square">
            <a:spAutoFit/>
          </a:bodyPr>
          <a:lstStyle/>
          <a:p>
            <a:pPr>
              <a:buNone/>
            </a:pPr>
            <a:r>
              <a:rPr lang="en-IN" b="1" dirty="0"/>
              <a:t>Real-World Examples: Hierarchical Clustering</a:t>
            </a:r>
          </a:p>
          <a:p>
            <a:pPr marL="285750" indent="-285750">
              <a:spcBef>
                <a:spcPts val="1200"/>
              </a:spcBef>
              <a:buFont typeface="Wingdings" panose="05000000000000000000" pitchFamily="2" charset="2"/>
              <a:buChar char="ü"/>
            </a:pPr>
            <a:r>
              <a:rPr lang="en-IN" b="1" dirty="0"/>
              <a:t>Corporate Organizational Structuring:</a:t>
            </a:r>
            <a:r>
              <a:rPr lang="en-IN" dirty="0"/>
              <a:t> Mapping out a massive enterprise workforce by grouping employees based on shared project interactions, skills, or reporting lines, allowing HR to view the organization at different granularities—from localized agile product teams up to entire global divisions.</a:t>
            </a:r>
          </a:p>
          <a:p>
            <a:pPr marL="285750" indent="-285750">
              <a:spcBef>
                <a:spcPts val="1200"/>
              </a:spcBef>
              <a:buFont typeface="Wingdings" panose="05000000000000000000" pitchFamily="2" charset="2"/>
              <a:buChar char="ü"/>
            </a:pPr>
            <a:r>
              <a:rPr lang="en-IN" b="1" dirty="0"/>
              <a:t>Market Asset Diversification (Finance):</a:t>
            </a:r>
            <a:r>
              <a:rPr lang="en-IN" dirty="0"/>
              <a:t> Grouping stocks, mutual funds, or cryptocurrencies into a nested tree based on historical price correlations. Portfolio managers use the resulting dendrogram to ensure they pick assets from completely different branches to maximize portfolio diversification.</a:t>
            </a:r>
          </a:p>
          <a:p>
            <a:pPr marL="285750" indent="-285750">
              <a:spcBef>
                <a:spcPts val="1200"/>
              </a:spcBef>
              <a:buFont typeface="Wingdings" panose="05000000000000000000" pitchFamily="2" charset="2"/>
              <a:buChar char="ü"/>
            </a:pPr>
            <a:r>
              <a:rPr lang="en-IN" b="1" dirty="0"/>
              <a:t>Customer Journey &amp; </a:t>
            </a:r>
            <a:r>
              <a:rPr lang="en-IN" b="1" dirty="0" err="1"/>
              <a:t>Behavior</a:t>
            </a:r>
            <a:r>
              <a:rPr lang="en-IN" b="1" dirty="0"/>
              <a:t> Mapping:</a:t>
            </a:r>
            <a:r>
              <a:rPr lang="en-IN" dirty="0"/>
              <a:t> Grouping website visitors based on their multi-step paths through an e-commerce platform. The bottom-up approach links users with identical page-click sequences first, then merges larger groups to reveal broad, macro-level user navigation patterns.</a:t>
            </a:r>
          </a:p>
        </p:txBody>
      </p:sp>
    </p:spTree>
    <p:extLst>
      <p:ext uri="{BB962C8B-B14F-4D97-AF65-F5344CB8AC3E}">
        <p14:creationId xmlns:p14="http://schemas.microsoft.com/office/powerpoint/2010/main" val="9884220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   Dimensionality reduction techniques aim to decrease the number of features (dimensions) in a dataset.</a:t>
            </a:r>
          </a:p>
          <a:p>
            <a:endParaRPr lang="en-US" sz="2000" dirty="0"/>
          </a:p>
          <a:p>
            <a:r>
              <a:rPr lang="en-US" sz="2000" dirty="0"/>
              <a:t>•   The primary goal is to preserve essential information while making the data easier to analyze and visualize.</a:t>
            </a:r>
          </a:p>
          <a:p>
            <a:endParaRPr lang="en-US" sz="2000" dirty="0"/>
          </a:p>
          <a:p>
            <a:r>
              <a:rPr lang="en-US" sz="2000" dirty="0"/>
              <a:t>•   High-dimensional data often presents challenges like increased computational cost and difficulty in interpretation.</a:t>
            </a:r>
          </a:p>
          <a:p>
            <a:endParaRPr lang="en-US" sz="2000" dirty="0"/>
          </a:p>
          <a:p>
            <a:r>
              <a:rPr lang="en-US" sz="2000" dirty="0"/>
              <a:t>•   Key methods include Principal Component Analysis (PCA) and t-Distributed Stochastic Neighbor Embedding (t-SNE).</a:t>
            </a:r>
          </a:p>
          <a:p>
            <a:endParaRPr lang="en-US" sz="2000" dirty="0"/>
          </a:p>
          <a:p>
            <a:r>
              <a:rPr lang="en-US" sz="2000" dirty="0"/>
              <a:t>•   These techniques are crucial for data preprocessing and noise reduction in complex datasets.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Dimensionality Reduction: Simplifying Data Complexity</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60892618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141796"/>
            <a:ext cx="10427563" cy="4726096"/>
          </a:xfrm>
          <a:prstGeom prst="rect">
            <a:avLst/>
          </a:prstGeom>
          <a:noFill/>
          <a:ln>
            <a:noFill/>
          </a:ln>
        </p:spPr>
        <p:txBody>
          <a:bodyPr spcFirstLastPara="1" wrap="square" lIns="91425" tIns="45700" rIns="91425" bIns="45700" anchor="t" anchorCtr="0">
            <a:noAutofit/>
          </a:bodyPr>
          <a:lstStyle/>
          <a:p>
            <a:endParaRPr lang="en-US" dirty="0"/>
          </a:p>
          <a:p>
            <a:r>
              <a:rPr lang="en-US" dirty="0"/>
              <a:t>• Principal Component Analysis (PCA) is a linear method that identifies orthogonal axes (principal components) of maximum data variance.</a:t>
            </a:r>
          </a:p>
          <a:p>
            <a:endParaRPr lang="en-US" dirty="0"/>
          </a:p>
          <a:p>
            <a:r>
              <a:rPr lang="en-US" dirty="0"/>
              <a:t>•   It projects data onto a lower-dimensional subspace, retaining as much variance as possible.</a:t>
            </a:r>
          </a:p>
          <a:p>
            <a:endParaRPr lang="en-US" dirty="0"/>
          </a:p>
          <a:p>
            <a:r>
              <a:rPr lang="en-US" dirty="0"/>
              <a:t>• Real-world Example (PCA): Image compression by reducing the dimensionality of image data while maintaining visual quality.</a:t>
            </a:r>
          </a:p>
          <a:p>
            <a:endParaRPr lang="en-US" dirty="0"/>
          </a:p>
          <a:p>
            <a:r>
              <a:rPr lang="en-US" dirty="0"/>
              <a:t>• t-Distributed Stochastic Neighbor Embedding (t-SNE) is a non-linear technique effective in preserving local data structure.</a:t>
            </a:r>
          </a:p>
          <a:p>
            <a:endParaRPr lang="en-US" dirty="0"/>
          </a:p>
          <a:p>
            <a:r>
              <a:rPr lang="en-US" dirty="0"/>
              <a:t>•   It excels at visualizing high-dimensional data in 2D or 3D spaces, revealing inherent clusters.</a:t>
            </a:r>
          </a:p>
          <a:p>
            <a:endParaRPr lang="en-US" dirty="0"/>
          </a:p>
          <a:p>
            <a:r>
              <a:rPr lang="en-US" dirty="0"/>
              <a:t>• Real-world Example (t-SNE): Visualizing complex genomic or natural language processing data to reveal relationships between data points.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PCA and t-SNE Techniques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40321039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164556" y="1569659"/>
            <a:ext cx="12179844"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   Anomaly detection is the process of identifying data points that significantly deviate from normal behavior.</a:t>
            </a:r>
          </a:p>
          <a:p>
            <a:endParaRPr lang="en-US" sz="2000" dirty="0"/>
          </a:p>
          <a:p>
            <a:r>
              <a:rPr lang="en-US" sz="2000" dirty="0"/>
              <a:t>•   These deviations, or outliers, often indicate critical events, errors, or fraudulent activities.</a:t>
            </a:r>
          </a:p>
          <a:p>
            <a:endParaRPr lang="en-US" sz="2000" dirty="0"/>
          </a:p>
          <a:p>
            <a:r>
              <a:rPr lang="en-US" sz="2000" dirty="0"/>
              <a:t>•   It is widely applied in various domains, including fraud detection, cybersecurity, and quality control.</a:t>
            </a:r>
          </a:p>
          <a:p>
            <a:endParaRPr lang="en-US" sz="2000" dirty="0"/>
          </a:p>
          <a:p>
            <a:r>
              <a:rPr lang="en-US" sz="2000" dirty="0"/>
              <a:t>•   Effective anomaly detection can prevent losses, enhance security, and ensure product integrity.</a:t>
            </a:r>
          </a:p>
          <a:p>
            <a:endParaRPr lang="en-US" sz="2000" dirty="0"/>
          </a:p>
          <a:p>
            <a:r>
              <a:rPr lang="en-US" sz="2000" dirty="0"/>
              <a:t>•   Common algorithms include Isolation Forest and One-Class SVM.</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Anomaly Detection: Identifying Unusual Patterns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81598859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dirty="0"/>
          </a:p>
          <a:p>
            <a:r>
              <a:rPr lang="en-US" dirty="0"/>
              <a:t>• Isolation Forest isolates anomalies by recursively partitioning the data space; anomalies require fewer splits to be isolated.</a:t>
            </a:r>
          </a:p>
          <a:p>
            <a:endParaRPr lang="en-US" dirty="0"/>
          </a:p>
          <a:p>
            <a:r>
              <a:rPr lang="en-US" dirty="0"/>
              <a:t>•   It identifies outliers as points that are "far" from the norm and easy to separate.</a:t>
            </a:r>
          </a:p>
          <a:p>
            <a:endParaRPr lang="en-US" dirty="0"/>
          </a:p>
          <a:p>
            <a:r>
              <a:rPr lang="en-US" dirty="0"/>
              <a:t>• Real-world Example (Isolation Forest): Detecting fraudulent credit card transactions by flagging unusual spending patterns.</a:t>
            </a:r>
          </a:p>
          <a:p>
            <a:endParaRPr lang="en-US" dirty="0"/>
          </a:p>
          <a:p>
            <a:r>
              <a:rPr lang="en-US" dirty="0"/>
              <a:t>• One-Class SVM (Support Vector Machine) learns to identify anomalies by fitting a </a:t>
            </a:r>
            <a:r>
              <a:rPr lang="en-US" dirty="0" err="1"/>
              <a:t>hyperplane</a:t>
            </a:r>
            <a:r>
              <a:rPr lang="en-US" dirty="0"/>
              <a:t> around the majority of normal data points.</a:t>
            </a:r>
          </a:p>
          <a:p>
            <a:endParaRPr lang="en-US" dirty="0"/>
          </a:p>
          <a:p>
            <a:r>
              <a:rPr lang="en-US" dirty="0"/>
              <a:t>•   It separates the main dataset from potential outliers, defining a boundary for normal behavior.</a:t>
            </a:r>
          </a:p>
          <a:p>
            <a:endParaRPr lang="en-US" dirty="0"/>
          </a:p>
          <a:p>
            <a:r>
              <a:rPr lang="en-US" dirty="0"/>
              <a:t>• Real-world Example (One-Class SVM): Monitoring industrial equipment sensor data to detect sudden deviations indicating potential malfunctions.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Isolation Forest and One-Class SVM for Anomaly Detection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81097400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Selecting between supervised and unsupervised learning is a critical decision in machine learning.</a:t>
            </a:r>
          </a:p>
          <a:p>
            <a:endParaRPr lang="en-US" sz="2000"/>
          </a:p>
          <a:p>
            <a:r>
              <a:rPr lang="en-US" sz="2000"/>
              <a:t>•   The choice depends on several factors, including the nature of the data, desired outcomes, and resource availability.</a:t>
            </a:r>
          </a:p>
          <a:p>
            <a:endParaRPr lang="en-US" sz="2000"/>
          </a:p>
          <a:p>
            <a:r>
              <a:rPr lang="en-US" sz="2000"/>
              <a:t>• Supervised learning trains models on labeled data to make predictions based on known outcomes.</a:t>
            </a:r>
          </a:p>
          <a:p>
            <a:endParaRPr lang="en-US" sz="2000"/>
          </a:p>
          <a:p>
            <a:r>
              <a:rPr lang="en-US" sz="2000"/>
              <a:t>• Unsupervised learning uncovers patterns in unlabeled data without explicit guidance.</a:t>
            </a:r>
          </a:p>
          <a:p>
            <a:endParaRPr lang="en-US" sz="2000"/>
          </a:p>
          <a:p>
            <a:r>
              <a:rPr lang="en-US" sz="2000"/>
              <a:t>•   An informed decision ensures the development of effective and appropriate machine learning solutions.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Choosing the Right Learning Approach</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71085963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Availability of Labeled Data: This is often the most critical factor.</a:t>
            </a:r>
          </a:p>
          <a:p>
            <a:endParaRPr lang="en-US" sz="2000"/>
          </a:p>
          <a:p>
            <a:r>
              <a:rPr lang="en-US" sz="2000"/>
              <a:t>•   If substantial labeled data exists, supervised learning is generally preferred for predictive models (e.g., email spam detection).</a:t>
            </a:r>
          </a:p>
          <a:p>
            <a:endParaRPr lang="en-US" sz="2000"/>
          </a:p>
          <a:p>
            <a:r>
              <a:rPr lang="en-US" sz="2000"/>
              <a:t>•   If data is unlabeled, unsupervised learning, particularly clustering, can identify segments (e.g., customer segmentation).</a:t>
            </a:r>
          </a:p>
          <a:p>
            <a:endParaRPr lang="en-US" sz="2000"/>
          </a:p>
          <a:p>
            <a:r>
              <a:rPr lang="en-US" sz="2000"/>
              <a:t>• Task Objectives: The specific goal of the machine learning task guides the choice.</a:t>
            </a:r>
          </a:p>
          <a:p>
            <a:endParaRPr lang="en-US" sz="2000"/>
          </a:p>
          <a:p>
            <a:r>
              <a:rPr lang="en-US" sz="2000"/>
              <a:t>•   For tasks with a clear target variable (e.g., handwritten digit recognition), supervised learning is suitable.</a:t>
            </a:r>
          </a:p>
          <a:p>
            <a:endParaRPr lang="en-US" sz="2000"/>
          </a:p>
          <a:p>
            <a:r>
              <a:rPr lang="en-US" sz="2000"/>
              <a:t>•   For discovering hidden patterns or outliers when labels are absent or rare (e.g., network anomaly detection), unsupervised learning is often employed.</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Decision Criteria: Labeled Data &amp; Task Objectives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54743493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dirty="0"/>
          </a:p>
          <a:p>
            <a:r>
              <a:rPr lang="en-US" dirty="0"/>
              <a:t>• Nature of Data: Complex problems might require a combination of approaches.</a:t>
            </a:r>
          </a:p>
          <a:p>
            <a:endParaRPr lang="en-US" dirty="0"/>
          </a:p>
          <a:p>
            <a:r>
              <a:rPr lang="en-US" dirty="0"/>
              <a:t>•   Some tasks benefit from a hybrid of supervised and unsupervised techniques (e.g., image captioning).</a:t>
            </a:r>
          </a:p>
          <a:p>
            <a:endParaRPr lang="en-US" dirty="0"/>
          </a:p>
          <a:p>
            <a:r>
              <a:rPr lang="en-US" dirty="0"/>
              <a:t>• Interpretability: The need to understand model decisions.</a:t>
            </a:r>
          </a:p>
          <a:p>
            <a:endParaRPr lang="en-US" dirty="0"/>
          </a:p>
          <a:p>
            <a:r>
              <a:rPr lang="en-US" dirty="0"/>
              <a:t>•   Supervised models (e.g., logistic regression for credit scoring) are often preferred for their transparency.</a:t>
            </a:r>
          </a:p>
          <a:p>
            <a:endParaRPr lang="en-US" dirty="0"/>
          </a:p>
          <a:p>
            <a:r>
              <a:rPr lang="en-US" dirty="0"/>
              <a:t>•   Unsupervised methods can be useful for discovery when the nature of anomalies is undefined (e.g., manufacturing process deviations).</a:t>
            </a:r>
          </a:p>
          <a:p>
            <a:endParaRPr lang="en-US" dirty="0"/>
          </a:p>
          <a:p>
            <a:r>
              <a:rPr lang="en-US" dirty="0"/>
              <a:t>• Scalability: How well algorithms handle large datasets and available computational resources.</a:t>
            </a:r>
          </a:p>
          <a:p>
            <a:endParaRPr lang="en-US" dirty="0"/>
          </a:p>
          <a:p>
            <a:r>
              <a:rPr lang="en-US" dirty="0"/>
              <a:t>•   Unsupervised techniques (e.g., matrix factorization for social media recommendations) are efficient for vast, unlabeled data.</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it-IT" sz="2800" b="1">
                <a:solidFill>
                  <a:srgbClr val="D9212B"/>
                </a:solidFill>
                <a:latin typeface="Avenir"/>
                <a:sym typeface="Avenir"/>
              </a:rPr>
              <a:t>Decision Criteria: Data Nature, Interpretability &amp; Scalability</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28252797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0" y="1388684"/>
            <a:ext cx="12191999"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   In many real-world scenarios, combining both supervised and unsupervised learning offers the most effective solution.</a:t>
            </a:r>
          </a:p>
          <a:p>
            <a:endParaRPr lang="en-US" sz="2000" dirty="0"/>
          </a:p>
          <a:p>
            <a:r>
              <a:rPr lang="en-US" sz="2000" dirty="0"/>
              <a:t>•   Hybrid approaches leverage the strengths of both paradigms to tackle complex problems more comprehensively.</a:t>
            </a:r>
          </a:p>
          <a:p>
            <a:endParaRPr lang="en-US" sz="2000" dirty="0"/>
          </a:p>
          <a:p>
            <a:r>
              <a:rPr lang="en-US" sz="2000" dirty="0"/>
              <a:t>•   This integration can lead to more robust models, especially when labeled data is scarce or incomplete.</a:t>
            </a:r>
          </a:p>
          <a:p>
            <a:endParaRPr lang="en-US" sz="2000" dirty="0"/>
          </a:p>
          <a:p>
            <a:r>
              <a:rPr lang="en-US" sz="2000" dirty="0"/>
              <a:t>•   Unsupervised learning can discover new patterns, which can then be used to enhance supervised models or guide further analysis.</a:t>
            </a:r>
          </a:p>
          <a:p>
            <a:endParaRPr lang="en-US" sz="2000" dirty="0"/>
          </a:p>
          <a:p>
            <a:r>
              <a:rPr lang="en-US" sz="2000" dirty="0"/>
              <a:t>• Example: In healthcare diagnosis, supervised models diagnose known diseases, while unsupervised learning helps discover new disease subtypes or patterns in patient data previously unknown.</a:t>
            </a:r>
          </a:p>
          <a:p>
            <a:endParaRPr lang="en-US" sz="2000" dirty="0"/>
          </a:p>
          <a:p>
            <a:r>
              <a:rPr lang="en-US" sz="2000" dirty="0"/>
              <a: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Hybrid Approaches in Machine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64738758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a:t>
            </a:r>
          </a:p>
          <a:p>
            <a:r>
              <a:rPr lang="en-US" sz="2000"/>
              <a:t>Which of the following scenarios would most appropriately utilize a DBSCAN algorithm?</a:t>
            </a:r>
          </a:p>
          <a:p>
            <a:r>
              <a:rPr lang="en-US" sz="2000"/>
              <a:t>A) Predicting house prices based on size and location.</a:t>
            </a:r>
          </a:p>
          <a:p>
            <a:r>
              <a:rPr lang="en-US" sz="2000"/>
              <a:t>B) Grouping customers into 3 distinct segments based on purchase frequency.</a:t>
            </a:r>
          </a:p>
          <a:p>
            <a:r>
              <a:rPr lang="en-US" sz="2000"/>
              <a:t>C) Identifying unusually shaped clusters of network traffic that might indicate an intrusion.</a:t>
            </a:r>
          </a:p>
          <a:p>
            <a:r>
              <a:rPr lang="en-US" sz="2000"/>
              <a:t>D) Classifying emails as spam or not spam based on labeled examples.</a:t>
            </a:r>
          </a:p>
          <a:p>
            <a:endParaRPr lang="en-US" sz="2000"/>
          </a:p>
          <a:p>
            <a:endParaRPr lang="en-US" sz="2000" dirty="0"/>
          </a:p>
        </p:txBody>
      </p:sp>
    </p:spTree>
    <p:extLst>
      <p:ext uri="{BB962C8B-B14F-4D97-AF65-F5344CB8AC3E}">
        <p14:creationId xmlns:p14="http://schemas.microsoft.com/office/powerpoint/2010/main" val="328386703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a:t>
            </a:r>
          </a:p>
          <a:p>
            <a:r>
              <a:rPr lang="en-US" sz="2000"/>
              <a:t>Which of the following scenarios would most appropriately utilize a DBSCAN algorithm?</a:t>
            </a:r>
          </a:p>
          <a:p>
            <a:r>
              <a:rPr lang="en-US" sz="2000"/>
              <a:t>A) Predicting house prices based on size and location.</a:t>
            </a:r>
          </a:p>
          <a:p>
            <a:r>
              <a:rPr lang="en-US" sz="2000"/>
              <a:t>B) Grouping customers into 3 distinct segments based on purchase frequency.</a:t>
            </a:r>
          </a:p>
          <a:p>
            <a:r>
              <a:rPr lang="en-US" sz="2000"/>
              <a:t>C) Identifying unusually shaped clusters of network traffic that might indicate an intrusion.</a:t>
            </a:r>
          </a:p>
          <a:p>
            <a:r>
              <a:rPr lang="en-US" sz="2000"/>
              <a:t>D) Classifying emails as spam or not spam based on labeled examples.</a:t>
            </a:r>
          </a:p>
          <a:p>
            <a:endParaRPr lang="en-US" sz="2000"/>
          </a:p>
          <a:p>
            <a:endParaRPr lang="en-US" sz="2000"/>
          </a:p>
          <a:p>
            <a:endParaRPr lang="en-US" sz="2000"/>
          </a:p>
          <a:p>
            <a:r>
              <a:rPr lang="en-US" sz="2000" b="1"/>
              <a:t>Correct Answer: C</a:t>
            </a:r>
          </a:p>
          <a:p>
            <a:r>
              <a:rPr lang="en-US" sz="2000" b="1"/>
              <a:t>Explanation: DBSCAN is a density-based clustering algorithm that excels at finding arbitrarily shaped clusters and identifying outliers (noise). This makes it highly suitable for detecting complex, non-linear patterns often associated with network intrusions, where the number of clusters is not known beforehand. Options A, B, and D are better suited for regression, K-Means clustering, and supervised classification, respectively.</a:t>
            </a:r>
          </a:p>
          <a:p>
            <a:endParaRPr lang="en-US" sz="2000" b="1"/>
          </a:p>
          <a:p>
            <a:endParaRPr lang="en-US" sz="2000" dirty="0"/>
          </a:p>
        </p:txBody>
      </p:sp>
    </p:spTree>
    <p:extLst>
      <p:ext uri="{BB962C8B-B14F-4D97-AF65-F5344CB8AC3E}">
        <p14:creationId xmlns:p14="http://schemas.microsoft.com/office/powerpoint/2010/main" val="290781815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a:t>
            </a:r>
          </a:p>
          <a:p>
            <a:r>
              <a:rPr lang="en-US" sz="2000"/>
              <a:t>A data scientist is working with a large dataset of patient medical records, where a small fraction of records are labeled with a rare disease diagnosis, but most are unlabeled. The goal is to identify potential new subtypes of the disease. Which learning approach would be most effective?</a:t>
            </a:r>
          </a:p>
          <a:p>
            <a:r>
              <a:rPr lang="en-US" sz="2000"/>
              <a:t>A) Pure Supervised Learning (e.g., Logistic Regression)</a:t>
            </a:r>
          </a:p>
          <a:p>
            <a:r>
              <a:rPr lang="en-US" sz="2000"/>
              <a:t>B) Pure Unsupervised Learning (e.g., K-Means Clustering)</a:t>
            </a:r>
          </a:p>
          <a:p>
            <a:r>
              <a:rPr lang="en-US" sz="2000"/>
              <a:t>C) A Hybrid Approach combining Supervised and Unsupervised Learning</a:t>
            </a:r>
          </a:p>
          <a:p>
            <a:r>
              <a:rPr lang="en-US" sz="2000"/>
              <a:t>D) Reinforcement Learning</a:t>
            </a:r>
          </a:p>
          <a:p>
            <a:endParaRPr lang="en-US" sz="2000"/>
          </a:p>
          <a:p>
            <a:endParaRPr lang="en-US" sz="2000" dirty="0"/>
          </a:p>
        </p:txBody>
      </p:sp>
    </p:spTree>
    <p:extLst>
      <p:ext uri="{BB962C8B-B14F-4D97-AF65-F5344CB8AC3E}">
        <p14:creationId xmlns:p14="http://schemas.microsoft.com/office/powerpoint/2010/main" val="167451240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10000"/>
          </a:bodyPr>
          <a:lstStyle/>
          <a:p>
            <a:r>
              <a:rPr lang="en-US" sz="2000"/>
              <a:t>Question 2:</a:t>
            </a:r>
          </a:p>
          <a:p>
            <a:r>
              <a:rPr lang="en-US" sz="2000"/>
              <a:t>A data scientist is working with a large dataset of patient medical records, where a small fraction of records are labeled with a rare disease diagnosis, but most are unlabeled. The goal is to identify potential new subtypes of the disease. Which learning approach would be most effective?</a:t>
            </a:r>
          </a:p>
          <a:p>
            <a:r>
              <a:rPr lang="en-US" sz="2000"/>
              <a:t>A) Pure Supervised Learning (e.g., Logistic Regression)</a:t>
            </a:r>
          </a:p>
          <a:p>
            <a:r>
              <a:rPr lang="en-US" sz="2000"/>
              <a:t>B) Pure Unsupervised Learning (e.g., K-Means Clustering)</a:t>
            </a:r>
          </a:p>
          <a:p>
            <a:r>
              <a:rPr lang="en-US" sz="2000"/>
              <a:t>C) A Hybrid Approach combining Supervised and Unsupervised Learning</a:t>
            </a:r>
          </a:p>
          <a:p>
            <a:r>
              <a:rPr lang="en-US" sz="2000"/>
              <a:t>D) Reinforcement Learning</a:t>
            </a:r>
          </a:p>
          <a:p>
            <a:endParaRPr lang="en-US" sz="2000"/>
          </a:p>
          <a:p>
            <a:endParaRPr lang="en-US" sz="2000"/>
          </a:p>
          <a:p>
            <a:endParaRPr lang="en-US" sz="2000"/>
          </a:p>
          <a:p>
            <a:r>
              <a:rPr lang="en-US" sz="2000" b="1"/>
              <a:t>Correct Answer: C</a:t>
            </a:r>
          </a:p>
          <a:p>
            <a:r>
              <a:rPr lang="en-US" sz="2000" b="1"/>
              <a:t>Explanation: The presence of a small amount of labeled data for the rare disease suggests supervised components, but the vast majority of unlabeled data and the goal of discovering "new subtypes" points strongly towards leveraging unsupervised learning. A hybrid approach would use the labeled data to understand known disease characteristics and the unlabeled data to find novel patterns, making it the most effective strategy.</a:t>
            </a:r>
          </a:p>
          <a:p>
            <a:endParaRPr lang="en-US" sz="2000" b="1"/>
          </a:p>
          <a:p>
            <a:endParaRPr lang="en-US" sz="2000" dirty="0"/>
          </a:p>
        </p:txBody>
      </p:sp>
    </p:spTree>
    <p:extLst>
      <p:ext uri="{BB962C8B-B14F-4D97-AF65-F5344CB8AC3E}">
        <p14:creationId xmlns:p14="http://schemas.microsoft.com/office/powerpoint/2010/main" val="388288699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3:</a:t>
            </a:r>
          </a:p>
          <a:p>
            <a:r>
              <a:rPr lang="en-US" sz="2000"/>
              <a:t>When considering the interpretability of a machine learning model for a critical application like credit scoring, which of the following is generally preferred?</a:t>
            </a:r>
          </a:p>
          <a:p>
            <a:r>
              <a:rPr lang="en-US" sz="2000"/>
              <a:t>A) Deep Neural Networks (often less interpretable) for their high accuracy.</a:t>
            </a:r>
          </a:p>
          <a:p>
            <a:r>
              <a:rPr lang="en-US" sz="2000"/>
              <a:t>B) Isolation Forest for its efficiency in anomaly detection.</a:t>
            </a:r>
          </a:p>
          <a:p>
            <a:r>
              <a:rPr lang="en-US" sz="2000"/>
              <a:t>C) Supervised models like Logistic Regression or Random Forests for their transparency.</a:t>
            </a:r>
          </a:p>
          <a:p>
            <a:r>
              <a:rPr lang="en-US" sz="2000"/>
              <a:t>D) t-SNE for its ability to visualize high-dimensional data.</a:t>
            </a:r>
          </a:p>
          <a:p>
            <a:endParaRPr lang="en-US" sz="2000"/>
          </a:p>
          <a:p>
            <a:endParaRPr lang="en-US" sz="2000" dirty="0"/>
          </a:p>
        </p:txBody>
      </p:sp>
    </p:spTree>
    <p:extLst>
      <p:ext uri="{BB962C8B-B14F-4D97-AF65-F5344CB8AC3E}">
        <p14:creationId xmlns:p14="http://schemas.microsoft.com/office/powerpoint/2010/main" val="130706547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20000"/>
          </a:bodyPr>
          <a:lstStyle/>
          <a:p>
            <a:r>
              <a:rPr lang="en-US" sz="2000"/>
              <a:t>Question 3:</a:t>
            </a:r>
          </a:p>
          <a:p>
            <a:r>
              <a:rPr lang="en-US" sz="2000"/>
              <a:t>When considering the interpretability of a machine learning model for a critical application like credit scoring, which of the following is generally preferred?</a:t>
            </a:r>
          </a:p>
          <a:p>
            <a:r>
              <a:rPr lang="en-US" sz="2000"/>
              <a:t>A) Deep Neural Networks (often less interpretable) for their high accuracy.</a:t>
            </a:r>
          </a:p>
          <a:p>
            <a:r>
              <a:rPr lang="en-US" sz="2000"/>
              <a:t>B) Isolation Forest for its efficiency in anomaly detection.</a:t>
            </a:r>
          </a:p>
          <a:p>
            <a:r>
              <a:rPr lang="en-US" sz="2000"/>
              <a:t>C) Supervised models like Logistic Regression or Random Forests for their transparency.</a:t>
            </a:r>
          </a:p>
          <a:p>
            <a:r>
              <a:rPr lang="en-US" sz="2000"/>
              <a:t>D) t-SNE for its ability to visualize high-dimensional data.</a:t>
            </a:r>
          </a:p>
          <a:p>
            <a:endParaRPr lang="en-US" sz="2000"/>
          </a:p>
          <a:p>
            <a:endParaRPr lang="en-US" sz="2000"/>
          </a:p>
          <a:p>
            <a:endParaRPr lang="en-US" sz="2000"/>
          </a:p>
          <a:p>
            <a:r>
              <a:rPr lang="en-US" sz="2000" b="1"/>
              <a:t>Correct Answer: C</a:t>
            </a:r>
          </a:p>
          <a:p>
            <a:r>
              <a:rPr lang="en-US" sz="2000" b="1"/>
              <a:t>Explanation: In applications like credit scoring, where understanding why a decision was made is crucial for regulatory compliance and user trust, interpretability is paramount. Supervised models such as Logistic Regression and even certain tree-based methods like Random Forests (when analyzed for feature importance) offer higher transparency and explainability compared to complex models like deep neural networks or purely exploratory tools like t-SNE. Isolation Forest is for anomaly detection, not primarily for credit scoring decisions requiring interpretability.</a:t>
            </a:r>
          </a:p>
          <a:p>
            <a:endParaRPr lang="en-US" sz="2000" b="1"/>
          </a:p>
          <a:p>
            <a:endParaRPr lang="en-US" sz="2000" dirty="0"/>
          </a:p>
        </p:txBody>
      </p:sp>
    </p:spTree>
    <p:extLst>
      <p:ext uri="{BB962C8B-B14F-4D97-AF65-F5344CB8AC3E}">
        <p14:creationId xmlns:p14="http://schemas.microsoft.com/office/powerpoint/2010/main" val="401717245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4:</a:t>
            </a:r>
          </a:p>
          <a:p>
            <a:r>
              <a:rPr lang="en-US" sz="2000"/>
              <a:t>Which of the following unsupervised learning techniques would be most appropriate for reducing the computational load and storage requirements of a large image dataset while striving to retain as much variance as possible?</a:t>
            </a:r>
          </a:p>
          <a:p>
            <a:r>
              <a:rPr lang="en-US" sz="2000"/>
              <a:t>A) t-Distributed Stochastic Neighbor Embedding (t-SNE)</a:t>
            </a:r>
          </a:p>
          <a:p>
            <a:r>
              <a:rPr lang="en-US" sz="2000"/>
              <a:t>B) DBSCAN</a:t>
            </a:r>
          </a:p>
          <a:p>
            <a:r>
              <a:rPr lang="en-US" sz="2000"/>
              <a:t>C) Principal Component Analysis (PCA)</a:t>
            </a:r>
          </a:p>
          <a:p>
            <a:r>
              <a:rPr lang="en-US" sz="2000"/>
              <a:t>D) Hierarchical Clustering</a:t>
            </a:r>
          </a:p>
          <a:p>
            <a:endParaRPr lang="en-US" sz="2000"/>
          </a:p>
          <a:p>
            <a:endParaRPr lang="en-US" sz="2000" dirty="0"/>
          </a:p>
        </p:txBody>
      </p:sp>
    </p:spTree>
    <p:extLst>
      <p:ext uri="{BB962C8B-B14F-4D97-AF65-F5344CB8AC3E}">
        <p14:creationId xmlns:p14="http://schemas.microsoft.com/office/powerpoint/2010/main" val="414853129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20000"/>
          </a:bodyPr>
          <a:lstStyle/>
          <a:p>
            <a:r>
              <a:rPr lang="en-US" sz="2000"/>
              <a:t>Question 4:</a:t>
            </a:r>
          </a:p>
          <a:p>
            <a:r>
              <a:rPr lang="en-US" sz="2000"/>
              <a:t>Which of the following unsupervised learning techniques would be most appropriate for reducing the computational load and storage requirements of a large image dataset while striving to retain as much variance as possible?</a:t>
            </a:r>
          </a:p>
          <a:p>
            <a:r>
              <a:rPr lang="en-US" sz="2000"/>
              <a:t>A) t-Distributed Stochastic Neighbor Embedding (t-SNE)</a:t>
            </a:r>
          </a:p>
          <a:p>
            <a:r>
              <a:rPr lang="en-US" sz="2000"/>
              <a:t>B) DBSCAN</a:t>
            </a:r>
          </a:p>
          <a:p>
            <a:r>
              <a:rPr lang="en-US" sz="2000"/>
              <a:t>C) Principal Component Analysis (PCA)</a:t>
            </a:r>
          </a:p>
          <a:p>
            <a:r>
              <a:rPr lang="en-US" sz="2000"/>
              <a:t>D) Hierarchical Clustering</a:t>
            </a:r>
          </a:p>
          <a:p>
            <a:endParaRPr lang="en-US" sz="2000"/>
          </a:p>
          <a:p>
            <a:endParaRPr lang="en-US" sz="2000"/>
          </a:p>
          <a:p>
            <a:endParaRPr lang="en-US" sz="2000"/>
          </a:p>
          <a:p>
            <a:r>
              <a:rPr lang="en-US" sz="2000" b="1"/>
              <a:t>Correct Answer: C</a:t>
            </a:r>
          </a:p>
          <a:p>
            <a:r>
              <a:rPr lang="en-US" sz="2000" b="1"/>
              <a:t>Explanation: Principal Component Analysis (PCA) is a linear dimensionality reduction technique specifically designed to reduce the number of features while preserving the maximum amount of variance possible. This makes it ideal for tasks like image compression, where both storage and computational load are concerns. t-SNE is for visualization, DBSCAN and Hierarchical Clustering are for clustering, not dimensionality reduction focused on variance retention for compression.</a:t>
            </a:r>
          </a:p>
          <a:p>
            <a:endParaRPr lang="en-US" sz="2000" b="1"/>
          </a:p>
          <a:p>
            <a:endParaRPr lang="en-US" sz="2000" dirty="0"/>
          </a:p>
        </p:txBody>
      </p:sp>
    </p:spTree>
    <p:extLst>
      <p:ext uri="{BB962C8B-B14F-4D97-AF65-F5344CB8AC3E}">
        <p14:creationId xmlns:p14="http://schemas.microsoft.com/office/powerpoint/2010/main" val="93279644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a:t>
            </a:r>
          </a:p>
          <a:p>
            <a:r>
              <a:rPr lang="en-US" sz="2000"/>
              <a:t>A retail company has a massive dataset of customer transactions with no predefined labels indicating customer segments. They want to group customers based on their purchasing behavior to tailor marketing strategies. Which of the following decision criteria and corresponding approach is most suitable?</a:t>
            </a:r>
          </a:p>
          <a:p>
            <a:r>
              <a:rPr lang="en-US" sz="2000"/>
              <a:t>A) Availability of Labeled Data: Supervised Learning (e.g., Support Vector Machines)</a:t>
            </a:r>
          </a:p>
          <a:p>
            <a:r>
              <a:rPr lang="en-US" sz="2000"/>
              <a:t>B) Task Objectives: Supervised Learning (e.g., Linear Regression)</a:t>
            </a:r>
          </a:p>
          <a:p>
            <a:r>
              <a:rPr lang="en-US" sz="2000"/>
              <a:t>C) Availability of Labeled Data: Unsupervised Learning (e.g., K-Means Clustering)</a:t>
            </a:r>
          </a:p>
          <a:p>
            <a:r>
              <a:rPr lang="en-US" sz="2000"/>
              <a:t>D) Interpretability: Supervised Learning (e.g., Decision Trees)</a:t>
            </a:r>
          </a:p>
          <a:p>
            <a:endParaRPr lang="en-US" sz="2000"/>
          </a:p>
          <a:p>
            <a:endParaRPr lang="en-US" sz="2000" dirty="0"/>
          </a:p>
        </p:txBody>
      </p:sp>
    </p:spTree>
    <p:extLst>
      <p:ext uri="{BB962C8B-B14F-4D97-AF65-F5344CB8AC3E}">
        <p14:creationId xmlns:p14="http://schemas.microsoft.com/office/powerpoint/2010/main" val="210593106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lnSpcReduction="10000"/>
          </a:bodyPr>
          <a:lstStyle/>
          <a:p>
            <a:r>
              <a:rPr lang="en-US" sz="2000" dirty="0"/>
              <a:t>Question 5:</a:t>
            </a:r>
          </a:p>
          <a:p>
            <a:r>
              <a:rPr lang="en-US" sz="2000" dirty="0"/>
              <a:t>A retail company has a massive dataset of customer transactions with no predefined labels indicating customer segments. They want to group customers based on their purchasing behavior to tailor marketing strategies. Which of the following decision criteria and corresponding approach is most suitable?</a:t>
            </a:r>
          </a:p>
          <a:p>
            <a:r>
              <a:rPr lang="en-US" sz="2000" dirty="0"/>
              <a:t>A) Availability of Labeled Data: Supervised Learning (e.g., Support Vector Machines)</a:t>
            </a:r>
          </a:p>
          <a:p>
            <a:r>
              <a:rPr lang="en-US" sz="2000" dirty="0"/>
              <a:t>B) Task Objectives: Supervised Learning (e.g., Linear Regression)</a:t>
            </a:r>
          </a:p>
          <a:p>
            <a:r>
              <a:rPr lang="en-US" sz="2000" dirty="0"/>
              <a:t>C) Availability of Labeled Data: Unsupervised Learning (e.g., K-Means Clustering)</a:t>
            </a:r>
          </a:p>
          <a:p>
            <a:r>
              <a:rPr lang="en-US" sz="2000" dirty="0"/>
              <a:t>D) Interpretability: Supervised Learning (e.g., Decision Trees)</a:t>
            </a:r>
          </a:p>
          <a:p>
            <a:endParaRPr lang="en-US" sz="2000" dirty="0"/>
          </a:p>
          <a:p>
            <a:r>
              <a:rPr lang="en-US" sz="2000" b="1" dirty="0"/>
              <a:t>Correct Answer: C</a:t>
            </a:r>
          </a:p>
          <a:p>
            <a:r>
              <a:rPr lang="en-US" sz="2000" b="1" dirty="0"/>
              <a:t>Explanation: The problem explicitly states "no predefined labels" for customer segments, immediately ruling out pure supervised learning. The objective is to "group customers based on their purchasing behavior," which is a classic clustering task, a subset of unsupervised learning. K-Means Clustering is a common and effective algorithm for such segmentation.</a:t>
            </a:r>
          </a:p>
          <a:p>
            <a:endParaRPr lang="en-US" sz="2000" b="1" dirty="0"/>
          </a:p>
          <a:p>
            <a:endParaRPr lang="en-US" sz="2000" dirty="0"/>
          </a:p>
        </p:txBody>
      </p:sp>
    </p:spTree>
    <p:extLst>
      <p:ext uri="{BB962C8B-B14F-4D97-AF65-F5344CB8AC3E}">
        <p14:creationId xmlns:p14="http://schemas.microsoft.com/office/powerpoint/2010/main" val="328641885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6:</a:t>
            </a:r>
          </a:p>
          <a:p>
            <a:r>
              <a:rPr lang="en-US" sz="2000"/>
              <a:t>In the context of unsupervised learning, what is the primary advantage of DBSCAN over K-Means when the data might contain noise and clusters of irregular shapes?</a:t>
            </a:r>
          </a:p>
          <a:p>
            <a:r>
              <a:rPr lang="en-US" sz="2000"/>
              <a:t>A) DBSCAN is faster than K-Means for large datasets.</a:t>
            </a:r>
          </a:p>
          <a:p>
            <a:r>
              <a:rPr lang="en-US" sz="2000"/>
              <a:t>B) DBSCAN requires specifying the number of clusters (K) beforehand.</a:t>
            </a:r>
          </a:p>
          <a:p>
            <a:r>
              <a:rPr lang="en-US" sz="2000"/>
              <a:t>C) DBSCAN can automatically discover the number of clusters and is robust to noise and irregular shapes.</a:t>
            </a:r>
          </a:p>
          <a:p>
            <a:r>
              <a:rPr lang="en-US" sz="2000"/>
              <a:t>D) DBSCAN produces a hierarchical structure (dendrogram) that K-Means does not.</a:t>
            </a:r>
          </a:p>
          <a:p>
            <a:endParaRPr lang="en-US" sz="2000"/>
          </a:p>
          <a:p>
            <a:endParaRPr lang="en-US" sz="2000" dirty="0"/>
          </a:p>
        </p:txBody>
      </p:sp>
    </p:spTree>
    <p:extLst>
      <p:ext uri="{BB962C8B-B14F-4D97-AF65-F5344CB8AC3E}">
        <p14:creationId xmlns:p14="http://schemas.microsoft.com/office/powerpoint/2010/main" val="81210161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20000"/>
          </a:bodyPr>
          <a:lstStyle/>
          <a:p>
            <a:r>
              <a:rPr lang="en-US" sz="2000"/>
              <a:t>Question 6:</a:t>
            </a:r>
          </a:p>
          <a:p>
            <a:r>
              <a:rPr lang="en-US" sz="2000"/>
              <a:t>In the context of unsupervised learning, what is the primary advantage of DBSCAN over K-Means when the data might contain noise and clusters of irregular shapes?</a:t>
            </a:r>
          </a:p>
          <a:p>
            <a:r>
              <a:rPr lang="en-US" sz="2000"/>
              <a:t>A) DBSCAN is faster than K-Means for large datasets.</a:t>
            </a:r>
          </a:p>
          <a:p>
            <a:r>
              <a:rPr lang="en-US" sz="2000"/>
              <a:t>B) DBSCAN requires specifying the number of clusters (K) beforehand.</a:t>
            </a:r>
          </a:p>
          <a:p>
            <a:r>
              <a:rPr lang="en-US" sz="2000"/>
              <a:t>C) DBSCAN can automatically discover the number of clusters and is robust to noise and irregular shapes.</a:t>
            </a:r>
          </a:p>
          <a:p>
            <a:r>
              <a:rPr lang="en-US" sz="2000"/>
              <a:t>D) DBSCAN produces a hierarchical structure (dendrogram) that K-Means does not.</a:t>
            </a:r>
          </a:p>
          <a:p>
            <a:endParaRPr lang="en-US" sz="2000"/>
          </a:p>
          <a:p>
            <a:endParaRPr lang="en-US" sz="2000"/>
          </a:p>
          <a:p>
            <a:endParaRPr lang="en-US" sz="2000"/>
          </a:p>
          <a:p>
            <a:r>
              <a:rPr lang="en-US" sz="2000" b="1"/>
              <a:t>Correct Answer: C</a:t>
            </a:r>
          </a:p>
          <a:p>
            <a:r>
              <a:rPr lang="en-US" sz="2000" b="1"/>
              <a:t>Explanation: A key advantage of DBSCAN is its ability to find clusters of arbitrary shapes and identify outliers (noise) as points that don't belong to any cluster. Unlike K-Means, DBSCAN does not require the user to pre-specify the number of clusters (K), which can be a significant benefit when the true number of clusters is unknown. DBSCAN's speed depends on implementation and data; it doesn't generally produce dendrograms (that's Hierarchical Clustering).</a:t>
            </a:r>
          </a:p>
          <a:p>
            <a:endParaRPr lang="en-US" sz="2000" b="1"/>
          </a:p>
          <a:p>
            <a:endParaRPr lang="en-US" sz="2000" dirty="0"/>
          </a:p>
        </p:txBody>
      </p:sp>
    </p:spTree>
    <p:extLst>
      <p:ext uri="{BB962C8B-B14F-4D97-AF65-F5344CB8AC3E}">
        <p14:creationId xmlns:p14="http://schemas.microsoft.com/office/powerpoint/2010/main" val="393256248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7:</a:t>
            </a:r>
          </a:p>
          <a:p>
            <a:r>
              <a:rPr lang="en-US" sz="2000"/>
              <a:t>Which of the following statements accurately describes the role of "exploration vs. exploitation" in the context of choosing between supervised and unsupervised learning?</a:t>
            </a:r>
          </a:p>
          <a:p>
            <a:r>
              <a:rPr lang="en-US" sz="2000"/>
              <a:t>A) It is primarily a dilemma in Reinforcement Learning, not directly applicable to supervised or unsupervised choices.</a:t>
            </a:r>
          </a:p>
          <a:p>
            <a:r>
              <a:rPr lang="en-US" sz="2000"/>
              <a:t>B) Exploration refers to trying supervised models, while exploitation refers to using unsupervised models.</a:t>
            </a:r>
          </a:p>
          <a:p>
            <a:r>
              <a:rPr lang="en-US" sz="2000"/>
              <a:t>C) It refers to the trade-off of collecting more labeled data (exploration) versus using existing unlabeled data (exploitation).</a:t>
            </a:r>
          </a:p>
          <a:p>
            <a:r>
              <a:rPr lang="en-US" sz="2000"/>
              <a:t>D) It describes the balance between exploring new data patterns (unsupervised) and exploiting known relationships (supervised) when limited labeled data is available.</a:t>
            </a:r>
          </a:p>
          <a:p>
            <a:endParaRPr lang="en-US" sz="2000"/>
          </a:p>
          <a:p>
            <a:endParaRPr lang="en-US" sz="2000" dirty="0"/>
          </a:p>
        </p:txBody>
      </p:sp>
    </p:spTree>
    <p:extLst>
      <p:ext uri="{BB962C8B-B14F-4D97-AF65-F5344CB8AC3E}">
        <p14:creationId xmlns:p14="http://schemas.microsoft.com/office/powerpoint/2010/main" val="328838405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85000" lnSpcReduction="20000"/>
          </a:bodyPr>
          <a:lstStyle/>
          <a:p>
            <a:r>
              <a:rPr lang="en-US" sz="2000"/>
              <a:t>Question 7:</a:t>
            </a:r>
          </a:p>
          <a:p>
            <a:r>
              <a:rPr lang="en-US" sz="2000"/>
              <a:t>Which of the following statements accurately describes the role of "exploration vs. exploitation" in the context of choosing between supervised and unsupervised learning?</a:t>
            </a:r>
          </a:p>
          <a:p>
            <a:r>
              <a:rPr lang="en-US" sz="2000"/>
              <a:t>A) It is primarily a dilemma in Reinforcement Learning, not directly applicable to supervised or unsupervised choices.</a:t>
            </a:r>
          </a:p>
          <a:p>
            <a:r>
              <a:rPr lang="en-US" sz="2000"/>
              <a:t>B) Exploration refers to trying supervised models, while exploitation refers to using unsupervised models.</a:t>
            </a:r>
          </a:p>
          <a:p>
            <a:r>
              <a:rPr lang="en-US" sz="2000"/>
              <a:t>C) It refers to the trade-off of collecting more labeled data (exploration) versus using existing unlabeled data (exploitation).</a:t>
            </a:r>
          </a:p>
          <a:p>
            <a:r>
              <a:rPr lang="en-US" sz="2000"/>
              <a:t>D) It describes the balance between exploring new data patterns (unsupervised) and exploiting known relationships (supervised) when limited labeled data is available.</a:t>
            </a:r>
          </a:p>
          <a:p>
            <a:endParaRPr lang="en-US" sz="2000"/>
          </a:p>
          <a:p>
            <a:endParaRPr lang="en-US" sz="2000"/>
          </a:p>
          <a:p>
            <a:endParaRPr lang="en-US" sz="2000"/>
          </a:p>
          <a:p>
            <a:r>
              <a:rPr lang="en-US" sz="2000" b="1"/>
              <a:t>Correct Answer: A</a:t>
            </a:r>
          </a:p>
          <a:p>
            <a:r>
              <a:rPr lang="en-US" sz="2000" b="1"/>
              <a:t>Explanation: The concept of "exploration vs. exploitation" is a fundamental dilemma in Reinforcement Learning, where an agent must decide whether to try new actions to discover potentially better rewards (exploration) or stick with actions known to yield good rewards (exploitation). While there are analogous trade-offs in general ML (e.g., exploring new features vs. exploiting existing ones), the specific term "exploration vs. exploitation" is most directly and prominently associated with Reinforcement Learning principles, as stated in the provided text (Section 2.4).</a:t>
            </a:r>
          </a:p>
          <a:p>
            <a:endParaRPr lang="en-US" sz="2000" b="1"/>
          </a:p>
          <a:p>
            <a:r>
              <a:rPr lang="en-US" sz="2000" b="1"/>
              <a:t>---</a:t>
            </a:r>
          </a:p>
          <a:p>
            <a:endParaRPr lang="en-US" sz="2000" b="1"/>
          </a:p>
          <a:p>
            <a:endParaRPr lang="en-US" sz="2000" dirty="0"/>
          </a:p>
        </p:txBody>
      </p:sp>
    </p:spTree>
    <p:extLst>
      <p:ext uri="{BB962C8B-B14F-4D97-AF65-F5344CB8AC3E}">
        <p14:creationId xmlns:p14="http://schemas.microsoft.com/office/powerpoint/2010/main" val="263932475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pPr algn="just"/>
            <a:endParaRPr lang="en-US" sz="2000" dirty="0"/>
          </a:p>
          <a:p>
            <a:pPr algn="just"/>
            <a:endParaRPr lang="en-US" sz="2000" dirty="0"/>
          </a:p>
          <a:p>
            <a:pPr algn="just"/>
            <a:r>
              <a:rPr lang="en-US" sz="2000" dirty="0"/>
              <a:t>A new social media platform, "</a:t>
            </a:r>
            <a:r>
              <a:rPr lang="en-US" sz="2000" dirty="0" err="1"/>
              <a:t>ConnectSphere</a:t>
            </a:r>
            <a:r>
              <a:rPr lang="en-US" sz="2000" dirty="0"/>
              <a:t>," is rapidly growing and generates vast amounts of user interaction data daily (likes, shares, comments, follows). </a:t>
            </a:r>
            <a:r>
              <a:rPr lang="en-US" sz="2000" dirty="0" err="1"/>
              <a:t>ConnectSphere</a:t>
            </a:r>
            <a:r>
              <a:rPr lang="en-US" sz="2000" dirty="0"/>
              <a:t> wants to implement a personalized content recommendation system for its users. They have a massive database of user activity but very little explicitly labeled data regarding "user preferences" for specific content types. The platform's goal is to provide highly relevant content suggestions efficiently to millions of users, thereby increasing engagement and user retention.</a:t>
            </a:r>
          </a:p>
          <a:p>
            <a:pPr algn="just"/>
            <a:endParaRPr lang="en-US" sz="2000" dirty="0"/>
          </a:p>
          <a:p>
            <a:pPr algn="just"/>
            <a:r>
              <a:rPr lang="en-US" sz="2000" dirty="0"/>
              <a:t>Challenge:</a:t>
            </a:r>
          </a:p>
          <a:p>
            <a:pPr algn="just"/>
            <a:r>
              <a:rPr lang="en-US" sz="2000" dirty="0"/>
              <a:t>Recommend the most appropriate machine learning approach(</a:t>
            </a:r>
            <a:r>
              <a:rPr lang="en-US" sz="2000" dirty="0" err="1"/>
              <a:t>es</a:t>
            </a:r>
            <a:r>
              <a:rPr lang="en-US" sz="2000" dirty="0"/>
              <a:t>) for </a:t>
            </a:r>
            <a:r>
              <a:rPr lang="en-US" sz="2000" dirty="0" err="1"/>
              <a:t>ConnectSphere's</a:t>
            </a:r>
            <a:r>
              <a:rPr lang="en-US" sz="2000" dirty="0"/>
              <a:t> content recommendation system. Justify your choice by referencing the decision-making criteria discussed in the presentation. Consider the challenges of data scale and the lack of labeled preference data.</a:t>
            </a:r>
          </a:p>
          <a:p>
            <a:pPr algn="just"/>
            <a:endParaRPr lang="en-US" sz="2000" dirty="0"/>
          </a:p>
          <a:p>
            <a:pPr algn="just"/>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47396368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fontScale="55000" lnSpcReduction="20000"/>
          </a:bodyPr>
          <a:lstStyle/>
          <a:p>
            <a:r>
              <a:rPr lang="en-US" sz="2000"/>
              <a:t>Solution:</a:t>
            </a:r>
          </a:p>
          <a:p>
            <a:endParaRPr lang="en-US" sz="2000"/>
          </a:p>
          <a:p>
            <a:endParaRPr lang="en-US" sz="2000"/>
          </a:p>
          <a:p>
            <a:r>
              <a:rPr lang="en-US" sz="2000"/>
              <a:t>ConnectSphere should primarily utilize Unsupervised Learning techniques, likely combined with Hybrid Approaches for its personalized content recommendation system.</a:t>
            </a:r>
          </a:p>
          <a:p>
            <a:endParaRPr lang="en-US" sz="2000"/>
          </a:p>
          <a:p>
            <a:r>
              <a:rPr lang="en-US" sz="2000"/>
              <a:t>Justification based on Decision-Making Criteria:</a:t>
            </a:r>
          </a:p>
          <a:p>
            <a:endParaRPr lang="en-US" sz="2000"/>
          </a:p>
          <a:p>
            <a:r>
              <a:rPr lang="en-US" sz="2000"/>
              <a:t>1.  Availability of Labeled Data: The case states "very little explicitly labeled data regarding 'user preferences'." This is the most crucial factor, immediately pointing away from a pure supervised learning approach, which requires extensive labeled data for training.</a:t>
            </a:r>
          </a:p>
          <a:p>
            <a:r>
              <a:rPr lang="en-US" sz="2000"/>
              <a:t>2.  Task Objectives: The goal is to provide "personalized content recommendations" and increase "engagement." While engagement could be seen as a target, creating explicit labels for every user's preference across all content types for millions of users is impractical. Unsupervised learning can discover underlying user groups or content similarities without explicit labels.</a:t>
            </a:r>
          </a:p>
          <a:p>
            <a:r>
              <a:rPr lang="en-US" sz="2000"/>
              <a:t>3.  Nature of Data: The platform generates "vast amounts of user interaction data" daily, which is inherently unlabeled regarding direct preferences. This type of high-volume, dynamic data is well-suited for unsupervised methods to find patterns.</a:t>
            </a:r>
          </a:p>
          <a:p>
            <a:r>
              <a:rPr lang="en-US" sz="2000"/>
              <a:t>4.  Scalability: ConnectSphere needs to serve "millions of users efficiently." Unsupervised learning techniques like matrix factorization or collaborative filtering are well-known for their scalability in handling large datasets for recommendation systems. Training supervised models on such a vast, constantly updating, and high-dimensional dataset (if labels could even be generated) would be computationally prohibitive.</a:t>
            </a:r>
          </a:p>
          <a:p>
            <a:r>
              <a:rPr lang="en-US" sz="2000"/>
              <a:t>5.  Interpretability (Secondary): While interpretability can be useful, for a recommendation system, the primary goal is often effectiveness (user engagement) and efficiency. Unsupervised methods, while sometimes less directly interpretable than some supervised models, can still provide actionable insights (e.g., "users who liked X also liked Y").</a:t>
            </a:r>
          </a:p>
          <a:p>
            <a:endParaRPr lang="en-US" sz="2000"/>
          </a:p>
          <a:p>
            <a:r>
              <a:rPr lang="en-US" sz="2000"/>
              <a:t>Specific Unsupervised Techniques:</a:t>
            </a:r>
          </a:p>
          <a:p>
            <a:r>
              <a:rPr lang="en-US" sz="2000"/>
              <a:t>Clustering (e.g., K-Means, Hierarchical): Can group users with similar interaction patterns or content with similar characteristics.</a:t>
            </a:r>
          </a:p>
          <a:p>
            <a:r>
              <a:rPr lang="en-US" sz="2000"/>
              <a:t>Dimensionality Reduction (e.g., PCA, SVD for Matrix Factorization): Can reduce the complexity of user-item interaction matrices, making recommendations more efficient.</a:t>
            </a:r>
          </a:p>
          <a:p>
            <a:r>
              <a:rPr lang="en-US" sz="2000"/>
              <a:t>Collaborative Filtering: Although sometimes seen as a distinct paradigm, it heavily relies on finding patterns in user-item interactions (unlabeled preferences) to make recommendations, which aligns with unsupervised principles.</a:t>
            </a:r>
          </a:p>
          <a:p>
            <a:endParaRPr lang="en-US" sz="2000"/>
          </a:p>
          <a:p>
            <a:r>
              <a:rPr lang="en-US" sz="2000"/>
              <a:t>Hybrid Approach Consideration:</a:t>
            </a:r>
          </a:p>
          <a:p>
            <a:r>
              <a:rPr lang="en-US" sz="2000"/>
              <a:t>While primarily unsupervised, ConnectSphere might benefit from a hybrid approach. For example, once initial clusters or latent factors are identified via unsupervised learning, a small amount of manually labeled "high-engagement" content could potentially be used in a semi-supervised fashion to fine-tune recommendation models for specific content categories or user segments, if such labels become available or are worth the effort for critical content. However, for the core system with millions of users and dynamic data, unsupervised methods would form the backbone.</a:t>
            </a:r>
          </a:p>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282786497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91FAD36-948F-C4AD-2154-0A97CE14D683}"/>
              </a:ext>
            </a:extLst>
          </p:cNvPr>
          <p:cNvGraphicFramePr>
            <a:graphicFrameLocks noGrp="1"/>
          </p:cNvGraphicFramePr>
          <p:nvPr>
            <p:extLst>
              <p:ext uri="{D42A27DB-BD31-4B8C-83A1-F6EECF244321}">
                <p14:modId xmlns:p14="http://schemas.microsoft.com/office/powerpoint/2010/main" val="1343978514"/>
              </p:ext>
            </p:extLst>
          </p:nvPr>
        </p:nvGraphicFramePr>
        <p:xfrm>
          <a:off x="78929" y="115889"/>
          <a:ext cx="12041635" cy="6675437"/>
        </p:xfrm>
        <a:graphic>
          <a:graphicData uri="http://schemas.openxmlformats.org/drawingml/2006/table">
            <a:tbl>
              <a:tblPr/>
              <a:tblGrid>
                <a:gridCol w="2408327">
                  <a:extLst>
                    <a:ext uri="{9D8B030D-6E8A-4147-A177-3AD203B41FA5}">
                      <a16:colId xmlns:a16="http://schemas.microsoft.com/office/drawing/2014/main" val="2536514427"/>
                    </a:ext>
                  </a:extLst>
                </a:gridCol>
                <a:gridCol w="2408327">
                  <a:extLst>
                    <a:ext uri="{9D8B030D-6E8A-4147-A177-3AD203B41FA5}">
                      <a16:colId xmlns:a16="http://schemas.microsoft.com/office/drawing/2014/main" val="877219863"/>
                    </a:ext>
                  </a:extLst>
                </a:gridCol>
                <a:gridCol w="2408327">
                  <a:extLst>
                    <a:ext uri="{9D8B030D-6E8A-4147-A177-3AD203B41FA5}">
                      <a16:colId xmlns:a16="http://schemas.microsoft.com/office/drawing/2014/main" val="2054725377"/>
                    </a:ext>
                  </a:extLst>
                </a:gridCol>
                <a:gridCol w="2408327">
                  <a:extLst>
                    <a:ext uri="{9D8B030D-6E8A-4147-A177-3AD203B41FA5}">
                      <a16:colId xmlns:a16="http://schemas.microsoft.com/office/drawing/2014/main" val="3799690801"/>
                    </a:ext>
                  </a:extLst>
                </a:gridCol>
                <a:gridCol w="2408327">
                  <a:extLst>
                    <a:ext uri="{9D8B030D-6E8A-4147-A177-3AD203B41FA5}">
                      <a16:colId xmlns:a16="http://schemas.microsoft.com/office/drawing/2014/main" val="3970323130"/>
                    </a:ext>
                  </a:extLst>
                </a:gridCol>
              </a:tblGrid>
              <a:tr h="291388">
                <a:tc>
                  <a:txBody>
                    <a:bodyPr/>
                    <a:lstStyle/>
                    <a:p>
                      <a:pPr rtl="0">
                        <a:buNone/>
                      </a:pPr>
                      <a:r>
                        <a:rPr lang="en-IN" sz="1000" b="1">
                          <a:solidFill>
                            <a:srgbClr val="1F1F1F"/>
                          </a:solidFill>
                          <a:effectLst/>
                          <a:latin typeface="Google Sans Text"/>
                        </a:rPr>
                        <a:t>Algorithm</a:t>
                      </a:r>
                      <a:endParaRPr lang="en-IN" sz="1000">
                        <a:solidFill>
                          <a:srgbClr val="1F1F1F"/>
                        </a:solidFill>
                        <a:effectLst/>
                        <a:latin typeface="Google Sans Text"/>
                      </a:endParaRP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Type</a:t>
                      </a:r>
                      <a:endParaRPr lang="en-IN" sz="1000">
                        <a:solidFill>
                          <a:srgbClr val="1F1F1F"/>
                        </a:solidFill>
                        <a:effectLst/>
                        <a:latin typeface="Google Sans Text"/>
                      </a:endParaRP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Strengths</a:t>
                      </a:r>
                      <a:endParaRPr lang="en-IN" sz="1000">
                        <a:solidFill>
                          <a:srgbClr val="1F1F1F"/>
                        </a:solidFill>
                        <a:effectLst/>
                        <a:latin typeface="Google Sans Text"/>
                      </a:endParaRP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Weaknesses</a:t>
                      </a:r>
                      <a:endParaRPr lang="en-IN" sz="1000">
                        <a:solidFill>
                          <a:srgbClr val="1F1F1F"/>
                        </a:solidFill>
                        <a:effectLst/>
                        <a:latin typeface="Google Sans Text"/>
                      </a:endParaRP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Best Used For</a:t>
                      </a:r>
                      <a:endParaRPr lang="en-IN" sz="1000">
                        <a:solidFill>
                          <a:srgbClr val="1F1F1F"/>
                        </a:solidFill>
                        <a:effectLst/>
                        <a:latin typeface="Google Sans Text"/>
                      </a:endParaRP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291840747"/>
                  </a:ext>
                </a:extLst>
              </a:tr>
              <a:tr h="768205">
                <a:tc>
                  <a:txBody>
                    <a:bodyPr/>
                    <a:lstStyle/>
                    <a:p>
                      <a:pPr rtl="0">
                        <a:buNone/>
                      </a:pPr>
                      <a:r>
                        <a:rPr lang="en-IN" sz="1000" b="1">
                          <a:solidFill>
                            <a:srgbClr val="1F1F1F"/>
                          </a:solidFill>
                          <a:effectLst/>
                          <a:latin typeface="Google Sans Text"/>
                        </a:rPr>
                        <a:t>K-Means</a:t>
                      </a:r>
                      <a:endParaRPr lang="en-IN" sz="1000">
                        <a:solidFill>
                          <a:srgbClr val="1F1F1F"/>
                        </a:solidFill>
                        <a:effectLst/>
                        <a:latin typeface="Google Sans Text"/>
                      </a:endParaRP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Clustering (Hard)</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Fast, intuitive, highly scalable</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Fails on non-spherical shapes; rigid</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Basic customer profiling, document grouping</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212034238"/>
                  </a:ext>
                </a:extLst>
              </a:tr>
              <a:tr h="1006614">
                <a:tc>
                  <a:txBody>
                    <a:bodyPr/>
                    <a:lstStyle/>
                    <a:p>
                      <a:pPr rtl="0">
                        <a:buNone/>
                      </a:pPr>
                      <a:r>
                        <a:rPr lang="en-IN" sz="1000" b="1">
                          <a:solidFill>
                            <a:srgbClr val="1F1F1F"/>
                          </a:solidFill>
                          <a:effectLst/>
                          <a:latin typeface="Google Sans Text"/>
                        </a:rPr>
                        <a:t>DBSCAN</a:t>
                      </a:r>
                      <a:endParaRPr lang="en-IN" sz="1000">
                        <a:solidFill>
                          <a:srgbClr val="1F1F1F"/>
                        </a:solidFill>
                        <a:effectLst/>
                        <a:latin typeface="Google Sans Text"/>
                      </a:endParaRP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Clustering (Density)</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Finds $K$ automatically; handles noise &amp; odd shapes</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Fails on varying densities; slow on huge sets</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GIS mapping, traffic hotspots, anomaly detection</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204457982"/>
                  </a:ext>
                </a:extLst>
              </a:tr>
              <a:tr h="768205">
                <a:tc>
                  <a:txBody>
                    <a:bodyPr/>
                    <a:lstStyle/>
                    <a:p>
                      <a:pPr rtl="0">
                        <a:buNone/>
                      </a:pPr>
                      <a:r>
                        <a:rPr lang="en-IN" sz="1000" b="1">
                          <a:solidFill>
                            <a:srgbClr val="1F1F1F"/>
                          </a:solidFill>
                          <a:effectLst/>
                          <a:latin typeface="Google Sans Text"/>
                        </a:rPr>
                        <a:t>Hierarchical</a:t>
                      </a:r>
                      <a:endParaRPr lang="en-IN" sz="1000">
                        <a:solidFill>
                          <a:srgbClr val="1F1F1F"/>
                        </a:solidFill>
                        <a:effectLst/>
                        <a:latin typeface="Google Sans Text"/>
                      </a:endParaRP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Clustering (Tree)</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Clear visual hierarchy (dendrogram)</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dirty="0">
                          <a:solidFill>
                            <a:srgbClr val="1F1F1F"/>
                          </a:solidFill>
                          <a:effectLst/>
                          <a:latin typeface="Google Sans Text"/>
                        </a:rPr>
                        <a:t>Extremely slow on large datasets</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Corporate structuring, genetic taxonomies</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623385872"/>
                  </a:ext>
                </a:extLst>
              </a:tr>
              <a:tr h="768205">
                <a:tc>
                  <a:txBody>
                    <a:bodyPr/>
                    <a:lstStyle/>
                    <a:p>
                      <a:pPr rtl="0">
                        <a:buNone/>
                      </a:pPr>
                      <a:r>
                        <a:rPr lang="en-IN" sz="1000" b="1">
                          <a:solidFill>
                            <a:srgbClr val="1F1F1F"/>
                          </a:solidFill>
                          <a:effectLst/>
                          <a:latin typeface="Google Sans Text"/>
                        </a:rPr>
                        <a:t>GMM</a:t>
                      </a:r>
                      <a:endParaRPr lang="en-IN" sz="1000">
                        <a:solidFill>
                          <a:srgbClr val="1F1F1F"/>
                        </a:solidFill>
                        <a:effectLst/>
                        <a:latin typeface="Google Sans Text"/>
                      </a:endParaRP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Clustering (Soft)</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Flexible shapes; gives probabilities of belonging</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Hard to tune; computationally heavy</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Biometrics, complex customer trait blending</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754286834"/>
                  </a:ext>
                </a:extLst>
              </a:tr>
              <a:tr h="768205">
                <a:tc>
                  <a:txBody>
                    <a:bodyPr/>
                    <a:lstStyle/>
                    <a:p>
                      <a:pPr rtl="0">
                        <a:buNone/>
                      </a:pPr>
                      <a:r>
                        <a:rPr lang="en-IN" sz="1000" b="1">
                          <a:solidFill>
                            <a:srgbClr val="1F1F1F"/>
                          </a:solidFill>
                          <a:effectLst/>
                          <a:latin typeface="Google Sans Text"/>
                        </a:rPr>
                        <a:t>PCA</a:t>
                      </a:r>
                      <a:endParaRPr lang="en-IN" sz="1000">
                        <a:solidFill>
                          <a:srgbClr val="1F1F1F"/>
                        </a:solidFill>
                        <a:effectLst/>
                        <a:latin typeface="Google Sans Text"/>
                      </a:endParaRP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Dim. Reduction (Linear)</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Fast; keeps global structure; ideal for compression</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Loses complex non-linear relationships</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Image compression, model feature reduction</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56563003"/>
                  </a:ext>
                </a:extLst>
              </a:tr>
              <a:tr h="768205">
                <a:tc>
                  <a:txBody>
                    <a:bodyPr/>
                    <a:lstStyle/>
                    <a:p>
                      <a:pPr rtl="0">
                        <a:buNone/>
                      </a:pPr>
                      <a:r>
                        <a:rPr lang="en-IN" sz="1000" b="1">
                          <a:solidFill>
                            <a:srgbClr val="1F1F1F"/>
                          </a:solidFill>
                          <a:effectLst/>
                          <a:latin typeface="Google Sans Text"/>
                        </a:rPr>
                        <a:t>t-SNE / UMAP</a:t>
                      </a:r>
                      <a:endParaRPr lang="en-IN" sz="1000">
                        <a:solidFill>
                          <a:srgbClr val="1F1F1F"/>
                        </a:solidFill>
                        <a:effectLst/>
                        <a:latin typeface="Google Sans Text"/>
                      </a:endParaRP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Dim. Reduction (Non-Linear)</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Unmatched for complex 2D/3D visualizations</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Destroys data scale; compute-heavy</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Visualizing deep learning token/word embeddings</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307361088"/>
                  </a:ext>
                </a:extLst>
              </a:tr>
              <a:tr h="768205">
                <a:tc>
                  <a:txBody>
                    <a:bodyPr/>
                    <a:lstStyle/>
                    <a:p>
                      <a:pPr rtl="0">
                        <a:buNone/>
                      </a:pPr>
                      <a:r>
                        <a:rPr lang="en-IN" sz="1000" b="1">
                          <a:solidFill>
                            <a:srgbClr val="1F1F1F"/>
                          </a:solidFill>
                          <a:effectLst/>
                          <a:latin typeface="Google Sans Text"/>
                        </a:rPr>
                        <a:t>Isolation Forest</a:t>
                      </a:r>
                      <a:endParaRPr lang="en-IN" sz="1000">
                        <a:solidFill>
                          <a:srgbClr val="1F1F1F"/>
                        </a:solidFill>
                        <a:effectLst/>
                        <a:latin typeface="Google Sans Text"/>
                      </a:endParaRP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Anomaly Detection</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Directly targets and isolates outliers</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Not built for standard grouping tasks</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Cybersecurity intrusion, card fraud detection</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270507705"/>
                  </a:ext>
                </a:extLst>
              </a:tr>
              <a:tr h="768205">
                <a:tc>
                  <a:txBody>
                    <a:bodyPr/>
                    <a:lstStyle/>
                    <a:p>
                      <a:pPr rtl="0">
                        <a:buNone/>
                      </a:pPr>
                      <a:r>
                        <a:rPr lang="en-IN" sz="1000" b="1">
                          <a:solidFill>
                            <a:srgbClr val="1F1F1F"/>
                          </a:solidFill>
                          <a:effectLst/>
                          <a:latin typeface="Google Sans Text"/>
                        </a:rPr>
                        <a:t>Apriori</a:t>
                      </a:r>
                      <a:endParaRPr lang="en-IN" sz="1000">
                        <a:solidFill>
                          <a:srgbClr val="1F1F1F"/>
                        </a:solidFill>
                        <a:effectLst/>
                        <a:latin typeface="Google Sans Text"/>
                      </a:endParaRP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dirty="0">
                          <a:solidFill>
                            <a:srgbClr val="1F1F1F"/>
                          </a:solidFill>
                          <a:effectLst/>
                          <a:latin typeface="Google Sans Text"/>
                        </a:rPr>
                        <a:t>Association Mining</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Uncovers clear "if-then" behavioral rules</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Scales poorly with massive inventories</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sz="1000" dirty="0">
                          <a:solidFill>
                            <a:srgbClr val="1F1F1F"/>
                          </a:solidFill>
                          <a:effectLst/>
                          <a:latin typeface="Google Sans Text"/>
                        </a:rPr>
                        <a:t>Retail cross-selling, checkout recommendations</a:t>
                      </a:r>
                    </a:p>
                  </a:txBody>
                  <a:tcPr marL="25901" marR="25901" marT="17267" marB="17267"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985047319"/>
                  </a:ext>
                </a:extLst>
              </a:tr>
            </a:tbl>
          </a:graphicData>
        </a:graphic>
      </p:graphicFrame>
    </p:spTree>
    <p:extLst>
      <p:ext uri="{BB962C8B-B14F-4D97-AF65-F5344CB8AC3E}">
        <p14:creationId xmlns:p14="http://schemas.microsoft.com/office/powerpoint/2010/main" val="218461783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C4F86F-A608-6634-C714-3F8D407BFD69}"/>
              </a:ext>
            </a:extLst>
          </p:cNvPr>
          <p:cNvSpPr txBox="1"/>
          <p:nvPr/>
        </p:nvSpPr>
        <p:spPr>
          <a:xfrm>
            <a:off x="771525" y="1097340"/>
            <a:ext cx="9286875" cy="2523768"/>
          </a:xfrm>
          <a:prstGeom prst="rect">
            <a:avLst/>
          </a:prstGeom>
          <a:noFill/>
        </p:spPr>
        <p:txBody>
          <a:bodyPr wrap="square">
            <a:spAutoFit/>
          </a:bodyPr>
          <a:lstStyle/>
          <a:p>
            <a:pPr>
              <a:buNone/>
            </a:pPr>
            <a:r>
              <a:rPr lang="en-IN" b="1" dirty="0"/>
              <a:t>Key Takeaway:</a:t>
            </a:r>
          </a:p>
          <a:p>
            <a:pPr marL="285750" indent="-285750">
              <a:spcBef>
                <a:spcPts val="1200"/>
              </a:spcBef>
              <a:buFont typeface="Wingdings" panose="05000000000000000000" pitchFamily="2" charset="2"/>
              <a:buChar char="ü"/>
            </a:pPr>
            <a:r>
              <a:rPr lang="en-IN" dirty="0"/>
              <a:t>If the goal is </a:t>
            </a:r>
            <a:r>
              <a:rPr lang="en-IN" b="1" dirty="0"/>
              <a:t>grouping data by distance/averages</a:t>
            </a:r>
            <a:r>
              <a:rPr lang="en-IN" dirty="0"/>
              <a:t>, use </a:t>
            </a:r>
            <a:r>
              <a:rPr lang="en-IN" b="1" dirty="0"/>
              <a:t>K-Means</a:t>
            </a:r>
            <a:r>
              <a:rPr lang="en-IN" dirty="0"/>
              <a:t>.</a:t>
            </a:r>
          </a:p>
          <a:p>
            <a:pPr marL="285750" indent="-285750">
              <a:spcBef>
                <a:spcPts val="1200"/>
              </a:spcBef>
              <a:buFont typeface="Wingdings" panose="05000000000000000000" pitchFamily="2" charset="2"/>
              <a:buChar char="ü"/>
            </a:pPr>
            <a:r>
              <a:rPr lang="en-IN" dirty="0"/>
              <a:t>If the data is </a:t>
            </a:r>
            <a:r>
              <a:rPr lang="en-IN" b="1" dirty="0"/>
              <a:t>messy, has outliers, and organic shapes</a:t>
            </a:r>
            <a:r>
              <a:rPr lang="en-IN" dirty="0"/>
              <a:t>, use </a:t>
            </a:r>
            <a:r>
              <a:rPr lang="en-IN" b="1" dirty="0"/>
              <a:t>DBSCAN</a:t>
            </a:r>
            <a:r>
              <a:rPr lang="en-IN" dirty="0"/>
              <a:t>.</a:t>
            </a:r>
          </a:p>
          <a:p>
            <a:pPr marL="285750" indent="-285750">
              <a:spcBef>
                <a:spcPts val="1200"/>
              </a:spcBef>
              <a:buFont typeface="Wingdings" panose="05000000000000000000" pitchFamily="2" charset="2"/>
              <a:buChar char="ü"/>
            </a:pPr>
            <a:r>
              <a:rPr lang="en-IN" dirty="0"/>
              <a:t>If you need to see a </a:t>
            </a:r>
            <a:r>
              <a:rPr lang="en-IN" b="1" dirty="0"/>
              <a:t>nested, organizational hierarchy</a:t>
            </a:r>
            <a:r>
              <a:rPr lang="en-IN" dirty="0"/>
              <a:t>, use </a:t>
            </a:r>
            <a:r>
              <a:rPr lang="en-IN" b="1" dirty="0"/>
              <a:t>Hierarchical Clustering</a:t>
            </a:r>
            <a:r>
              <a:rPr lang="en-IN" dirty="0"/>
              <a:t>.</a:t>
            </a:r>
          </a:p>
          <a:p>
            <a:pPr marL="285750" indent="-285750">
              <a:spcBef>
                <a:spcPts val="1200"/>
              </a:spcBef>
              <a:buFont typeface="Wingdings" panose="05000000000000000000" pitchFamily="2" charset="2"/>
              <a:buChar char="ü"/>
            </a:pPr>
            <a:r>
              <a:rPr lang="en-IN" dirty="0"/>
              <a:t>If the data has </a:t>
            </a:r>
            <a:r>
              <a:rPr lang="en-IN" b="1" dirty="0"/>
              <a:t>too many columns/features to process</a:t>
            </a:r>
            <a:r>
              <a:rPr lang="en-IN" dirty="0"/>
              <a:t>, compress it using </a:t>
            </a:r>
            <a:r>
              <a:rPr lang="en-IN" b="1" dirty="0"/>
              <a:t>PCA</a:t>
            </a:r>
            <a:r>
              <a:rPr lang="en-IN" dirty="0"/>
              <a:t>.</a:t>
            </a:r>
          </a:p>
          <a:p>
            <a:pPr marL="285750" indent="-285750">
              <a:spcBef>
                <a:spcPts val="1200"/>
              </a:spcBef>
              <a:buFont typeface="Wingdings" panose="05000000000000000000" pitchFamily="2" charset="2"/>
              <a:buChar char="ü"/>
            </a:pPr>
            <a:r>
              <a:rPr lang="en-IN" dirty="0"/>
              <a:t>If you are strictly looking for the </a:t>
            </a:r>
            <a:r>
              <a:rPr lang="en-IN" b="1" dirty="0"/>
              <a:t>needle in a haystack</a:t>
            </a:r>
            <a:r>
              <a:rPr lang="en-IN" dirty="0"/>
              <a:t>, isolate it with </a:t>
            </a:r>
            <a:r>
              <a:rPr lang="en-IN" b="1" dirty="0"/>
              <a:t>Isolation Forest</a:t>
            </a:r>
            <a:r>
              <a:rPr lang="en-IN" dirty="0"/>
              <a:t>.</a:t>
            </a:r>
          </a:p>
        </p:txBody>
      </p:sp>
    </p:spTree>
    <p:extLst>
      <p:ext uri="{BB962C8B-B14F-4D97-AF65-F5344CB8AC3E}">
        <p14:creationId xmlns:p14="http://schemas.microsoft.com/office/powerpoint/2010/main" val="261584186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Session Summary</a:t>
            </a:r>
            <a:endParaRPr lang="en-US" sz="2800" b="1" dirty="0">
              <a:solidFill>
                <a:srgbClr val="D9212B"/>
              </a:solidFill>
            </a:endParaRPr>
          </a:p>
        </p:txBody>
      </p:sp>
      <p:sp>
        <p:nvSpPr>
          <p:cNvPr id="5" name="Google Shape;135;p9"/>
          <p:cNvSpPr txBox="1"/>
          <p:nvPr/>
        </p:nvSpPr>
        <p:spPr>
          <a:xfrm>
            <a:off x="715540" y="1569935"/>
            <a:ext cx="10659596" cy="3856913"/>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Understand the core principles and methodologies of unsupervised learning.</a:t>
            </a:r>
          </a:p>
          <a:p>
            <a:pPr>
              <a:lnSpc>
                <a:spcPct val="115000"/>
              </a:lnSpc>
              <a:spcAft>
                <a:spcPts val="1000"/>
              </a:spcAft>
            </a:pPr>
            <a:r>
              <a:rPr lang="en-US" dirty="0">
                <a:latin typeface=""/>
                <a:ea typeface="Times New Roman"/>
                <a:cs typeface="Times New Roman"/>
              </a:rPr>
              <a:t>•   Explore various unsupervised learning algorithms for clustering, dimensionality reduction, and anomaly detection.</a:t>
            </a:r>
          </a:p>
          <a:p>
            <a:pPr>
              <a:lnSpc>
                <a:spcPct val="115000"/>
              </a:lnSpc>
              <a:spcAft>
                <a:spcPts val="1000"/>
              </a:spcAft>
            </a:pPr>
            <a:r>
              <a:rPr lang="en-US" dirty="0">
                <a:latin typeface=""/>
                <a:ea typeface="Times New Roman"/>
                <a:cs typeface="Times New Roman"/>
              </a:rPr>
              <a:t>•   Identify real-world applications of unsupervised learning techniques.</a:t>
            </a:r>
          </a:p>
          <a:p>
            <a:pPr>
              <a:lnSpc>
                <a:spcPct val="115000"/>
              </a:lnSpc>
              <a:spcAft>
                <a:spcPts val="1000"/>
              </a:spcAft>
            </a:pPr>
            <a:r>
              <a:rPr lang="en-US" dirty="0">
                <a:latin typeface=""/>
                <a:ea typeface="Times New Roman"/>
                <a:cs typeface="Times New Roman"/>
              </a:rPr>
              <a:t>•   Learn the critical factors influencing the choice between supervised and unsupervised learning approaches.</a:t>
            </a:r>
          </a:p>
          <a:p>
            <a:pPr>
              <a:lnSpc>
                <a:spcPct val="115000"/>
              </a:lnSpc>
              <a:spcAft>
                <a:spcPts val="1000"/>
              </a:spcAft>
            </a:pPr>
            <a:r>
              <a:rPr lang="en-US" dirty="0">
                <a:latin typeface=""/>
                <a:ea typeface="Times New Roman"/>
                <a:cs typeface="Times New Roman"/>
              </a:rPr>
              <a:t>•   Analyze different scenarios to determine the most suitable machine learning paradigm.</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1348946411"/>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Learning Objectives 6</a:t>
            </a:r>
            <a:endParaRPr lang="en-US" sz="2800" b="1" dirty="0">
              <a:solidFill>
                <a:srgbClr val="D9212B"/>
              </a:solidFill>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96;p3"/>
          <p:cNvSpPr txBox="1"/>
          <p:nvPr/>
        </p:nvSpPr>
        <p:spPr>
          <a:xfrm>
            <a:off x="773393" y="1672895"/>
            <a:ext cx="8074981" cy="57134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000"/>
              <a:buFont typeface="Arial"/>
              <a:buNone/>
            </a:pPr>
            <a:r>
              <a:rPr lang="en-US" sz="2000" b="1" dirty="0">
                <a:solidFill>
                  <a:schemeClr val="dk1"/>
                </a:solidFill>
                <a:latin typeface="Avenir"/>
                <a:ea typeface="Avenir"/>
                <a:cs typeface="Avenir"/>
                <a:sym typeface="Avenir"/>
              </a:rPr>
              <a:t>By the end of this session, you will be able to:</a:t>
            </a:r>
            <a:endParaRPr dirty="0"/>
          </a:p>
        </p:txBody>
      </p:sp>
      <p:sp>
        <p:nvSpPr>
          <p:cNvPr id="5" name="Google Shape;98;p3"/>
          <p:cNvSpPr txBox="1"/>
          <p:nvPr/>
        </p:nvSpPr>
        <p:spPr>
          <a:xfrm>
            <a:off x="885636" y="2326538"/>
            <a:ext cx="10132884" cy="3538364"/>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Understand the fundamental concepts and principles of Semi-Supervised Learning.</a:t>
            </a:r>
          </a:p>
          <a:p>
            <a:pPr>
              <a:lnSpc>
                <a:spcPct val="115000"/>
              </a:lnSpc>
              <a:spcAft>
                <a:spcPts val="1000"/>
              </a:spcAft>
            </a:pPr>
            <a:r>
              <a:rPr lang="en-US" dirty="0">
                <a:latin typeface=""/>
                <a:ea typeface="Times New Roman"/>
                <a:cs typeface="Times New Roman"/>
              </a:rPr>
              <a:t>•   Identify various real-world applications where Semi-Supervised Learning is effectively utilized.</a:t>
            </a:r>
          </a:p>
          <a:p>
            <a:pPr>
              <a:lnSpc>
                <a:spcPct val="115000"/>
              </a:lnSpc>
              <a:spcAft>
                <a:spcPts val="1000"/>
              </a:spcAft>
            </a:pPr>
            <a:r>
              <a:rPr lang="en-US" dirty="0">
                <a:latin typeface=""/>
                <a:ea typeface="Times New Roman"/>
                <a:cs typeface="Times New Roman"/>
              </a:rPr>
              <a:t>•   Grasp the core principles and mechanisms of Reinforcement Learning.</a:t>
            </a:r>
          </a:p>
          <a:p>
            <a:pPr>
              <a:lnSpc>
                <a:spcPct val="115000"/>
              </a:lnSpc>
              <a:spcAft>
                <a:spcPts val="1000"/>
              </a:spcAft>
            </a:pPr>
            <a:r>
              <a:rPr lang="en-US" dirty="0">
                <a:latin typeface=""/>
                <a:ea typeface="Times New Roman"/>
                <a:cs typeface="Times New Roman"/>
              </a:rPr>
              <a:t>•   Explore diverse applications of Reinforcement Learning in dynamic environments.</a:t>
            </a:r>
          </a:p>
          <a:p>
            <a:pPr>
              <a:lnSpc>
                <a:spcPct val="115000"/>
              </a:lnSpc>
              <a:spcAft>
                <a:spcPts val="1000"/>
              </a:spcAft>
            </a:pPr>
            <a:r>
              <a:rPr lang="en-US" dirty="0">
                <a:latin typeface=""/>
                <a:ea typeface="Times New Roman"/>
                <a:cs typeface="Times New Roman"/>
              </a:rPr>
              <a:t>•   Recognize how Semi-Supervised and Reinforcement Learning complement traditional Supervised and Unsupervised Learning paradigms.</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232957745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1403556"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Semi-Supervised Learning and Reinforcement Learning are distinct and prominent machine learning paradigms.</a:t>
            </a:r>
          </a:p>
          <a:p>
            <a:endParaRPr lang="en-US" sz="2000" dirty="0"/>
          </a:p>
          <a:p>
            <a:r>
              <a:rPr lang="en-US" sz="2000" dirty="0"/>
              <a:t>•   They offer unique capabilities and address specific challenges in AI development.</a:t>
            </a:r>
          </a:p>
          <a:p>
            <a:endParaRPr lang="en-US" sz="2000" dirty="0"/>
          </a:p>
          <a:p>
            <a:r>
              <a:rPr lang="en-US" sz="2000" dirty="0"/>
              <a:t>•   These approaches complement traditional supervised and unsupervised learning methods.</a:t>
            </a:r>
          </a:p>
          <a:p>
            <a:endParaRPr lang="en-US" sz="2000" dirty="0"/>
          </a:p>
          <a:p>
            <a:r>
              <a:rPr lang="en-US" sz="2000" dirty="0"/>
              <a:t>•   </a:t>
            </a:r>
            <a:r>
              <a:rPr lang="en-US" sz="2000" dirty="0">
                <a:solidFill>
                  <a:srgbClr val="FF0000"/>
                </a:solidFill>
              </a:rPr>
              <a:t>Semi-Supervised </a:t>
            </a:r>
            <a:r>
              <a:rPr lang="en-US" sz="2000" dirty="0"/>
              <a:t>Learning bridges the </a:t>
            </a:r>
            <a:r>
              <a:rPr lang="en-US" sz="2000" dirty="0">
                <a:solidFill>
                  <a:srgbClr val="FF0000"/>
                </a:solidFill>
              </a:rPr>
              <a:t>gap </a:t>
            </a:r>
            <a:r>
              <a:rPr lang="en-US" sz="2000" dirty="0"/>
              <a:t>between fully </a:t>
            </a:r>
            <a:r>
              <a:rPr lang="en-US" sz="2000" dirty="0">
                <a:solidFill>
                  <a:srgbClr val="FF0000"/>
                </a:solidFill>
              </a:rPr>
              <a:t>labeled </a:t>
            </a:r>
            <a:r>
              <a:rPr lang="en-US" sz="2000" dirty="0"/>
              <a:t>and</a:t>
            </a:r>
            <a:r>
              <a:rPr lang="en-US" sz="2000" dirty="0">
                <a:solidFill>
                  <a:srgbClr val="FF0000"/>
                </a:solidFill>
              </a:rPr>
              <a:t> unlabeled data</a:t>
            </a:r>
            <a:r>
              <a:rPr lang="en-US" sz="2000" dirty="0"/>
              <a:t>.</a:t>
            </a:r>
          </a:p>
          <a:p>
            <a:endParaRPr lang="en-US" sz="2000" dirty="0"/>
          </a:p>
          <a:p>
            <a:r>
              <a:rPr lang="en-US" sz="2000" dirty="0"/>
              <a:t>•   </a:t>
            </a:r>
            <a:r>
              <a:rPr lang="en-US" sz="2000" dirty="0">
                <a:solidFill>
                  <a:srgbClr val="FF0000"/>
                </a:solidFill>
              </a:rPr>
              <a:t>Reinforcement</a:t>
            </a:r>
            <a:r>
              <a:rPr lang="en-US" sz="2000" dirty="0"/>
              <a:t> </a:t>
            </a:r>
            <a:r>
              <a:rPr lang="en-US" sz="2000" dirty="0">
                <a:solidFill>
                  <a:srgbClr val="FF0000"/>
                </a:solidFill>
              </a:rPr>
              <a:t>Learning</a:t>
            </a:r>
            <a:r>
              <a:rPr lang="en-US" sz="2000" dirty="0"/>
              <a:t> focuses on learning optimal actions through environmental interaction.</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sym typeface="Avenir"/>
              </a:rPr>
              <a:t>Introduction to Semi-Supervised &amp; Reinforcement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95503834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0" y="1388684"/>
            <a:ext cx="12244387"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a:t>
            </a:r>
            <a:r>
              <a:rPr lang="en-US" sz="2000" dirty="0">
                <a:solidFill>
                  <a:srgbClr val="FF0000"/>
                </a:solidFill>
              </a:rPr>
              <a:t>Semi-Supervised Learning </a:t>
            </a:r>
            <a:r>
              <a:rPr lang="en-US" sz="2000" dirty="0"/>
              <a:t>is a hybrid approach </a:t>
            </a:r>
            <a:r>
              <a:rPr lang="en-US" sz="2000" dirty="0">
                <a:solidFill>
                  <a:srgbClr val="FF0000"/>
                </a:solidFill>
              </a:rPr>
              <a:t>combining</a:t>
            </a:r>
            <a:r>
              <a:rPr lang="en-US" sz="2000" dirty="0"/>
              <a:t> elements from both </a:t>
            </a:r>
            <a:r>
              <a:rPr lang="en-US" sz="2000" dirty="0">
                <a:solidFill>
                  <a:srgbClr val="FF0000"/>
                </a:solidFill>
              </a:rPr>
              <a:t>Supervised</a:t>
            </a:r>
            <a:r>
              <a:rPr lang="en-US" sz="2000" dirty="0"/>
              <a:t> and </a:t>
            </a:r>
            <a:r>
              <a:rPr lang="en-US" sz="2000" dirty="0">
                <a:solidFill>
                  <a:srgbClr val="FF0000"/>
                </a:solidFill>
              </a:rPr>
              <a:t>Unsupervised Learning</a:t>
            </a:r>
            <a:r>
              <a:rPr lang="en-US" sz="2000" dirty="0"/>
              <a:t>.</a:t>
            </a:r>
          </a:p>
          <a:p>
            <a:endParaRPr lang="en-US" sz="2000" dirty="0"/>
          </a:p>
          <a:p>
            <a:r>
              <a:rPr lang="en-US" sz="2000" dirty="0"/>
              <a:t>•   It leverages a small amount of labeled data alongside a substantial amount of unlabeled data.</a:t>
            </a:r>
          </a:p>
          <a:p>
            <a:endParaRPr lang="en-US" sz="2000" dirty="0"/>
          </a:p>
          <a:p>
            <a:r>
              <a:rPr lang="en-US" sz="2000" dirty="0"/>
              <a:t>•   The goal is to improve model generalization and decision-making capabilities.</a:t>
            </a:r>
          </a:p>
          <a:p>
            <a:endParaRPr lang="en-US" sz="2000" dirty="0"/>
          </a:p>
          <a:p>
            <a:r>
              <a:rPr lang="en-US" sz="2000" dirty="0"/>
              <a:t>•   This approach is particularly valuable when acquiring labeled data is scarce or expensive.</a:t>
            </a:r>
          </a:p>
          <a:p>
            <a:endParaRPr lang="en-US" sz="2000" dirty="0"/>
          </a:p>
          <a:p>
            <a:r>
              <a:rPr lang="en-US" sz="2000" dirty="0"/>
              <a:t>•   It effectively utilizes the latent information present within abundant unlabeled datasets.</a:t>
            </a:r>
          </a:p>
        </p:txBody>
      </p:sp>
      <p:sp>
        <p:nvSpPr>
          <p:cNvPr id="5" name="Google Shape;110;p5"/>
          <p:cNvSpPr txBox="1">
            <a:spLocks/>
          </p:cNvSpPr>
          <p:nvPr/>
        </p:nvSpPr>
        <p:spPr>
          <a:xfrm>
            <a:off x="105330" y="338138"/>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sym typeface="Avenir"/>
              </a:rPr>
              <a:t>Semi-Supervised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297691524"/>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6675" y="1388684"/>
            <a:ext cx="12125325"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Leveraging Unlabeled Data: Harnesses vast amounts of unlabeled data to boost model performance.</a:t>
            </a:r>
          </a:p>
          <a:p>
            <a:endParaRPr lang="en-US" sz="2000" dirty="0"/>
          </a:p>
          <a:p>
            <a:r>
              <a:rPr lang="en-US" sz="2000" dirty="0"/>
              <a:t>• Transfer of Knowledge: Insights from limited labeled examples are applied to improve predictions on unlabeled data.</a:t>
            </a:r>
          </a:p>
          <a:p>
            <a:endParaRPr lang="en-US" sz="2000" dirty="0"/>
          </a:p>
          <a:p>
            <a:r>
              <a:rPr lang="en-US" sz="2000" dirty="0"/>
              <a:t>• Combining Techniques: Blends supervised and unsupervised algorithms to learn from both data types effectively.</a:t>
            </a:r>
          </a:p>
          <a:p>
            <a:endParaRPr lang="en-US" sz="2000" dirty="0"/>
          </a:p>
          <a:p>
            <a:r>
              <a:rPr lang="en-US" sz="2000" dirty="0"/>
              <a:t>• Enhanced Generalization: Improves the model's ability to make accurate predictions on new, unseen data.</a:t>
            </a:r>
          </a:p>
          <a:p>
            <a:endParaRPr lang="en-US" sz="2000" dirty="0"/>
          </a:p>
          <a:p>
            <a:r>
              <a:rPr lang="en-US" sz="2000" dirty="0"/>
              <a:t>• Cost Efficiency: Reduces the dependency on extensive and costly manual data labeling.</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Principles of Semi-Supervised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55634047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Natural Language Processing (NLP): Used in sentiment analysis, document classification, and named entity recognition with limited labeled text.</a:t>
            </a:r>
          </a:p>
          <a:p>
            <a:endParaRPr lang="en-US" sz="2000"/>
          </a:p>
          <a:p>
            <a:r>
              <a:rPr lang="en-US" sz="2000"/>
              <a:t>• Image and Video Analysis: Helps in object recognition and image segmentation, generalizing from few labeled examples.</a:t>
            </a:r>
          </a:p>
          <a:p>
            <a:endParaRPr lang="en-US" sz="2000"/>
          </a:p>
          <a:p>
            <a:r>
              <a:rPr lang="en-US" sz="2000"/>
              <a:t>• Anomaly Detection: Identifies unusual patterns or outliers in cybersecurity and fraud detection where labeled anomalies are rare.</a:t>
            </a:r>
          </a:p>
          <a:p>
            <a:endParaRPr lang="en-US" sz="2000"/>
          </a:p>
          <a:p>
            <a:r>
              <a:rPr lang="en-US" sz="2000"/>
              <a:t>• Healthcare: Applied in medical image analysis to identify diseases with a limited number of annotated cases.</a:t>
            </a:r>
          </a:p>
          <a:p>
            <a:endParaRPr lang="en-US" sz="2000"/>
          </a:p>
          <a:p>
            <a:r>
              <a:rPr lang="en-US" sz="2000"/>
              <a:t>• Web Content Classification: Improves classification accuracy for large volumes of web pages with minimal manual tagging.</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Applications of Semi-Supervised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675739455"/>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Reinforcement Learning is a unique machine learning paradigm based on learning through interaction with an environment.</a:t>
            </a:r>
          </a:p>
          <a:p>
            <a:endParaRPr lang="en-US" sz="2000"/>
          </a:p>
          <a:p>
            <a:r>
              <a:rPr lang="en-US" sz="2000"/>
              <a:t>•   Unlike supervised learning, it doesn't rely on labeled data; unlike unsupervised, it has a clear objective.</a:t>
            </a:r>
          </a:p>
          <a:p>
            <a:endParaRPr lang="en-US" sz="2000"/>
          </a:p>
          <a:p>
            <a:r>
              <a:rPr lang="en-US" sz="2000"/>
              <a:t>•   An RL agent learns optimal actions through a process of trial and error.</a:t>
            </a:r>
          </a:p>
          <a:p>
            <a:endParaRPr lang="en-US" sz="2000"/>
          </a:p>
          <a:p>
            <a:r>
              <a:rPr lang="en-US" sz="2000"/>
              <a:t>•   The primary goal is to maximize a cumulative reward signal received over time.</a:t>
            </a:r>
          </a:p>
          <a:p>
            <a:endParaRPr lang="en-US" sz="2000"/>
          </a:p>
          <a:p>
            <a:r>
              <a:rPr lang="en-US" sz="2000"/>
              <a:t>•   This approach is ideal for tasks involving sequential decision-making in dynamic settings.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Introduction to Reinforcement Learning (RL)</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416595002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Agent-Environment Interaction: An agent interacts with an environment, taking actions and receiving rewards and new states.</a:t>
            </a:r>
          </a:p>
          <a:p>
            <a:endParaRPr lang="en-US" sz="2000"/>
          </a:p>
          <a:p>
            <a:r>
              <a:rPr lang="en-US" sz="2000"/>
              <a:t>• Sequential Decision Making: Decisions impact not just immediate rewards but also future environmental states and subsequent rewards.</a:t>
            </a:r>
          </a:p>
          <a:p>
            <a:endParaRPr lang="en-US" sz="2000"/>
          </a:p>
          <a:p>
            <a:r>
              <a:rPr lang="en-US" sz="2000"/>
              <a:t>• Exploration vs. Exploitation: Agents balance trying new actions (exploration) with choosing actions known to yield high rewards (exploitation).</a:t>
            </a:r>
          </a:p>
          <a:p>
            <a:endParaRPr lang="en-US" sz="2000"/>
          </a:p>
          <a:p>
            <a:r>
              <a:rPr lang="en-US" sz="2000"/>
              <a:t>• Policy Function: A learned strategy that dictates which actions the agent should take in different states.</a:t>
            </a:r>
          </a:p>
          <a:p>
            <a:endParaRPr lang="en-US" sz="2000"/>
          </a:p>
          <a:p>
            <a:r>
              <a:rPr lang="en-US" sz="2000"/>
              <a:t>• Value Functions: Estimates the expected cumulative reward an agent can achieve under a given policy.</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Principles of Reinforcement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9458904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Autonomous Systems: Powers self-driving cars and drones, enabling real-time decision-making and safety optimization.</a:t>
            </a:r>
          </a:p>
          <a:p>
            <a:endParaRPr lang="en-US" sz="2000"/>
          </a:p>
          <a:p>
            <a:r>
              <a:rPr lang="en-US" sz="2000"/>
              <a:t>• Game Playing: Achieved significant success in complex games like chess and Go, with AI defeating human champions (e.g., AlphaGo).</a:t>
            </a:r>
          </a:p>
          <a:p>
            <a:endParaRPr lang="en-US" sz="2000"/>
          </a:p>
          <a:p>
            <a:r>
              <a:rPr lang="en-US" sz="2000"/>
              <a:t>• Robotics: Allows robots to learn dexterous manipulation skills for tasks like cooking and assembly in varied environments.</a:t>
            </a:r>
          </a:p>
          <a:p>
            <a:endParaRPr lang="en-US" sz="2000"/>
          </a:p>
          <a:p>
            <a:r>
              <a:rPr lang="en-US" sz="2000"/>
              <a:t>• Healthcare: Optimizes treatment plans and personalizes therapies for patients, for instance, in managing chronic conditions.</a:t>
            </a:r>
          </a:p>
          <a:p>
            <a:endParaRPr lang="en-US" sz="2000"/>
          </a:p>
          <a:p>
            <a:r>
              <a:rPr lang="en-US" sz="2000"/>
              <a:t>• Resource Management: Applied in optimizing energy consumption in data centers or managing complex supply chains.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Applications of Reinforcement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196178391"/>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Supervised Learning is powerful but constrained by the need for extensive, often expensive, labeled data.</a:t>
            </a:r>
          </a:p>
          <a:p>
            <a:endParaRPr lang="en-US" sz="2000"/>
          </a:p>
          <a:p>
            <a:r>
              <a:rPr lang="en-US" sz="2000"/>
              <a:t>•   Semi-Supervised Learning enhances supervised models by effectively utilizing abundant unlabeled data.</a:t>
            </a:r>
          </a:p>
          <a:p>
            <a:endParaRPr lang="en-US" sz="2000"/>
          </a:p>
          <a:p>
            <a:r>
              <a:rPr lang="en-US" sz="2000"/>
              <a:t>•   This leads to the development of more robust and accurate models, especially when labeled datasets are small.</a:t>
            </a:r>
          </a:p>
          <a:p>
            <a:endParaRPr lang="en-US" sz="2000"/>
          </a:p>
          <a:p>
            <a:r>
              <a:rPr lang="en-US" sz="2000"/>
              <a:t>•   It significantly reduces the need for costly and time-consuming manual labeling efforts.</a:t>
            </a:r>
          </a:p>
          <a:p>
            <a:endParaRPr lang="en-US" sz="2000"/>
          </a:p>
          <a:p>
            <a:r>
              <a:rPr lang="en-US" sz="2000"/>
              <a:t>•   Example: Improving diagnostic accuracy in medical image analysis with a limited set of labeled images.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Complementing Supervised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362368037"/>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Unsupervised Learning excels at discovering hidden patterns but often lacks a clear objective or a way to evaluate results.</a:t>
            </a:r>
          </a:p>
          <a:p>
            <a:endParaRPr lang="en-US" sz="2000"/>
          </a:p>
          <a:p>
            <a:r>
              <a:rPr lang="en-US" sz="2000"/>
              <a:t>•   Reinforcement Learning introduces a goal-oriented framework to unsupervised insights.</a:t>
            </a:r>
          </a:p>
          <a:p>
            <a:endParaRPr lang="en-US" sz="2000"/>
          </a:p>
          <a:p>
            <a:r>
              <a:rPr lang="en-US" sz="2000"/>
              <a:t>•   It can optimize actions based on patterns found by unsupervised methods, maximizing desired outcomes.</a:t>
            </a:r>
          </a:p>
          <a:p>
            <a:endParaRPr lang="en-US" sz="2000"/>
          </a:p>
          <a:p>
            <a:r>
              <a:rPr lang="en-US" sz="2000"/>
              <a:t>•   Example: In recommendation systems, unsupervised learning clusters users, and RL optimizes recommendations for engagement.</a:t>
            </a:r>
          </a:p>
          <a:p>
            <a:endParaRPr lang="en-US" sz="2000"/>
          </a:p>
          <a:p>
            <a:r>
              <a:rPr lang="en-US" sz="2000"/>
              <a:t>•   This synergy leads to more relevant outcomes and enhanced user experiences.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Complementing Unsupervised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29762016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0" y="1431546"/>
            <a:ext cx="123110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a:t>
            </a:r>
            <a:r>
              <a:rPr lang="en-US" dirty="0"/>
              <a:t>Semi-Supervised Learning and Reinforcement Learning are crucial for expanding machine learning capabilities.</a:t>
            </a:r>
          </a:p>
          <a:p>
            <a:endParaRPr lang="en-US" sz="2000" dirty="0"/>
          </a:p>
          <a:p>
            <a:r>
              <a:rPr lang="en-US" sz="2000" dirty="0"/>
              <a:t>•   They provide innovative solutions to diverse and complex real-world challenges.</a:t>
            </a:r>
          </a:p>
          <a:p>
            <a:endParaRPr lang="en-US" sz="2000" dirty="0"/>
          </a:p>
          <a:p>
            <a:r>
              <a:rPr lang="en-US" sz="2000" dirty="0"/>
              <a:t>•   Semi-Supervised Learning efficiently leverages both labeled and unlabeled data.</a:t>
            </a:r>
          </a:p>
          <a:p>
            <a:endParaRPr lang="en-US" sz="2000" dirty="0"/>
          </a:p>
          <a:p>
            <a:r>
              <a:rPr lang="en-US" sz="2000" dirty="0"/>
              <a:t>•   Reinforcement Learning enables agents to learn optimal behavior through interactive experience.</a:t>
            </a:r>
          </a:p>
          <a:p>
            <a:endParaRPr lang="en-US" sz="2000" dirty="0"/>
          </a:p>
          <a:p>
            <a:r>
              <a:rPr lang="en-US" sz="2000" dirty="0"/>
              <a:t>•   </a:t>
            </a:r>
            <a:r>
              <a:rPr lang="en-US" dirty="0"/>
              <a:t>Their integration with traditional methods will drive the development of more powerful and capable AI systems.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Conclusion: The Evolving Landscape of ML</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413425383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 Which of the following best describes the primary advantage of Semi-Supervised Learning over pure Supervised Learning?</a:t>
            </a:r>
          </a:p>
          <a:p>
            <a:r>
              <a:rPr lang="en-US" sz="2000"/>
              <a:t>A) It eliminates the need for any labeled data entirely.</a:t>
            </a:r>
          </a:p>
          <a:p>
            <a:r>
              <a:rPr lang="en-US" sz="2000"/>
              <a:t>B) It can learn from data without any prior knowledge of classes or categories.</a:t>
            </a:r>
          </a:p>
          <a:p>
            <a:r>
              <a:rPr lang="en-US" sz="2000"/>
              <a:t>C) It effectively leverages a combination of limited labeled data and abundant unlabeled data to improve model performance.</a:t>
            </a:r>
          </a:p>
          <a:p>
            <a:r>
              <a:rPr lang="en-US" sz="2000"/>
              <a:t>D) It is primarily used for sequential decision-making tasks where agents interact with an environment.</a:t>
            </a:r>
          </a:p>
          <a:p>
            <a:endParaRPr lang="en-US" sz="2000" dirty="0"/>
          </a:p>
        </p:txBody>
      </p:sp>
    </p:spTree>
    <p:extLst>
      <p:ext uri="{BB962C8B-B14F-4D97-AF65-F5344CB8AC3E}">
        <p14:creationId xmlns:p14="http://schemas.microsoft.com/office/powerpoint/2010/main" val="119643339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lnSpcReduction="10000"/>
          </a:bodyPr>
          <a:lstStyle/>
          <a:p>
            <a:r>
              <a:rPr lang="en-US" sz="2000"/>
              <a:t>Question 1: Which of the following best describes the primary advantage of Semi-Supervised Learning over pure Supervised Learning?</a:t>
            </a:r>
          </a:p>
          <a:p>
            <a:r>
              <a:rPr lang="en-US" sz="2000"/>
              <a:t>A) It eliminates the need for any labeled data entirely.</a:t>
            </a:r>
          </a:p>
          <a:p>
            <a:r>
              <a:rPr lang="en-US" sz="2000"/>
              <a:t>B) It can learn from data without any prior knowledge of classes or categories.</a:t>
            </a:r>
          </a:p>
          <a:p>
            <a:r>
              <a:rPr lang="en-US" sz="2000"/>
              <a:t>C) It effectively leverages a combination of limited labeled data and abundant unlabeled data to improve model performance.</a:t>
            </a:r>
          </a:p>
          <a:p>
            <a:r>
              <a:rPr lang="en-US" sz="2000"/>
              <a:t>D) It is primarily used for sequential decision-making tasks where agents interact with an environment.</a:t>
            </a:r>
          </a:p>
          <a:p>
            <a:endParaRPr lang="en-US" sz="2000"/>
          </a:p>
          <a:p>
            <a:endParaRPr lang="en-US" sz="2000"/>
          </a:p>
          <a:p>
            <a:r>
              <a:rPr lang="en-US" sz="2000" b="1"/>
              <a:t>Correct Answer: C) It effectively leverages a combination of limited labeled data and abundant unlabeled data to improve model performance.</a:t>
            </a:r>
          </a:p>
          <a:p>
            <a:r>
              <a:rPr lang="en-US" sz="2000" b="1"/>
              <a:t>Explanation: Semi-Supervised Learning is characterized by its ability to utilize both labeled and unlabeled data, addressing the common challenge of scarce labeled data in supervised learning scenarios. Options A and B describe unsupervised learning aspects, and D describes reinforcement learning.</a:t>
            </a:r>
          </a:p>
          <a:p>
            <a:endParaRPr lang="en-US" sz="2000" b="1"/>
          </a:p>
          <a:p>
            <a:endParaRPr lang="en-US" sz="2000" dirty="0"/>
          </a:p>
        </p:txBody>
      </p:sp>
    </p:spTree>
    <p:extLst>
      <p:ext uri="{BB962C8B-B14F-4D97-AF65-F5344CB8AC3E}">
        <p14:creationId xmlns:p14="http://schemas.microsoft.com/office/powerpoint/2010/main" val="2480576364"/>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 In Reinforcement Learning, what is the core dilemma an agent faces when interacting with its environment?</a:t>
            </a:r>
          </a:p>
          <a:p>
            <a:r>
              <a:rPr lang="en-US" sz="2000"/>
              <a:t>A) Maximizing immediate reward versus maximizing long-term cumulative reward.</a:t>
            </a:r>
          </a:p>
          <a:p>
            <a:r>
              <a:rPr lang="en-US" sz="2000"/>
              <a:t>B) Choosing between a policy function and a value function.</a:t>
            </a:r>
          </a:p>
          <a:p>
            <a:r>
              <a:rPr lang="en-US" sz="2000"/>
              <a:t>C) Balancing the need to explore new actions against exploiting known high-reward actions.</a:t>
            </a:r>
          </a:p>
          <a:p>
            <a:r>
              <a:rPr lang="en-US" sz="2000"/>
              <a:t>D) Deciding whether to use labeled or unlabeled data for learning.</a:t>
            </a:r>
          </a:p>
          <a:p>
            <a:endParaRPr lang="en-US" sz="2000" dirty="0"/>
          </a:p>
        </p:txBody>
      </p:sp>
    </p:spTree>
    <p:extLst>
      <p:ext uri="{BB962C8B-B14F-4D97-AF65-F5344CB8AC3E}">
        <p14:creationId xmlns:p14="http://schemas.microsoft.com/office/powerpoint/2010/main" val="2119000953"/>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 In Reinforcement Learning, what is the core dilemma an agent faces when interacting with its environment?</a:t>
            </a:r>
          </a:p>
          <a:p>
            <a:r>
              <a:rPr lang="en-US" sz="2000"/>
              <a:t>A) Maximizing immediate reward versus maximizing long-term cumulative reward.</a:t>
            </a:r>
          </a:p>
          <a:p>
            <a:r>
              <a:rPr lang="en-US" sz="2000"/>
              <a:t>B) Choosing between a policy function and a value function.</a:t>
            </a:r>
          </a:p>
          <a:p>
            <a:r>
              <a:rPr lang="en-US" sz="2000"/>
              <a:t>C) Balancing the need to explore new actions against exploiting known high-reward actions.</a:t>
            </a:r>
          </a:p>
          <a:p>
            <a:r>
              <a:rPr lang="en-US" sz="2000"/>
              <a:t>D) Deciding whether to use labeled or unlabeled data for learning.</a:t>
            </a:r>
          </a:p>
          <a:p>
            <a:endParaRPr lang="en-US" sz="2000"/>
          </a:p>
          <a:p>
            <a:endParaRPr lang="en-US" sz="2000"/>
          </a:p>
          <a:p>
            <a:r>
              <a:rPr lang="en-US" sz="2000" b="1"/>
              <a:t>Correct Answer: C) Balancing the need to explore new actions against exploiting known high-reward actions.</a:t>
            </a:r>
          </a:p>
          <a:p>
            <a:r>
              <a:rPr lang="en-US" sz="2000" b="1"/>
              <a:t>Explanation: The "exploration vs. exploitation" dilemma is a fundamental concept in Reinforcement Learning, where the agent must decide between trying new actions to discover potentially better outcomes (exploration) or sticking with actions known to yield good rewards (exploitation).</a:t>
            </a:r>
          </a:p>
          <a:p>
            <a:endParaRPr lang="en-US" sz="2000" b="1"/>
          </a:p>
          <a:p>
            <a:endParaRPr lang="en-US" sz="2000" dirty="0"/>
          </a:p>
        </p:txBody>
      </p:sp>
    </p:spTree>
    <p:extLst>
      <p:ext uri="{BB962C8B-B14F-4D97-AF65-F5344CB8AC3E}">
        <p14:creationId xmlns:p14="http://schemas.microsoft.com/office/powerpoint/2010/main" val="11021090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3: A healthcare organization has a small dataset of accurately diagnosed patient medical images (labeled) and a vast collection of unanalyzed medical images (unlabeled). Which machine learning paradigm would be most suitable for building an effective diagnostic tool, and why?</a:t>
            </a:r>
          </a:p>
          <a:p>
            <a:r>
              <a:rPr lang="en-US" sz="2000"/>
              <a:t>A) Supervised Learning, because accurate diagnoses are available.</a:t>
            </a:r>
          </a:p>
          <a:p>
            <a:r>
              <a:rPr lang="en-US" sz="2000"/>
              <a:t>B) Unsupervised Learning, to discover hidden patterns in the unlabeled data.</a:t>
            </a:r>
          </a:p>
          <a:p>
            <a:r>
              <a:rPr lang="en-US" sz="2000"/>
              <a:t>C) Reinforcement Learning, to optimize the diagnostic process through trial and error.</a:t>
            </a:r>
          </a:p>
          <a:p>
            <a:r>
              <a:rPr lang="en-US" sz="2000"/>
              <a:t>D) Semi-Supervised Learning, as it can combine the limited labeled data with the abundant unlabeled data to enhance diagnostic accuracy.</a:t>
            </a:r>
          </a:p>
          <a:p>
            <a:endParaRPr lang="en-US" sz="2000" dirty="0"/>
          </a:p>
        </p:txBody>
      </p:sp>
    </p:spTree>
    <p:extLst>
      <p:ext uri="{BB962C8B-B14F-4D97-AF65-F5344CB8AC3E}">
        <p14:creationId xmlns:p14="http://schemas.microsoft.com/office/powerpoint/2010/main" val="1565199404"/>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20000"/>
          </a:bodyPr>
          <a:lstStyle/>
          <a:p>
            <a:r>
              <a:rPr lang="en-US" sz="2000"/>
              <a:t>Question 3: A healthcare organization has a small dataset of accurately diagnosed patient medical images (labeled) and a vast collection of unanalyzed medical images (unlabeled). Which machine learning paradigm would be most suitable for building an effective diagnostic tool, and why?</a:t>
            </a:r>
          </a:p>
          <a:p>
            <a:r>
              <a:rPr lang="en-US" sz="2000"/>
              <a:t>A) Supervised Learning, because accurate diagnoses are available.</a:t>
            </a:r>
          </a:p>
          <a:p>
            <a:r>
              <a:rPr lang="en-US" sz="2000"/>
              <a:t>B) Unsupervised Learning, to discover hidden patterns in the unlabeled data.</a:t>
            </a:r>
          </a:p>
          <a:p>
            <a:r>
              <a:rPr lang="en-US" sz="2000"/>
              <a:t>C) Reinforcement Learning, to optimize the diagnostic process through trial and error.</a:t>
            </a:r>
          </a:p>
          <a:p>
            <a:r>
              <a:rPr lang="en-US" sz="2000"/>
              <a:t>D) Semi-Supervised Learning, as it can combine the limited labeled data with the abundant unlabeled data to enhance diagnostic accuracy.</a:t>
            </a:r>
          </a:p>
          <a:p>
            <a:endParaRPr lang="en-US" sz="2000"/>
          </a:p>
          <a:p>
            <a:endParaRPr lang="en-US" sz="2000"/>
          </a:p>
          <a:p>
            <a:r>
              <a:rPr lang="en-US" sz="2000" b="1"/>
              <a:t>Correct Answer: D) Semi-Supervised Learning, as it can combine the limited labeled data with the abundant unlabeled data to enhance diagnostic accuracy.</a:t>
            </a:r>
          </a:p>
          <a:p>
            <a:r>
              <a:rPr lang="en-US" sz="2000" b="1"/>
              <a:t>Explanation: Given the scenario of limited labeled data and abundant unlabeled data, Semi-Supervised Learning is the ideal choice. It can leverage the existing accurate diagnoses while gaining broader understanding and generalization from the large pool of unlabeled images, improving the overall diagnostic tool beyond what pure supervised learning (A) or unsupervised learning (B) alone could achieve, and RL (C) is not suitable for this kind of static classification task.</a:t>
            </a:r>
          </a:p>
          <a:p>
            <a:endParaRPr lang="en-US" sz="2000" b="1"/>
          </a:p>
          <a:p>
            <a:endParaRPr lang="en-US" sz="2000" dirty="0"/>
          </a:p>
        </p:txBody>
      </p:sp>
    </p:spTree>
    <p:extLst>
      <p:ext uri="{BB962C8B-B14F-4D97-AF65-F5344CB8AC3E}">
        <p14:creationId xmlns:p14="http://schemas.microsoft.com/office/powerpoint/2010/main" val="376455103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4: Which of the following is NOT an application area where Reinforcement Learning has shown significant success?</a:t>
            </a:r>
          </a:p>
          <a:p>
            <a:r>
              <a:rPr lang="en-US" sz="2000"/>
              <a:t>A) Autonomous systems like self-driving cars.</a:t>
            </a:r>
          </a:p>
          <a:p>
            <a:r>
              <a:rPr lang="en-US" sz="2000"/>
              <a:t>B) Playing complex strategy games like Go.</a:t>
            </a:r>
          </a:p>
          <a:p>
            <a:r>
              <a:rPr lang="en-US" sz="2000"/>
              <a:t>C) Training robots for dexterous manipulation tasks.</a:t>
            </a:r>
          </a:p>
          <a:p>
            <a:r>
              <a:rPr lang="en-US" sz="2000"/>
              <a:t>D) Automatically segmenting medical images based on pre-defined anatomical labels.</a:t>
            </a:r>
          </a:p>
          <a:p>
            <a:endParaRPr lang="en-US" sz="2000" dirty="0"/>
          </a:p>
        </p:txBody>
      </p:sp>
    </p:spTree>
    <p:extLst>
      <p:ext uri="{BB962C8B-B14F-4D97-AF65-F5344CB8AC3E}">
        <p14:creationId xmlns:p14="http://schemas.microsoft.com/office/powerpoint/2010/main" val="1814381704"/>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4: Which of the following is NOT an application area where Reinforcement Learning has shown significant success?</a:t>
            </a:r>
          </a:p>
          <a:p>
            <a:r>
              <a:rPr lang="en-US" sz="2000"/>
              <a:t>A) Autonomous systems like self-driving cars.</a:t>
            </a:r>
          </a:p>
          <a:p>
            <a:r>
              <a:rPr lang="en-US" sz="2000"/>
              <a:t>B) Playing complex strategy games like Go.</a:t>
            </a:r>
          </a:p>
          <a:p>
            <a:r>
              <a:rPr lang="en-US" sz="2000"/>
              <a:t>C) Training robots for dexterous manipulation tasks.</a:t>
            </a:r>
          </a:p>
          <a:p>
            <a:r>
              <a:rPr lang="en-US" sz="2000"/>
              <a:t>D) Automatically segmenting medical images based on pre-defined anatomical labels.</a:t>
            </a:r>
          </a:p>
          <a:p>
            <a:endParaRPr lang="en-US" sz="2000"/>
          </a:p>
          <a:p>
            <a:endParaRPr lang="en-US" sz="2000"/>
          </a:p>
          <a:p>
            <a:r>
              <a:rPr lang="en-US" sz="2000" b="1"/>
              <a:t>Correct Answer: D) Automatically segmenting medical images based on pre-defined anatomical labels.</a:t>
            </a:r>
          </a:p>
          <a:p>
            <a:r>
              <a:rPr lang="en-US" sz="2000" b="1"/>
              <a:t>Explanation: Image segmentation with pre-defined labels is a classic supervised learning task (classification/regression at pixel level). Autonomous systems, game playing, and robotics involve sequential decision-making and interaction with dynamic environments, which are core strengths of Reinforcement Learning.</a:t>
            </a:r>
          </a:p>
          <a:p>
            <a:endParaRPr lang="en-US" sz="2000" b="1"/>
          </a:p>
          <a:p>
            <a:endParaRPr lang="en-US" sz="2000" dirty="0"/>
          </a:p>
        </p:txBody>
      </p:sp>
    </p:spTree>
    <p:extLst>
      <p:ext uri="{BB962C8B-B14F-4D97-AF65-F5344CB8AC3E}">
        <p14:creationId xmlns:p14="http://schemas.microsoft.com/office/powerpoint/2010/main" val="3269943119"/>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 What role does "transfer of knowledge" play in the principles of Semi-Supervised Learning?</a:t>
            </a:r>
          </a:p>
          <a:p>
            <a:r>
              <a:rPr lang="en-US" sz="2000"/>
              <a:t>A) It refers to the agent transferring its learned policy to a new environment.</a:t>
            </a:r>
          </a:p>
          <a:p>
            <a:r>
              <a:rPr lang="en-US" sz="2000"/>
              <a:t>B) It's the process of converting unlabeled data into labeled data.</a:t>
            </a:r>
          </a:p>
          <a:p>
            <a:r>
              <a:rPr lang="en-US" sz="2000"/>
              <a:t>C) It means leveraging insights gained from limited labeled data to improve predictions across the larger unlabeled dataset.</a:t>
            </a:r>
          </a:p>
          <a:p>
            <a:r>
              <a:rPr lang="en-US" sz="2000"/>
              <a:t>D) It describes the process of moving a model from a supervised task to an unsupervised task.</a:t>
            </a:r>
          </a:p>
          <a:p>
            <a:endParaRPr lang="en-US" sz="2000" dirty="0"/>
          </a:p>
        </p:txBody>
      </p:sp>
    </p:spTree>
    <p:extLst>
      <p:ext uri="{BB962C8B-B14F-4D97-AF65-F5344CB8AC3E}">
        <p14:creationId xmlns:p14="http://schemas.microsoft.com/office/powerpoint/2010/main" val="188191828"/>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 What role does "transfer of knowledge" play in the principles of Semi-Supervised Learning?</a:t>
            </a:r>
          </a:p>
          <a:p>
            <a:r>
              <a:rPr lang="en-US" sz="2000"/>
              <a:t>A) It refers to the agent transferring its learned policy to a new environment.</a:t>
            </a:r>
          </a:p>
          <a:p>
            <a:r>
              <a:rPr lang="en-US" sz="2000"/>
              <a:t>B) It's the process of converting unlabeled data into labeled data.</a:t>
            </a:r>
          </a:p>
          <a:p>
            <a:r>
              <a:rPr lang="en-US" sz="2000"/>
              <a:t>C) It means leveraging insights gained from limited labeled data to improve predictions across the larger unlabeled dataset.</a:t>
            </a:r>
          </a:p>
          <a:p>
            <a:r>
              <a:rPr lang="en-US" sz="2000"/>
              <a:t>D) It describes the process of moving a model from a supervised task to an unsupervised task.</a:t>
            </a:r>
          </a:p>
          <a:p>
            <a:endParaRPr lang="en-US" sz="2000"/>
          </a:p>
          <a:p>
            <a:endParaRPr lang="en-US" sz="2000"/>
          </a:p>
          <a:p>
            <a:r>
              <a:rPr lang="en-US" sz="2000" b="1"/>
              <a:t>Correct Answer: C) It means leveraging insights gained from limited labeled data to improve predictions across the larger unlabeled dataset.</a:t>
            </a:r>
          </a:p>
          <a:p>
            <a:r>
              <a:rPr lang="en-US" sz="2000" b="1"/>
              <a:t>Explanation: In Semi-Supervised Learning, the foundational understanding derived from the small labeled dataset is "transferred" or applied to the abundant unlabeled data, allowing the model to make more informed predictions and generalize better.</a:t>
            </a:r>
          </a:p>
          <a:p>
            <a:endParaRPr lang="en-US" sz="2000" b="1"/>
          </a:p>
          <a:p>
            <a:endParaRPr lang="en-US" sz="2000" dirty="0"/>
          </a:p>
        </p:txBody>
      </p:sp>
    </p:spTree>
    <p:extLst>
      <p:ext uri="{BB962C8B-B14F-4D97-AF65-F5344CB8AC3E}">
        <p14:creationId xmlns:p14="http://schemas.microsoft.com/office/powerpoint/2010/main" val="4007232600"/>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1" y="1534988"/>
            <a:ext cx="11035032" cy="4726096"/>
          </a:xfrm>
          <a:prstGeom prst="rect">
            <a:avLst/>
          </a:prstGeom>
          <a:noFill/>
          <a:ln>
            <a:noFill/>
          </a:ln>
        </p:spPr>
        <p:txBody>
          <a:bodyPr spcFirstLastPara="1" wrap="square" lIns="91425" tIns="45700" rIns="91425" bIns="45700" anchor="t" anchorCtr="0">
            <a:normAutofit/>
          </a:bodyPr>
          <a:lstStyle/>
          <a:p>
            <a:r>
              <a:rPr lang="en-US" sz="2000" dirty="0"/>
              <a:t>Question 6: When Reinforcement Learning is used to complement Unsupervised Learning in a recommendation system, what is the primary benefit?</a:t>
            </a:r>
          </a:p>
          <a:p>
            <a:r>
              <a:rPr lang="en-US" sz="2000" dirty="0"/>
              <a:t>A) It eliminates the need for clustering users or items.</a:t>
            </a:r>
          </a:p>
          <a:p>
            <a:r>
              <a:rPr lang="en-US" sz="2000" dirty="0"/>
              <a:t>B) It helps define the clear objective and optimize recommendations to maximize user engagement.</a:t>
            </a:r>
          </a:p>
          <a:p>
            <a:r>
              <a:rPr lang="en-US" sz="2000" dirty="0"/>
              <a:t>C) It makes the entire system purely data-driven without any human input.</a:t>
            </a:r>
          </a:p>
          <a:p>
            <a:r>
              <a:rPr lang="en-US" sz="2000" dirty="0"/>
              <a:t>D) It converts the unsupervised patterns into fully labeled training data for supervised models.</a:t>
            </a:r>
          </a:p>
          <a:p>
            <a:endParaRPr lang="en-US" sz="2000" dirty="0"/>
          </a:p>
        </p:txBody>
      </p:sp>
    </p:spTree>
    <p:extLst>
      <p:ext uri="{BB962C8B-B14F-4D97-AF65-F5344CB8AC3E}">
        <p14:creationId xmlns:p14="http://schemas.microsoft.com/office/powerpoint/2010/main" val="565728861"/>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dirty="0"/>
              <a:t>Question 6: When Reinforcement Learning is used to complement Unsupervised Learning in a recommendation system, what is the primary benefit?</a:t>
            </a:r>
          </a:p>
          <a:p>
            <a:r>
              <a:rPr lang="en-US" sz="2000" dirty="0"/>
              <a:t>A) It eliminates the need for clustering users or items.</a:t>
            </a:r>
          </a:p>
          <a:p>
            <a:r>
              <a:rPr lang="en-US" sz="2000" dirty="0"/>
              <a:t>B) It helps define the clear objective and optimize recommendations to maximize user engagement.</a:t>
            </a:r>
          </a:p>
          <a:p>
            <a:r>
              <a:rPr lang="en-US" sz="2000" dirty="0"/>
              <a:t>C) It makes the entire system purely data-driven without any human input.</a:t>
            </a:r>
          </a:p>
          <a:p>
            <a:r>
              <a:rPr lang="en-US" sz="2000" dirty="0"/>
              <a:t>D) It converts the unsupervised patterns into fully labeled training data for supervised models.</a:t>
            </a:r>
          </a:p>
          <a:p>
            <a:endParaRPr lang="en-US" sz="2000" dirty="0"/>
          </a:p>
          <a:p>
            <a:r>
              <a:rPr lang="en-US" sz="2000" b="1" dirty="0"/>
              <a:t>Correct Answer: B) It helps define the clear objective and optimize recommendations to maximize user engagement.</a:t>
            </a:r>
          </a:p>
          <a:p>
            <a:r>
              <a:rPr lang="en-US" sz="2000" b="1" dirty="0"/>
              <a:t>Explanation: Unsupervised learning can cluster users and items (finding patterns), but RL provides the goal-oriented framework to then optimize the recommendations iteratively by selecting items that maximize metrics like user engagement or satisfaction, adding a crucial layer of decision-making and optimization.</a:t>
            </a:r>
          </a:p>
          <a:p>
            <a:endParaRPr lang="en-US" sz="2000" b="1" dirty="0"/>
          </a:p>
          <a:p>
            <a:endParaRPr lang="en-US" sz="2000" dirty="0"/>
          </a:p>
        </p:txBody>
      </p:sp>
    </p:spTree>
    <p:extLst>
      <p:ext uri="{BB962C8B-B14F-4D97-AF65-F5344CB8AC3E}">
        <p14:creationId xmlns:p14="http://schemas.microsoft.com/office/powerpoint/2010/main" val="2775645450"/>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7: A manufacturing company wants to identify subtle anomalies in sensor data from machinery to predict failures before they occur. They have a massive amount of historical sensor data, but very few instances of actual machine failures are explicitly logged and labeled. Which approach is most likely to be effective?</a:t>
            </a:r>
          </a:p>
          <a:p>
            <a:r>
              <a:rPr lang="en-US" sz="2000"/>
              <a:t>A) Pure Supervised Learning, focusing on the few labeled failure instances.</a:t>
            </a:r>
          </a:p>
          <a:p>
            <a:r>
              <a:rPr lang="en-US" sz="2000"/>
              <a:t>B) Pure Unsupervised Learning, to cluster normal operating data and identify outliers.</a:t>
            </a:r>
          </a:p>
          <a:p>
            <a:r>
              <a:rPr lang="en-US" sz="2000"/>
              <a:t>C) Semi-Supervised Learning, leveraging both the few labeled failure instances and the vast unlabeled historical data.</a:t>
            </a:r>
          </a:p>
          <a:p>
            <a:r>
              <a:rPr lang="en-US" sz="2000"/>
              <a:t>D) Reinforcement Learning, to train an agent to predict failures in real-time.</a:t>
            </a:r>
          </a:p>
          <a:p>
            <a:endParaRPr lang="en-US" sz="2000" dirty="0"/>
          </a:p>
        </p:txBody>
      </p:sp>
    </p:spTree>
    <p:extLst>
      <p:ext uri="{BB962C8B-B14F-4D97-AF65-F5344CB8AC3E}">
        <p14:creationId xmlns:p14="http://schemas.microsoft.com/office/powerpoint/2010/main" val="2947816257"/>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20000"/>
          </a:bodyPr>
          <a:lstStyle/>
          <a:p>
            <a:r>
              <a:rPr lang="en-US" sz="2000"/>
              <a:t>Question 7: A manufacturing company wants to identify subtle anomalies in sensor data from machinery to predict failures before they occur. They have a massive amount of historical sensor data, but very few instances of actual machine failures are explicitly logged and labeled. Which approach is most likely to be effective?</a:t>
            </a:r>
          </a:p>
          <a:p>
            <a:r>
              <a:rPr lang="en-US" sz="2000"/>
              <a:t>A) Pure Supervised Learning, focusing on the few labeled failure instances.</a:t>
            </a:r>
          </a:p>
          <a:p>
            <a:r>
              <a:rPr lang="en-US" sz="2000"/>
              <a:t>B) Pure Unsupervised Learning, to cluster normal operating data and identify outliers.</a:t>
            </a:r>
          </a:p>
          <a:p>
            <a:r>
              <a:rPr lang="en-US" sz="2000"/>
              <a:t>C) Semi-Supervised Learning, leveraging both the few labeled failure instances and the vast unlabeled historical data.</a:t>
            </a:r>
          </a:p>
          <a:p>
            <a:r>
              <a:rPr lang="en-US" sz="2000"/>
              <a:t>D) Reinforcement Learning, to train an agent to predict failures in real-time.</a:t>
            </a:r>
          </a:p>
          <a:p>
            <a:endParaRPr lang="en-US" sz="2000"/>
          </a:p>
          <a:p>
            <a:endParaRPr lang="en-US" sz="2000"/>
          </a:p>
          <a:p>
            <a:r>
              <a:rPr lang="en-US" sz="2000" b="1"/>
              <a:t>Correct Answer: C) Semi-Supervised Learning, leveraging both the few labeled failure instances and the vast unlabeled historical data.</a:t>
            </a:r>
          </a:p>
          <a:p>
            <a:r>
              <a:rPr lang="en-US" sz="2000" b="1"/>
              <a:t>Explanation: Given the scarcity of labeled failure data but abundance of unlabeled operational data, Semi-Supervised Learning is ideal. It can learn from the few known failures while also understanding the normal operational patterns from the extensive unlabeled data, leading to a more robust anomaly detection system than pure supervised (A) or unsupervised (B). Reinforcement Learning (D) is less suitable for this prediction/classification type of task.</a:t>
            </a:r>
          </a:p>
          <a:p>
            <a:endParaRPr lang="en-US" sz="2000" b="1"/>
          </a:p>
          <a:p>
            <a:endParaRPr lang="en-US" sz="2000" dirty="0"/>
          </a:p>
        </p:txBody>
      </p:sp>
    </p:spTree>
    <p:extLst>
      <p:ext uri="{BB962C8B-B14F-4D97-AF65-F5344CB8AC3E}">
        <p14:creationId xmlns:p14="http://schemas.microsoft.com/office/powerpoint/2010/main" val="272047769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pPr algn="just"/>
            <a:endParaRPr lang="en-US" sz="2000" dirty="0"/>
          </a:p>
          <a:p>
            <a:pPr algn="just"/>
            <a:r>
              <a:rPr lang="en-US" sz="2000" dirty="0"/>
              <a:t>A startup called "</a:t>
            </a:r>
            <a:r>
              <a:rPr lang="en-US" sz="2000" dirty="0" err="1"/>
              <a:t>EcoScan</a:t>
            </a:r>
            <a:r>
              <a:rPr lang="en-US" sz="2000" dirty="0"/>
              <a:t>" is developing an AI-powered waste sorting system for municipal recycling plants. Their goal is to identify and categorize various types of recyclable materials (e.g., plastic bottles, aluminum cans, cardboard, glass) from a mixed conveyor belt of waste. They have access to a vast stream of images from the conveyor belt. However, manually labeling millions of these images with precise categories is extremely time-consuming and expensive. </a:t>
            </a:r>
            <a:r>
              <a:rPr lang="en-US" sz="2000" dirty="0" err="1"/>
              <a:t>EcoScan</a:t>
            </a:r>
            <a:r>
              <a:rPr lang="en-US" sz="2000" dirty="0"/>
              <a:t> does have a small team of experts who can label a limited number of images, but this is far from sufficient for a purely supervised learning approach. Additionally, </a:t>
            </a:r>
            <a:r>
              <a:rPr lang="en-US" sz="2000" dirty="0" err="1"/>
              <a:t>EcoScan</a:t>
            </a:r>
            <a:r>
              <a:rPr lang="en-US" sz="2000" dirty="0"/>
              <a:t> wants its system to adapt and improve over time, even discovering new material types or sorting strategies if the waste composition changes or if they introduce new recycling streams.</a:t>
            </a:r>
          </a:p>
          <a:p>
            <a:pPr algn="just"/>
            <a:endParaRPr lang="en-US" sz="2000" dirty="0"/>
          </a:p>
          <a:p>
            <a:pPr algn="just"/>
            <a:r>
              <a:rPr lang="en-US" sz="2000" dirty="0"/>
              <a:t>Which machine learning paradigms would you recommend for </a:t>
            </a:r>
            <a:r>
              <a:rPr lang="en-US" sz="2000" dirty="0" err="1"/>
              <a:t>EcoScan's</a:t>
            </a:r>
            <a:r>
              <a:rPr lang="en-US" sz="2000" dirty="0"/>
              <a:t> system, and how would they be integrated to address both the data labeling challenge and the need for adaptability/discovery? Justify your choices.</a:t>
            </a:r>
          </a:p>
          <a:p>
            <a:pPr algn="just"/>
            <a:endParaRPr lang="en-US" sz="2000" dirty="0"/>
          </a:p>
          <a:p>
            <a:pPr algn="just"/>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2878444104"/>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fontScale="55000" lnSpcReduction="20000"/>
          </a:bodyPr>
          <a:lstStyle/>
          <a:p>
            <a:r>
              <a:rPr lang="en-US" sz="2000"/>
              <a:t>Solution:</a:t>
            </a:r>
          </a:p>
          <a:p>
            <a:endParaRPr lang="en-US" sz="2000"/>
          </a:p>
          <a:p>
            <a:endParaRPr lang="en-US" sz="2000"/>
          </a:p>
          <a:p>
            <a:r>
              <a:rPr lang="en-US" sz="2000"/>
              <a:t>For EcoScan's AI-powered waste sorting system, a combination of Semi-Supervised Learning and potentially Reinforcement Learning would be highly effective and pragmatic.</a:t>
            </a:r>
          </a:p>
          <a:p>
            <a:endParaRPr lang="en-US" sz="2000"/>
          </a:p>
          <a:p>
            <a:r>
              <a:rPr lang="en-US" sz="2000"/>
              <a:t>1.  Semi-Supervised Learning for Initial Classification &amp; Addressing Data Scarcity:</a:t>
            </a:r>
          </a:p>
          <a:p>
            <a:r>
              <a:rPr lang="en-US" sz="2000"/>
              <a:t>Justification: The core challenge is the vast amount of unlabeled image data with only a limited budget for expert labeling. Semi-Supervised Learning is perfectly suited for this.</a:t>
            </a:r>
          </a:p>
          <a:p>
            <a:r>
              <a:rPr lang="en-US" sz="2000"/>
              <a:t>Integration:</a:t>
            </a:r>
          </a:p>
          <a:p>
            <a:r>
              <a:rPr lang="en-US" sz="2000"/>
              <a:t>•   EcoScan can use its small team of experts to meticulously label a crucial subset of images for initial training.</a:t>
            </a:r>
          </a:p>
          <a:p>
            <a:r>
              <a:rPr lang="en-US" sz="2000"/>
              <a:t>•   Semi-supervised algorithms (e.g., self-training, co-training, or using consistency regularization with deep learning models) would then leverage this labeled data along with the immense volume of unlabeled images.</a:t>
            </a:r>
          </a:p>
          <a:p>
            <a:r>
              <a:rPr lang="en-US" sz="2000"/>
              <a:t>•   The model learns to classify the unlabeled images, effectively "bootstrapping" its knowledge and extending the impact of the limited human-labeled data. This significantly improves the accuracy and generalization of the initial material classification model (plastic, aluminum, etc.) without requiring full manual annotation of all data.</a:t>
            </a:r>
          </a:p>
          <a:p>
            <a:endParaRPr lang="en-US" sz="2000"/>
          </a:p>
          <a:p>
            <a:r>
              <a:rPr lang="en-US" sz="2000"/>
              <a:t>2.  Reinforcement Learning for Adaptability and Optimization (Optional but Powerful):</a:t>
            </a:r>
          </a:p>
          <a:p>
            <a:r>
              <a:rPr lang="en-US" sz="2000"/>
              <a:t>Justification: The desire for the system to "adapt and improve over time, even discovering new material types or sorting strategies" strongly points towards Reinforcement Learning. While the primary sorting is a classification task, the strategy* of sorting, especially if robotic arms are involved, can be optimized by RL.</a:t>
            </a:r>
          </a:p>
          <a:p>
            <a:r>
              <a:rPr lang="en-US" sz="2000"/>
              <a:t>Integration:</a:t>
            </a:r>
          </a:p>
          <a:p>
            <a:r>
              <a:rPr lang="en-US" sz="2000"/>
              <a:t>•   An RL agent could be designed to control robotic arms or sorting mechanisms.</a:t>
            </a:r>
          </a:p>
          <a:p>
            <a:r>
              <a:rPr lang="en-US" sz="2000"/>
              <a:t>•   The "environment" would be the conveyor belt and the sorting bins.</a:t>
            </a:r>
          </a:p>
          <a:p>
            <a:r>
              <a:rPr lang="en-US" sz="2000"/>
              <a:t>•   The "actions" would be picking up an item and placing it in a specific bin, or letting it pass.</a:t>
            </a:r>
          </a:p>
          <a:p>
            <a:r>
              <a:rPr lang="en-US" sz="2000"/>
              <a:t>•   "Rewards" could be assigned for correctly sorted items (e.g., verified by downstream sensors or human checks) and penalties for mis-sorts.</a:t>
            </a:r>
          </a:p>
          <a:p>
            <a:r>
              <a:rPr lang="en-US" sz="2000"/>
              <a:t>•   The RL agent, possibly combined with the vision output from the semi-supervised classifier, could learn optimal sorting policies. It could adapt to slight changes in material appearance or even infer new categories for materials it hasn't seen explicitly labeled, by observing the outcomes of its sorting actions (e.g., "if I put this new type of plastic in the 'other plastics' bin, does it result in a positive reward later?").</a:t>
            </a:r>
          </a:p>
          <a:p>
            <a:r>
              <a:rPr lang="en-US" sz="2000"/>
              <a:t>•   This allows the system to continuously learn and refine its sorting strategies based on real-world feedback, moving beyond just classification to active, adaptive process optimization.</a:t>
            </a:r>
          </a:p>
          <a:p>
            <a:endParaRPr lang="en-US" sz="2000"/>
          </a:p>
          <a:p>
            <a:r>
              <a:rPr lang="en-US" sz="2000"/>
              <a:t>By combining Semi-Supervised Learning for robust image classification with Reinforcement Learning for adaptive sorting strategies, EcoScan can build a highly efficient, scalable, and intelligent waste management system that tackles both data limitations and the need for continuous improvement.</a:t>
            </a:r>
          </a:p>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2472011572"/>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24511C7F-9928-B8C5-B030-0760B9BCAFBA}"/>
              </a:ext>
            </a:extLst>
          </p:cNvPr>
          <p:cNvGraphicFramePr>
            <a:graphicFrameLocks noGrp="1"/>
          </p:cNvGraphicFramePr>
          <p:nvPr>
            <p:extLst>
              <p:ext uri="{D42A27DB-BD31-4B8C-83A1-F6EECF244321}">
                <p14:modId xmlns:p14="http://schemas.microsoft.com/office/powerpoint/2010/main" val="3378731287"/>
              </p:ext>
            </p:extLst>
          </p:nvPr>
        </p:nvGraphicFramePr>
        <p:xfrm>
          <a:off x="204788" y="1071563"/>
          <a:ext cx="11906252" cy="5648324"/>
        </p:xfrm>
        <a:graphic>
          <a:graphicData uri="http://schemas.openxmlformats.org/drawingml/2006/table">
            <a:tbl>
              <a:tblPr/>
              <a:tblGrid>
                <a:gridCol w="2709862">
                  <a:extLst>
                    <a:ext uri="{9D8B030D-6E8A-4147-A177-3AD203B41FA5}">
                      <a16:colId xmlns:a16="http://schemas.microsoft.com/office/drawing/2014/main" val="1053405436"/>
                    </a:ext>
                  </a:extLst>
                </a:gridCol>
                <a:gridCol w="2967038">
                  <a:extLst>
                    <a:ext uri="{9D8B030D-6E8A-4147-A177-3AD203B41FA5}">
                      <a16:colId xmlns:a16="http://schemas.microsoft.com/office/drawing/2014/main" val="1956260075"/>
                    </a:ext>
                  </a:extLst>
                </a:gridCol>
                <a:gridCol w="3252789">
                  <a:extLst>
                    <a:ext uri="{9D8B030D-6E8A-4147-A177-3AD203B41FA5}">
                      <a16:colId xmlns:a16="http://schemas.microsoft.com/office/drawing/2014/main" val="2597398394"/>
                    </a:ext>
                  </a:extLst>
                </a:gridCol>
                <a:gridCol w="2976563">
                  <a:extLst>
                    <a:ext uri="{9D8B030D-6E8A-4147-A177-3AD203B41FA5}">
                      <a16:colId xmlns:a16="http://schemas.microsoft.com/office/drawing/2014/main" val="4057535265"/>
                    </a:ext>
                  </a:extLst>
                </a:gridCol>
              </a:tblGrid>
              <a:tr h="830636">
                <a:tc>
                  <a:txBody>
                    <a:bodyPr/>
                    <a:lstStyle/>
                    <a:p>
                      <a:pPr rtl="0">
                        <a:buNone/>
                      </a:pPr>
                      <a:r>
                        <a:rPr lang="en-IN" b="1">
                          <a:solidFill>
                            <a:srgbClr val="1F1F1F"/>
                          </a:solidFill>
                          <a:effectLst/>
                          <a:latin typeface="Google Sans Text"/>
                        </a:rPr>
                        <a:t>Paradigm</a:t>
                      </a:r>
                      <a:endParaRPr lang="en-IN">
                        <a:solidFill>
                          <a:srgbClr val="1F1F1F"/>
                        </a:solidFill>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Data Input Type</a:t>
                      </a:r>
                      <a:endParaRPr lang="en-IN">
                        <a:solidFill>
                          <a:srgbClr val="1F1F1F"/>
                        </a:solidFill>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Primary Feedback Mechanism</a:t>
                      </a:r>
                      <a:endParaRPr lang="en-IN">
                        <a:solidFill>
                          <a:srgbClr val="1F1F1F"/>
                        </a:solidFill>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Core Business Objective</a:t>
                      </a:r>
                      <a:endParaRPr lang="en-IN">
                        <a:solidFill>
                          <a:srgbClr val="1F1F1F"/>
                        </a:solidFill>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775203180"/>
                  </a:ext>
                </a:extLst>
              </a:tr>
              <a:tr h="1204422">
                <a:tc>
                  <a:txBody>
                    <a:bodyPr/>
                    <a:lstStyle/>
                    <a:p>
                      <a:pPr rtl="0">
                        <a:buNone/>
                      </a:pPr>
                      <a:r>
                        <a:rPr lang="en-IN" b="1" dirty="0">
                          <a:solidFill>
                            <a:srgbClr val="1F1F1F"/>
                          </a:solidFill>
                          <a:effectLst/>
                          <a:latin typeface="Google Sans Text"/>
                        </a:rPr>
                        <a:t>Supervised Learning</a:t>
                      </a:r>
                      <a:endParaRPr lang="en-IN" dirty="0">
                        <a:solidFill>
                          <a:srgbClr val="1F1F1F"/>
                        </a:solidFill>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100% Labeled Data</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Direct correction (Error between prediction and explicit ground truth).</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Predict</a:t>
                      </a:r>
                      <a:r>
                        <a:rPr lang="en-IN">
                          <a:solidFill>
                            <a:srgbClr val="1F1F1F"/>
                          </a:solidFill>
                          <a:effectLst/>
                          <a:latin typeface="Google Sans Text"/>
                        </a:rPr>
                        <a:t> a specific category or number for new instances.</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49681064"/>
                  </a:ext>
                </a:extLst>
              </a:tr>
              <a:tr h="1204422">
                <a:tc>
                  <a:txBody>
                    <a:bodyPr/>
                    <a:lstStyle/>
                    <a:p>
                      <a:pPr rtl="0">
                        <a:buNone/>
                      </a:pPr>
                      <a:r>
                        <a:rPr lang="en-IN" b="1">
                          <a:solidFill>
                            <a:srgbClr val="1F1F1F"/>
                          </a:solidFill>
                          <a:effectLst/>
                          <a:latin typeface="Google Sans Text"/>
                        </a:rPr>
                        <a:t>Unsupervised Learning</a:t>
                      </a:r>
                      <a:endParaRPr lang="en-IN">
                        <a:solidFill>
                          <a:srgbClr val="1F1F1F"/>
                        </a:solidFill>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100% Unlabeled Data</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Geometric proximity &amp; structural patterns (No external feedback).</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Discover</a:t>
                      </a:r>
                      <a:r>
                        <a:rPr lang="en-IN">
                          <a:solidFill>
                            <a:srgbClr val="1F1F1F"/>
                          </a:solidFill>
                          <a:effectLst/>
                          <a:latin typeface="Google Sans Text"/>
                        </a:rPr>
                        <a:t> hidden groupings, hierarchies, or compress data.</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101382875"/>
                  </a:ext>
                </a:extLst>
              </a:tr>
              <a:tr h="1204422">
                <a:tc>
                  <a:txBody>
                    <a:bodyPr/>
                    <a:lstStyle/>
                    <a:p>
                      <a:pPr rtl="0">
                        <a:buNone/>
                      </a:pPr>
                      <a:r>
                        <a:rPr lang="en-IN" b="1">
                          <a:solidFill>
                            <a:srgbClr val="1F1F1F"/>
                          </a:solidFill>
                          <a:effectLst/>
                          <a:latin typeface="Google Sans Text"/>
                        </a:rPr>
                        <a:t>Semi-Supervised Learning</a:t>
                      </a:r>
                      <a:endParaRPr lang="en-IN">
                        <a:solidFill>
                          <a:srgbClr val="1F1F1F"/>
                        </a:solidFill>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Small Labeled + Large Unlabeled Data</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Self-training via high-confidence pseudo-labeling.</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Scale up</a:t>
                      </a:r>
                      <a:r>
                        <a:rPr lang="en-IN">
                          <a:solidFill>
                            <a:srgbClr val="1F1F1F"/>
                          </a:solidFill>
                          <a:effectLst/>
                          <a:latin typeface="Google Sans Text"/>
                        </a:rPr>
                        <a:t> prediction capabilities when labeling data is too costly.</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85137311"/>
                  </a:ext>
                </a:extLst>
              </a:tr>
              <a:tr h="1204422">
                <a:tc>
                  <a:txBody>
                    <a:bodyPr/>
                    <a:lstStyle/>
                    <a:p>
                      <a:pPr rtl="0">
                        <a:buNone/>
                      </a:pPr>
                      <a:r>
                        <a:rPr lang="en-IN" b="1">
                          <a:solidFill>
                            <a:srgbClr val="1F1F1F"/>
                          </a:solidFill>
                          <a:effectLst/>
                          <a:latin typeface="Google Sans Text"/>
                        </a:rPr>
                        <a:t>Reinforcement Learning</a:t>
                      </a:r>
                      <a:endParaRPr lang="en-IN">
                        <a:solidFill>
                          <a:srgbClr val="1F1F1F"/>
                        </a:solidFill>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Dynamic Environment (No static training set)</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Delayed feedback via numerical rewards and penalties.</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b="1" dirty="0">
                          <a:solidFill>
                            <a:srgbClr val="1F1F1F"/>
                          </a:solidFill>
                          <a:effectLst/>
                          <a:latin typeface="Google Sans Text"/>
                        </a:rPr>
                        <a:t>Optimize</a:t>
                      </a:r>
                      <a:r>
                        <a:rPr lang="en-IN" dirty="0">
                          <a:solidFill>
                            <a:srgbClr val="1F1F1F"/>
                          </a:solidFill>
                          <a:effectLst/>
                          <a:latin typeface="Google Sans Text"/>
                        </a:rPr>
                        <a:t> a sequence of autonomous actions over time.</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741356601"/>
                  </a:ext>
                </a:extLst>
              </a:tr>
            </a:tbl>
          </a:graphicData>
        </a:graphic>
      </p:graphicFrame>
      <p:sp>
        <p:nvSpPr>
          <p:cNvPr id="7" name="TextBox 6">
            <a:extLst>
              <a:ext uri="{FF2B5EF4-FFF2-40B4-BE49-F238E27FC236}">
                <a16:creationId xmlns:a16="http://schemas.microsoft.com/office/drawing/2014/main" id="{2AB9F5C5-EFEC-AA37-9CBC-D5C47870A5AF}"/>
              </a:ext>
            </a:extLst>
          </p:cNvPr>
          <p:cNvSpPr txBox="1"/>
          <p:nvPr/>
        </p:nvSpPr>
        <p:spPr>
          <a:xfrm>
            <a:off x="0" y="215384"/>
            <a:ext cx="6096000" cy="369332"/>
          </a:xfrm>
          <a:prstGeom prst="rect">
            <a:avLst/>
          </a:prstGeom>
          <a:noFill/>
        </p:spPr>
        <p:txBody>
          <a:bodyPr wrap="square">
            <a:spAutoFit/>
          </a:bodyPr>
          <a:lstStyle/>
          <a:p>
            <a:r>
              <a:rPr lang="en-IN" dirty="0"/>
              <a:t>Summary Paradigm Comparison Matrix</a:t>
            </a:r>
          </a:p>
        </p:txBody>
      </p:sp>
    </p:spTree>
    <p:extLst>
      <p:ext uri="{BB962C8B-B14F-4D97-AF65-F5344CB8AC3E}">
        <p14:creationId xmlns:p14="http://schemas.microsoft.com/office/powerpoint/2010/main" val="789838288"/>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Session Summary</a:t>
            </a:r>
            <a:endParaRPr lang="en-US" sz="2800" b="1" dirty="0">
              <a:solidFill>
                <a:srgbClr val="D9212B"/>
              </a:solidFill>
            </a:endParaRPr>
          </a:p>
        </p:txBody>
      </p:sp>
      <p:sp>
        <p:nvSpPr>
          <p:cNvPr id="5" name="Google Shape;135;p9"/>
          <p:cNvSpPr txBox="1"/>
          <p:nvPr/>
        </p:nvSpPr>
        <p:spPr>
          <a:xfrm>
            <a:off x="715540" y="1569935"/>
            <a:ext cx="11052788" cy="3538364"/>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Understand the fundamental concepts and principles of Semi-Supervised Learning.</a:t>
            </a:r>
          </a:p>
          <a:p>
            <a:pPr>
              <a:lnSpc>
                <a:spcPct val="115000"/>
              </a:lnSpc>
              <a:spcAft>
                <a:spcPts val="1000"/>
              </a:spcAft>
            </a:pPr>
            <a:r>
              <a:rPr lang="en-US" dirty="0">
                <a:latin typeface=""/>
                <a:ea typeface="Times New Roman"/>
                <a:cs typeface="Times New Roman"/>
              </a:rPr>
              <a:t>•   Identify various real-world applications where Semi-Supervised Learning is effectively utilized.</a:t>
            </a:r>
          </a:p>
          <a:p>
            <a:pPr>
              <a:lnSpc>
                <a:spcPct val="115000"/>
              </a:lnSpc>
              <a:spcAft>
                <a:spcPts val="1000"/>
              </a:spcAft>
            </a:pPr>
            <a:r>
              <a:rPr lang="en-US" dirty="0">
                <a:latin typeface=""/>
                <a:ea typeface="Times New Roman"/>
                <a:cs typeface="Times New Roman"/>
              </a:rPr>
              <a:t>•   Grasp the core principles and mechanisms of Reinforcement Learning.</a:t>
            </a:r>
          </a:p>
          <a:p>
            <a:pPr>
              <a:lnSpc>
                <a:spcPct val="115000"/>
              </a:lnSpc>
              <a:spcAft>
                <a:spcPts val="1000"/>
              </a:spcAft>
            </a:pPr>
            <a:r>
              <a:rPr lang="en-US" dirty="0">
                <a:latin typeface=""/>
                <a:ea typeface="Times New Roman"/>
                <a:cs typeface="Times New Roman"/>
              </a:rPr>
              <a:t>•   Explore diverse applications of Reinforcement Learning in dynamic environments.</a:t>
            </a:r>
          </a:p>
          <a:p>
            <a:pPr>
              <a:lnSpc>
                <a:spcPct val="115000"/>
              </a:lnSpc>
              <a:spcAft>
                <a:spcPts val="1000"/>
              </a:spcAft>
            </a:pPr>
            <a:r>
              <a:rPr lang="en-US" dirty="0">
                <a:latin typeface=""/>
                <a:ea typeface="Times New Roman"/>
                <a:cs typeface="Times New Roman"/>
              </a:rPr>
              <a:t>•   Recognize how Semi-Supervised and Reinforcement Learning complement traditional Supervised and Unsupervised Learning paradigms.</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207673491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0AAC2B-7E66-6471-2188-FDA04A08BFB5}"/>
              </a:ext>
            </a:extLst>
          </p:cNvPr>
          <p:cNvSpPr txBox="1"/>
          <p:nvPr/>
        </p:nvSpPr>
        <p:spPr>
          <a:xfrm>
            <a:off x="271462" y="1327220"/>
            <a:ext cx="11863387" cy="3693319"/>
          </a:xfrm>
          <a:prstGeom prst="rect">
            <a:avLst/>
          </a:prstGeom>
          <a:noFill/>
        </p:spPr>
        <p:txBody>
          <a:bodyPr wrap="square">
            <a:spAutoFit/>
          </a:bodyPr>
          <a:lstStyle/>
          <a:p>
            <a:pPr>
              <a:buNone/>
            </a:pPr>
            <a:r>
              <a:rPr lang="en-IN" b="1" dirty="0">
                <a:effectLst/>
                <a:latin typeface="Google Sans"/>
              </a:rPr>
              <a:t>The AI Lifecycle Pipeline</a:t>
            </a:r>
          </a:p>
          <a:p>
            <a:pPr>
              <a:buNone/>
            </a:pPr>
            <a:r>
              <a:rPr lang="en-IN" b="1" dirty="0">
                <a:effectLst/>
                <a:latin typeface="Google Sans"/>
              </a:rPr>
              <a:t>Stage 1: Problem Formulation</a:t>
            </a:r>
          </a:p>
          <a:p>
            <a:pPr lvl="1">
              <a:buFont typeface="Arial" panose="020B0604020202020204" pitchFamily="34" charset="0"/>
              <a:buChar char="•"/>
            </a:pPr>
            <a:r>
              <a:rPr lang="en-IN" dirty="0">
                <a:effectLst/>
                <a:latin typeface="Google Sans Text"/>
              </a:rPr>
              <a:t>Define the business objective, success metrics, and KPIs.</a:t>
            </a:r>
          </a:p>
          <a:p>
            <a:pPr>
              <a:buNone/>
            </a:pPr>
            <a:r>
              <a:rPr lang="en-IN" b="1" dirty="0">
                <a:effectLst/>
                <a:latin typeface="Google Sans"/>
              </a:rPr>
              <a:t>Stage 2: Data Collection and Exploration</a:t>
            </a:r>
          </a:p>
          <a:p>
            <a:pPr lvl="1">
              <a:buFont typeface="Arial" panose="020B0604020202020204" pitchFamily="34" charset="0"/>
              <a:buChar char="•"/>
            </a:pPr>
            <a:r>
              <a:rPr lang="en-IN" b="1" dirty="0">
                <a:effectLst/>
                <a:latin typeface="Google Sans Text"/>
              </a:rPr>
              <a:t>Data Ingestion:</a:t>
            </a:r>
            <a:r>
              <a:rPr lang="en-IN" dirty="0">
                <a:effectLst/>
                <a:latin typeface="Google Sans Text"/>
              </a:rPr>
              <a:t> Gathering raw files, scraping web data, or pulling from databases.</a:t>
            </a:r>
          </a:p>
          <a:p>
            <a:pPr lvl="1">
              <a:buFont typeface="Arial" panose="020B0604020202020204" pitchFamily="34" charset="0"/>
              <a:buChar char="•"/>
            </a:pPr>
            <a:r>
              <a:rPr lang="en-IN" b="1" dirty="0">
                <a:effectLst/>
                <a:latin typeface="Google Sans Text"/>
              </a:rPr>
              <a:t>Exploratory Data Analysis (EDA):</a:t>
            </a:r>
            <a:r>
              <a:rPr lang="en-IN" dirty="0">
                <a:effectLst/>
                <a:latin typeface="Google Sans Text"/>
              </a:rPr>
              <a:t> Visualizing data distributions, identifying missing values, and detecting anomalies.</a:t>
            </a:r>
          </a:p>
          <a:p>
            <a:pPr lvl="1">
              <a:buFont typeface="Arial" panose="020B0604020202020204" pitchFamily="34" charset="0"/>
              <a:buChar char="•"/>
            </a:pPr>
            <a:r>
              <a:rPr lang="en-IN" b="1" dirty="0">
                <a:effectLst/>
                <a:latin typeface="Google Sans Text"/>
              </a:rPr>
              <a:t>👉 FEATURE ENGINEERING (The Climax of Stage 2):</a:t>
            </a:r>
            <a:r>
              <a:rPr lang="en-IN" dirty="0">
                <a:effectLst/>
                <a:latin typeface="Google Sans Text"/>
              </a:rPr>
              <a:t> Transforming those explored raw variables into high-quality, sanitized, numerical inputs ($X$) that machine learning models can actually ingest and learn from.</a:t>
            </a:r>
          </a:p>
          <a:p>
            <a:pPr>
              <a:buNone/>
            </a:pPr>
            <a:r>
              <a:rPr lang="en-IN" b="1" dirty="0">
                <a:effectLst/>
                <a:latin typeface="Google Sans"/>
              </a:rPr>
              <a:t>Stage 3: Model Training and Evaluation</a:t>
            </a:r>
          </a:p>
          <a:p>
            <a:pPr lvl="1">
              <a:buFont typeface="Arial" panose="020B0604020202020204" pitchFamily="34" charset="0"/>
              <a:buChar char="•"/>
            </a:pPr>
            <a:r>
              <a:rPr lang="en-IN" dirty="0">
                <a:effectLst/>
                <a:latin typeface="Google Sans Text"/>
              </a:rPr>
              <a:t>Feeding the engineered features into your algorithms (e.g., Random Forest, </a:t>
            </a:r>
            <a:r>
              <a:rPr lang="en-IN" dirty="0" err="1">
                <a:effectLst/>
                <a:latin typeface="Google Sans Text"/>
              </a:rPr>
              <a:t>XGBoost</a:t>
            </a:r>
            <a:r>
              <a:rPr lang="en-IN" dirty="0">
                <a:effectLst/>
                <a:latin typeface="Google Sans Text"/>
              </a:rPr>
              <a:t>).</a:t>
            </a:r>
          </a:p>
          <a:p>
            <a:pPr lvl="1">
              <a:buFont typeface="Arial" panose="020B0604020202020204" pitchFamily="34" charset="0"/>
              <a:buChar char="•"/>
            </a:pPr>
            <a:r>
              <a:rPr lang="en-IN" dirty="0">
                <a:effectLst/>
                <a:latin typeface="Google Sans Text"/>
              </a:rPr>
              <a:t>Tuning hyperparameters and validating performance metrics (Accuracy, F1-Score, RMSE).</a:t>
            </a:r>
          </a:p>
          <a:p>
            <a:pPr>
              <a:buNone/>
            </a:pPr>
            <a:r>
              <a:rPr lang="en-IN" b="1" dirty="0">
                <a:effectLst/>
                <a:latin typeface="Google Sans"/>
              </a:rPr>
              <a:t>Stage 4: Model Deployment</a:t>
            </a:r>
          </a:p>
          <a:p>
            <a:pPr lvl="1">
              <a:buFont typeface="Arial" panose="020B0604020202020204" pitchFamily="34" charset="0"/>
              <a:buChar char="•"/>
            </a:pPr>
            <a:r>
              <a:rPr lang="en-IN" dirty="0">
                <a:effectLst/>
                <a:latin typeface="Google Sans Text"/>
              </a:rPr>
              <a:t>Packaging the model into a container, deploying APIs, and setting up real-time inference pipelines.</a:t>
            </a:r>
          </a:p>
        </p:txBody>
      </p:sp>
    </p:spTree>
    <p:extLst>
      <p:ext uri="{BB962C8B-B14F-4D97-AF65-F5344CB8AC3E}">
        <p14:creationId xmlns:p14="http://schemas.microsoft.com/office/powerpoint/2010/main" val="1968731410"/>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Learning Objectives 7</a:t>
            </a:r>
            <a:endParaRPr lang="en-US" sz="2800" b="1" dirty="0">
              <a:solidFill>
                <a:srgbClr val="D9212B"/>
              </a:solidFill>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96;p3"/>
          <p:cNvSpPr txBox="1"/>
          <p:nvPr/>
        </p:nvSpPr>
        <p:spPr>
          <a:xfrm>
            <a:off x="773393" y="1672895"/>
            <a:ext cx="8074981" cy="57134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000"/>
              <a:buFont typeface="Arial"/>
              <a:buNone/>
            </a:pPr>
            <a:r>
              <a:rPr lang="en-US" sz="2000" b="1" dirty="0">
                <a:solidFill>
                  <a:schemeClr val="dk1"/>
                </a:solidFill>
                <a:latin typeface="Avenir"/>
                <a:ea typeface="Avenir"/>
                <a:cs typeface="Avenir"/>
                <a:sym typeface="Avenir"/>
              </a:rPr>
              <a:t>By the end of this session, you will be able to:</a:t>
            </a:r>
            <a:endParaRPr dirty="0"/>
          </a:p>
        </p:txBody>
      </p:sp>
      <p:sp>
        <p:nvSpPr>
          <p:cNvPr id="5" name="Google Shape;98;p3"/>
          <p:cNvSpPr txBox="1"/>
          <p:nvPr/>
        </p:nvSpPr>
        <p:spPr>
          <a:xfrm>
            <a:off x="885636" y="2326538"/>
            <a:ext cx="10132884" cy="3219815"/>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Understand the critical role of feature engineering in the machine learning workflow.</a:t>
            </a:r>
          </a:p>
          <a:p>
            <a:pPr>
              <a:lnSpc>
                <a:spcPct val="115000"/>
              </a:lnSpc>
              <a:spcAft>
                <a:spcPts val="1000"/>
              </a:spcAft>
            </a:pPr>
            <a:r>
              <a:rPr lang="en-US" dirty="0">
                <a:latin typeface=""/>
                <a:ea typeface="Times New Roman"/>
                <a:cs typeface="Times New Roman"/>
              </a:rPr>
              <a:t>•   Learn various techniques for feature selection and extraction.</a:t>
            </a:r>
          </a:p>
          <a:p>
            <a:pPr>
              <a:lnSpc>
                <a:spcPct val="115000"/>
              </a:lnSpc>
              <a:spcAft>
                <a:spcPts val="1000"/>
              </a:spcAft>
            </a:pPr>
            <a:r>
              <a:rPr lang="en-US" dirty="0">
                <a:latin typeface=""/>
                <a:ea typeface="Times New Roman"/>
                <a:cs typeface="Times New Roman"/>
              </a:rPr>
              <a:t>•   Grasp the fundamental concepts and assumptions of linear regression.</a:t>
            </a:r>
          </a:p>
          <a:p>
            <a:pPr>
              <a:lnSpc>
                <a:spcPct val="115000"/>
              </a:lnSpc>
              <a:spcAft>
                <a:spcPts val="1000"/>
              </a:spcAft>
            </a:pPr>
            <a:r>
              <a:rPr lang="en-US" dirty="0">
                <a:latin typeface=""/>
                <a:ea typeface="Times New Roman"/>
                <a:cs typeface="Times New Roman"/>
              </a:rPr>
              <a:t>•   Learn how to build, estimate, and interpret a linear regression model.</a:t>
            </a:r>
          </a:p>
          <a:p>
            <a:pPr>
              <a:lnSpc>
                <a:spcPct val="115000"/>
              </a:lnSpc>
              <a:spcAft>
                <a:spcPts val="1000"/>
              </a:spcAft>
            </a:pPr>
            <a:r>
              <a:rPr lang="en-US" dirty="0">
                <a:latin typeface=""/>
                <a:ea typeface="Times New Roman"/>
                <a:cs typeface="Times New Roman"/>
              </a:rPr>
              <a:t>•   Recognize the importance of model validation in linear regression.</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423130734"/>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1232106"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a:t>
            </a:r>
            <a:r>
              <a:rPr lang="en-US" sz="2000" dirty="0">
                <a:solidFill>
                  <a:srgbClr val="FF0000"/>
                </a:solidFill>
              </a:rPr>
              <a:t>Feature engineering </a:t>
            </a:r>
            <a:r>
              <a:rPr lang="en-US" sz="2000" dirty="0"/>
              <a:t>is </a:t>
            </a:r>
            <a:r>
              <a:rPr lang="en-US" sz="2000" dirty="0">
                <a:solidFill>
                  <a:srgbClr val="FF0000"/>
                </a:solidFill>
              </a:rPr>
              <a:t>selecting</a:t>
            </a:r>
            <a:r>
              <a:rPr lang="en-US" sz="2000" dirty="0"/>
              <a:t>, </a:t>
            </a:r>
            <a:r>
              <a:rPr lang="en-US" sz="2000" dirty="0">
                <a:solidFill>
                  <a:srgbClr val="FF0000"/>
                </a:solidFill>
              </a:rPr>
              <a:t>transforming</a:t>
            </a:r>
            <a:r>
              <a:rPr lang="en-US" sz="2000" dirty="0"/>
              <a:t>, and creating </a:t>
            </a:r>
            <a:r>
              <a:rPr lang="en-US" sz="2000" dirty="0">
                <a:solidFill>
                  <a:srgbClr val="FF0000"/>
                </a:solidFill>
              </a:rPr>
              <a:t>new features </a:t>
            </a:r>
            <a:r>
              <a:rPr lang="en-US" sz="2000" dirty="0"/>
              <a:t>from raw data.</a:t>
            </a:r>
          </a:p>
          <a:p>
            <a:endParaRPr lang="en-US" sz="2000" dirty="0"/>
          </a:p>
          <a:p>
            <a:r>
              <a:rPr lang="en-US" sz="2000" dirty="0"/>
              <a:t>•   It is a crucial step for improving a machine learning model's performance.</a:t>
            </a:r>
          </a:p>
          <a:p>
            <a:endParaRPr lang="en-US" sz="2000" dirty="0"/>
          </a:p>
          <a:p>
            <a:r>
              <a:rPr lang="en-US" sz="2000" dirty="0"/>
              <a:t>•   Effective feature engineering significantly impacts predictive power and generalization.</a:t>
            </a:r>
          </a:p>
          <a:p>
            <a:endParaRPr lang="en-US" sz="2000" dirty="0"/>
          </a:p>
          <a:p>
            <a:r>
              <a:rPr lang="en-US" sz="2000" dirty="0"/>
              <a:t>•   This process involves techniques for feature selection, extraction, and handling data issues.</a:t>
            </a:r>
          </a:p>
          <a:p>
            <a:endParaRPr lang="en-US" sz="2000" dirty="0"/>
          </a:p>
          <a:p>
            <a:r>
              <a:rPr lang="en-US" sz="2000" dirty="0"/>
              <a:t>•   It's a vital part of building robust and accurate machine learning models.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Introduction to Feature Engineering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284156145"/>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145506" y="1393446"/>
            <a:ext cx="12117932"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Feature selection involves choosing a relevant subset of features to reduce dimensionality.</a:t>
            </a:r>
          </a:p>
          <a:p>
            <a:endParaRPr lang="en-US" sz="2000" dirty="0"/>
          </a:p>
          <a:p>
            <a:r>
              <a:rPr lang="en-US" sz="2000" dirty="0"/>
              <a:t>• Filter Methods: Evaluate features independently using metrics like correlation or mutual information.</a:t>
            </a:r>
          </a:p>
          <a:p>
            <a:endParaRPr lang="en-US" sz="2000" dirty="0"/>
          </a:p>
          <a:p>
            <a:r>
              <a:rPr lang="en-US" sz="2000" dirty="0"/>
              <a:t>• Wrapper Methods: Assess feature subsets by training and evaluating model performance </a:t>
            </a:r>
            <a:br>
              <a:rPr lang="en-US" sz="2000" dirty="0"/>
            </a:br>
            <a:r>
              <a:rPr lang="en-US" sz="2000" dirty="0"/>
              <a:t>    (e.g., forward/backward selection).</a:t>
            </a:r>
          </a:p>
          <a:p>
            <a:endParaRPr lang="en-US" sz="2000" dirty="0"/>
          </a:p>
          <a:p>
            <a:r>
              <a:rPr lang="en-US" sz="2000" dirty="0"/>
              <a:t>• Embedded Methods: Select features during model training, often through regularization (e.g., Lasso, Ridge).</a:t>
            </a:r>
          </a:p>
          <a:p>
            <a:endParaRPr lang="en-US" sz="2000" dirty="0"/>
          </a:p>
          <a:p>
            <a:r>
              <a:rPr lang="en-US" sz="2000" dirty="0"/>
              <a:t>• Tree-based Methods: Utilize decision trees and ensemble models to provide feature importance scores.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Feature Selection Techniques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373358039"/>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8806" y="1641198"/>
            <a:ext cx="12389394"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Feature extraction creates new features from existing ones for a more compact representation.</a:t>
            </a:r>
          </a:p>
          <a:p>
            <a:endParaRPr lang="en-US" sz="2000" dirty="0"/>
          </a:p>
          <a:p>
            <a:r>
              <a:rPr lang="en-US" sz="2000" dirty="0"/>
              <a:t>• Principal Component Analysis (PCA): Reduces dimensionality by transforming features into uncorrelated principal components.</a:t>
            </a:r>
          </a:p>
          <a:p>
            <a:endParaRPr lang="en-US" sz="2000" dirty="0"/>
          </a:p>
          <a:p>
            <a:r>
              <a:rPr lang="en-US" sz="2000" dirty="0"/>
              <a:t>• Linear Discriminant Analysis (LDA): A supervised technique maximizing class separation while reducing dimensions.</a:t>
            </a:r>
          </a:p>
          <a:p>
            <a:endParaRPr lang="en-US" sz="2000" dirty="0"/>
          </a:p>
          <a:p>
            <a:r>
              <a:rPr lang="en-US" sz="2000" dirty="0"/>
              <a:t>• Feature Scaling: Standardizes features to a common range, improving algorithm performance (e.g., Min-Max, Z-score).</a:t>
            </a:r>
          </a:p>
          <a:p>
            <a:endParaRPr lang="en-US" sz="2000" dirty="0"/>
          </a:p>
          <a:p>
            <a:r>
              <a:rPr lang="en-US" sz="2000" dirty="0"/>
              <a:t>• Feature Aggregation: Computes statistics (mean, median, sum) from features, useful for time-series data.</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Feature Extraction Methods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884108667"/>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E2F770-A661-9223-BE68-64953DCC4313}"/>
              </a:ext>
            </a:extLst>
          </p:cNvPr>
          <p:cNvSpPr txBox="1"/>
          <p:nvPr/>
        </p:nvSpPr>
        <p:spPr>
          <a:xfrm>
            <a:off x="85724" y="608083"/>
            <a:ext cx="11911013" cy="4770537"/>
          </a:xfrm>
          <a:prstGeom prst="rect">
            <a:avLst/>
          </a:prstGeom>
          <a:noFill/>
        </p:spPr>
        <p:txBody>
          <a:bodyPr wrap="square">
            <a:spAutoFit/>
          </a:bodyPr>
          <a:lstStyle/>
          <a:p>
            <a:r>
              <a:rPr lang="en-IN" b="1" dirty="0"/>
              <a:t>PCA: The Unsupervised Variance </a:t>
            </a:r>
            <a:r>
              <a:rPr lang="en-IN" b="1" dirty="0" err="1"/>
              <a:t>Maximizer</a:t>
            </a:r>
            <a:endParaRPr lang="en-IN" b="1" dirty="0"/>
          </a:p>
          <a:p>
            <a:pPr marL="285750" indent="-285750">
              <a:spcBef>
                <a:spcPts val="1200"/>
              </a:spcBef>
              <a:buFont typeface="Wingdings" panose="05000000000000000000" pitchFamily="2" charset="2"/>
              <a:buChar char="ü"/>
            </a:pPr>
            <a:r>
              <a:rPr lang="en-IN" dirty="0"/>
              <a:t>PCA does not know or care about what categories or classes your data points belong to. Its sole mission is to find the directions (Principal Components) along which the data varies the most.</a:t>
            </a:r>
          </a:p>
          <a:p>
            <a:pPr marL="285750" indent="-285750">
              <a:spcBef>
                <a:spcPts val="1200"/>
              </a:spcBef>
              <a:buFont typeface="Wingdings" panose="05000000000000000000" pitchFamily="2" charset="2"/>
              <a:buChar char="ü"/>
            </a:pPr>
            <a:r>
              <a:rPr lang="en-IN" b="1" dirty="0"/>
              <a:t>How it thinks:</a:t>
            </a:r>
            <a:r>
              <a:rPr lang="en-IN" dirty="0"/>
              <a:t> "Where is the data most spread out? Let me draw a line through that axis to capture maximum information."</a:t>
            </a:r>
          </a:p>
          <a:p>
            <a:pPr marL="285750" indent="-285750">
              <a:spcBef>
                <a:spcPts val="1200"/>
              </a:spcBef>
              <a:buFont typeface="Wingdings" panose="05000000000000000000" pitchFamily="2" charset="2"/>
              <a:buChar char="ü"/>
            </a:pPr>
            <a:r>
              <a:rPr lang="en-IN" b="1" dirty="0"/>
              <a:t>Goal:</a:t>
            </a:r>
            <a:r>
              <a:rPr lang="en-IN" dirty="0"/>
              <a:t> Component reduction by retaining maximum variance.</a:t>
            </a:r>
          </a:p>
          <a:p>
            <a:pPr>
              <a:spcBef>
                <a:spcPts val="1200"/>
              </a:spcBef>
            </a:pPr>
            <a:endParaRPr lang="en-IN" dirty="0"/>
          </a:p>
          <a:p>
            <a:r>
              <a:rPr lang="en-IN" b="1" dirty="0"/>
              <a:t>LDA: The Supervised Class Separator</a:t>
            </a:r>
          </a:p>
          <a:p>
            <a:pPr marL="285750" indent="-285750">
              <a:spcBef>
                <a:spcPts val="1200"/>
              </a:spcBef>
              <a:buFont typeface="Wingdings" panose="05000000000000000000" pitchFamily="2" charset="2"/>
              <a:buChar char="ü"/>
            </a:pPr>
            <a:r>
              <a:rPr lang="en-IN" dirty="0"/>
              <a:t>LDA is deeply aware of class labels. It searches for a line or plane that maximizes the distance between the means of different classes while minimizing the spread (variance) within each individual class.</a:t>
            </a:r>
          </a:p>
          <a:p>
            <a:pPr marL="285750" indent="-285750">
              <a:spcBef>
                <a:spcPts val="1200"/>
              </a:spcBef>
              <a:buFont typeface="Wingdings" panose="05000000000000000000" pitchFamily="2" charset="2"/>
              <a:buChar char="ü"/>
            </a:pPr>
            <a:r>
              <a:rPr lang="en-IN" b="1" dirty="0"/>
              <a:t>How it thinks:</a:t>
            </a:r>
            <a:r>
              <a:rPr lang="en-IN" dirty="0"/>
              <a:t> "How can I draw a boundary so that Class A is grouped tightly on one side, and Class B is grouped tightly on the other side?"</a:t>
            </a:r>
          </a:p>
          <a:p>
            <a:pPr marL="285750" indent="-285750">
              <a:spcBef>
                <a:spcPts val="1200"/>
              </a:spcBef>
              <a:buFont typeface="Wingdings" panose="05000000000000000000" pitchFamily="2" charset="2"/>
              <a:buChar char="ü"/>
            </a:pPr>
            <a:r>
              <a:rPr lang="en-IN" b="1" dirty="0"/>
              <a:t>Goal:</a:t>
            </a:r>
            <a:r>
              <a:rPr lang="en-IN" dirty="0"/>
              <a:t> Component reduction by maximizing class distinctiveness (separability).</a:t>
            </a:r>
          </a:p>
        </p:txBody>
      </p:sp>
    </p:spTree>
    <p:extLst>
      <p:ext uri="{BB962C8B-B14F-4D97-AF65-F5344CB8AC3E}">
        <p14:creationId xmlns:p14="http://schemas.microsoft.com/office/powerpoint/2010/main" val="3897261684"/>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21B1D8-A240-5503-44A0-3DEBBB490D16}"/>
              </a:ext>
            </a:extLst>
          </p:cNvPr>
          <p:cNvSpPr txBox="1"/>
          <p:nvPr/>
        </p:nvSpPr>
        <p:spPr>
          <a:xfrm>
            <a:off x="209549" y="419011"/>
            <a:ext cx="11129963" cy="923330"/>
          </a:xfrm>
          <a:prstGeom prst="rect">
            <a:avLst/>
          </a:prstGeom>
          <a:noFill/>
        </p:spPr>
        <p:txBody>
          <a:bodyPr wrap="square">
            <a:spAutoFit/>
          </a:bodyPr>
          <a:lstStyle/>
          <a:p>
            <a:pPr>
              <a:buNone/>
            </a:pPr>
            <a:r>
              <a:rPr lang="en-IN" b="1" dirty="0"/>
              <a:t>Min-Max Scaling (Normalization)</a:t>
            </a:r>
          </a:p>
          <a:p>
            <a:pPr>
              <a:buNone/>
            </a:pPr>
            <a:r>
              <a:rPr lang="en-IN" dirty="0"/>
              <a:t>Min-Max Scaling transforms your raw data by squishing all values strictly into a fixed, bounded range—typically </a:t>
            </a:r>
            <a:r>
              <a:rPr lang="en-IN" b="1" dirty="0"/>
              <a:t>0 to 1</a:t>
            </a:r>
            <a:r>
              <a:rPr lang="en-IN" dirty="0"/>
              <a:t> (or -1 to 1 if the data contains negative values).</a:t>
            </a:r>
          </a:p>
        </p:txBody>
      </p:sp>
      <p:pic>
        <p:nvPicPr>
          <p:cNvPr id="5" name="Picture 4">
            <a:extLst>
              <a:ext uri="{FF2B5EF4-FFF2-40B4-BE49-F238E27FC236}">
                <a16:creationId xmlns:a16="http://schemas.microsoft.com/office/drawing/2014/main" id="{DB8C4579-C80E-B38B-34B7-012D0A324B05}"/>
              </a:ext>
            </a:extLst>
          </p:cNvPr>
          <p:cNvPicPr>
            <a:picLocks noChangeAspect="1"/>
          </p:cNvPicPr>
          <p:nvPr/>
        </p:nvPicPr>
        <p:blipFill>
          <a:blip r:embed="rId3"/>
          <a:stretch>
            <a:fillRect/>
          </a:stretch>
        </p:blipFill>
        <p:spPr>
          <a:xfrm>
            <a:off x="1590320" y="1438184"/>
            <a:ext cx="8192210" cy="2095682"/>
          </a:xfrm>
          <a:prstGeom prst="rect">
            <a:avLst/>
          </a:prstGeom>
        </p:spPr>
      </p:pic>
      <p:sp>
        <p:nvSpPr>
          <p:cNvPr id="7" name="TextBox 6">
            <a:extLst>
              <a:ext uri="{FF2B5EF4-FFF2-40B4-BE49-F238E27FC236}">
                <a16:creationId xmlns:a16="http://schemas.microsoft.com/office/drawing/2014/main" id="{E30874EA-016C-0393-FBAC-A567E7AA1283}"/>
              </a:ext>
            </a:extLst>
          </p:cNvPr>
          <p:cNvSpPr txBox="1"/>
          <p:nvPr/>
        </p:nvSpPr>
        <p:spPr>
          <a:xfrm>
            <a:off x="0" y="3719423"/>
            <a:ext cx="12168189" cy="646331"/>
          </a:xfrm>
          <a:prstGeom prst="rect">
            <a:avLst/>
          </a:prstGeom>
          <a:noFill/>
        </p:spPr>
        <p:txBody>
          <a:bodyPr wrap="square">
            <a:spAutoFit/>
          </a:bodyPr>
          <a:lstStyle/>
          <a:p>
            <a:pPr>
              <a:buNone/>
            </a:pPr>
            <a:r>
              <a:rPr lang="en-IN" b="1" dirty="0">
                <a:effectLst/>
                <a:latin typeface="Google Sans"/>
              </a:rPr>
              <a:t>Z-Score Standardization</a:t>
            </a:r>
          </a:p>
          <a:p>
            <a:pPr>
              <a:buNone/>
            </a:pPr>
            <a:r>
              <a:rPr lang="en-IN" dirty="0">
                <a:effectLst/>
                <a:latin typeface="Google Sans Text"/>
              </a:rPr>
              <a:t>Z-Score Standardization transforms your data so that it </a:t>
            </a:r>
            <a:r>
              <a:rPr lang="en-IN" dirty="0" err="1">
                <a:effectLst/>
                <a:latin typeface="Google Sans Text"/>
              </a:rPr>
              <a:t>centers</a:t>
            </a:r>
            <a:r>
              <a:rPr lang="en-IN" dirty="0">
                <a:effectLst/>
                <a:latin typeface="Google Sans Text"/>
              </a:rPr>
              <a:t> perfectly around a mean </a:t>
            </a:r>
            <a:r>
              <a:rPr lang="en-IN" dirty="0"/>
              <a:t>μ </a:t>
            </a:r>
            <a:r>
              <a:rPr lang="en-IN" dirty="0">
                <a:effectLst/>
                <a:latin typeface="Google Sans Text"/>
              </a:rPr>
              <a:t>of </a:t>
            </a:r>
            <a:r>
              <a:rPr lang="en-IN" b="1" dirty="0">
                <a:effectLst/>
                <a:latin typeface="Google Sans Text"/>
              </a:rPr>
              <a:t>0</a:t>
            </a:r>
            <a:r>
              <a:rPr lang="en-IN" dirty="0">
                <a:effectLst/>
                <a:latin typeface="Google Sans Text"/>
              </a:rPr>
              <a:t> with a standard deviation</a:t>
            </a:r>
            <a:r>
              <a:rPr lang="en-IN" b="1" dirty="0">
                <a:effectLst/>
                <a:latin typeface="Google Sans Text"/>
              </a:rPr>
              <a:t> </a:t>
            </a:r>
            <a:r>
              <a:rPr lang="el-GR" b="1" dirty="0">
                <a:effectLst/>
                <a:latin typeface="Times New Roman" panose="02020603050405020304" pitchFamily="18" charset="0"/>
                <a:cs typeface="Times New Roman" panose="02020603050405020304" pitchFamily="18" charset="0"/>
              </a:rPr>
              <a:t>σ</a:t>
            </a:r>
            <a:r>
              <a:rPr lang="en-IN" b="1" dirty="0">
                <a:effectLst/>
                <a:latin typeface="Google Sans Text"/>
              </a:rPr>
              <a:t> </a:t>
            </a:r>
            <a:r>
              <a:rPr lang="en-IN" dirty="0">
                <a:effectLst/>
                <a:latin typeface="Google Sans Text"/>
              </a:rPr>
              <a:t> of </a:t>
            </a:r>
            <a:r>
              <a:rPr lang="en-IN" b="1" dirty="0">
                <a:effectLst/>
                <a:latin typeface="Google Sans Text"/>
              </a:rPr>
              <a:t>1</a:t>
            </a:r>
            <a:r>
              <a:rPr lang="en-IN" dirty="0">
                <a:effectLst/>
                <a:latin typeface="Google Sans Text"/>
              </a:rPr>
              <a:t>.</a:t>
            </a:r>
          </a:p>
        </p:txBody>
      </p:sp>
      <p:pic>
        <p:nvPicPr>
          <p:cNvPr id="9" name="Picture 8">
            <a:extLst>
              <a:ext uri="{FF2B5EF4-FFF2-40B4-BE49-F238E27FC236}">
                <a16:creationId xmlns:a16="http://schemas.microsoft.com/office/drawing/2014/main" id="{734527E7-8C25-0676-F96B-88DC9AEDC90E}"/>
              </a:ext>
            </a:extLst>
          </p:cNvPr>
          <p:cNvPicPr>
            <a:picLocks noChangeAspect="1"/>
          </p:cNvPicPr>
          <p:nvPr/>
        </p:nvPicPr>
        <p:blipFill>
          <a:blip r:embed="rId4"/>
          <a:stretch>
            <a:fillRect/>
          </a:stretch>
        </p:blipFill>
        <p:spPr>
          <a:xfrm>
            <a:off x="1406529" y="4852987"/>
            <a:ext cx="8966196" cy="1895476"/>
          </a:xfrm>
          <a:prstGeom prst="rect">
            <a:avLst/>
          </a:prstGeom>
        </p:spPr>
      </p:pic>
    </p:spTree>
    <p:extLst>
      <p:ext uri="{BB962C8B-B14F-4D97-AF65-F5344CB8AC3E}">
        <p14:creationId xmlns:p14="http://schemas.microsoft.com/office/powerpoint/2010/main" val="3238406326"/>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76201" y="1374396"/>
            <a:ext cx="12982575"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Missing data is common and must be handled to avoid biased or inaccurate predictions.</a:t>
            </a:r>
          </a:p>
          <a:p>
            <a:endParaRPr lang="en-US" sz="2000" dirty="0"/>
          </a:p>
          <a:p>
            <a:r>
              <a:rPr lang="en-US" sz="2000" dirty="0"/>
              <a:t>• Data Imputation: Replaces missing values with estimated ones </a:t>
            </a:r>
            <a:br>
              <a:rPr lang="en-US" sz="2000" dirty="0"/>
            </a:br>
            <a:r>
              <a:rPr lang="en-US" sz="2000" dirty="0"/>
              <a:t>   (mean, median, mode, or advanced techniques).</a:t>
            </a:r>
          </a:p>
          <a:p>
            <a:endParaRPr lang="en-US" sz="2000" dirty="0"/>
          </a:p>
          <a:p>
            <a:r>
              <a:rPr lang="en-US" sz="2000" dirty="0"/>
              <a:t>• Deletion: Removing rows or columns with missing values, used cautiously to prevent data loss.</a:t>
            </a:r>
          </a:p>
          <a:p>
            <a:endParaRPr lang="en-US" sz="2000" dirty="0"/>
          </a:p>
          <a:p>
            <a:r>
              <a:rPr lang="en-US" dirty="0"/>
              <a:t>• Missingness as a Feature: Creating binary indicator variables to denote missingness if the pattern is informative.</a:t>
            </a:r>
          </a:p>
          <a:p>
            <a:endParaRPr lang="en-US" sz="2000" dirty="0"/>
          </a:p>
          <a:p>
            <a:r>
              <a:rPr lang="en-US" sz="2000" dirty="0"/>
              <a:t>• Model-Based Imputation: Uses relationships between variables to estimate missing values </a:t>
            </a:r>
            <a:br>
              <a:rPr lang="en-US" sz="2000" dirty="0"/>
            </a:br>
            <a:r>
              <a:rPr lang="en-US" sz="2000" dirty="0"/>
              <a:t>  (e.g., KNN imputation).</a:t>
            </a:r>
          </a:p>
        </p:txBody>
      </p:sp>
      <p:sp>
        <p:nvSpPr>
          <p:cNvPr id="5" name="Google Shape;110;p5"/>
          <p:cNvSpPr txBox="1">
            <a:spLocks/>
          </p:cNvSpPr>
          <p:nvPr/>
        </p:nvSpPr>
        <p:spPr>
          <a:xfrm>
            <a:off x="0" y="833438"/>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sym typeface="Avenir"/>
              </a:rPr>
              <a:t>Handling Missing Data</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320341815"/>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59781" y="1502984"/>
            <a:ext cx="12132219"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Categorical variables need appropriate encoding as ML models typically require numerical inputs.</a:t>
            </a:r>
          </a:p>
          <a:p>
            <a:endParaRPr lang="en-US" sz="2000" dirty="0"/>
          </a:p>
          <a:p>
            <a:r>
              <a:rPr lang="en-US" sz="2000" dirty="0"/>
              <a:t>• One-Hot Encoding: Converts each category into a binary column (0 or 1), suitable for nominal variables.</a:t>
            </a:r>
          </a:p>
          <a:p>
            <a:endParaRPr lang="en-US" sz="2000" dirty="0"/>
          </a:p>
          <a:p>
            <a:r>
              <a:rPr lang="en-US" sz="2000" dirty="0"/>
              <a:t>• Label Encoding: Assigns a unique integer to each category, suitable for ordinal variables with inherent order.</a:t>
            </a:r>
          </a:p>
          <a:p>
            <a:endParaRPr lang="en-US" sz="2000" dirty="0"/>
          </a:p>
          <a:p>
            <a:r>
              <a:rPr lang="en-US" sz="2000" dirty="0"/>
              <a:t>• Ordinal Encoding: Explicitly assigns integers based on a natural order, respecting the categories' hierarchy.</a:t>
            </a:r>
          </a:p>
          <a:p>
            <a:endParaRPr lang="en-US" sz="2000" dirty="0"/>
          </a:p>
          <a:p>
            <a:r>
              <a:rPr lang="en-US" sz="2000" dirty="0"/>
              <a:t>• </a:t>
            </a:r>
            <a:r>
              <a:rPr lang="en-US" dirty="0"/>
              <a:t>Target Encoding: Replaces categories with the mean of the target variable for that category, capturing  relationships.</a:t>
            </a:r>
            <a:endParaRPr lang="en-US" sz="2000" dirty="0"/>
          </a:p>
        </p:txBody>
      </p:sp>
      <p:sp>
        <p:nvSpPr>
          <p:cNvPr id="5" name="Google Shape;110;p5"/>
          <p:cNvSpPr txBox="1">
            <a:spLocks/>
          </p:cNvSpPr>
          <p:nvPr/>
        </p:nvSpPr>
        <p:spPr>
          <a:xfrm>
            <a:off x="607469" y="89535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Handling Categorical Variables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896711055"/>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B307715-D434-9711-5937-A0866976765B}"/>
              </a:ext>
            </a:extLst>
          </p:cNvPr>
          <p:cNvGraphicFramePr>
            <a:graphicFrameLocks noGrp="1"/>
          </p:cNvGraphicFramePr>
          <p:nvPr>
            <p:extLst>
              <p:ext uri="{D42A27DB-BD31-4B8C-83A1-F6EECF244321}">
                <p14:modId xmlns:p14="http://schemas.microsoft.com/office/powerpoint/2010/main" val="28776259"/>
              </p:ext>
            </p:extLst>
          </p:nvPr>
        </p:nvGraphicFramePr>
        <p:xfrm>
          <a:off x="219075" y="4488021"/>
          <a:ext cx="10515600" cy="1341120"/>
        </p:xfrm>
        <a:graphic>
          <a:graphicData uri="http://schemas.openxmlformats.org/drawingml/2006/table">
            <a:tbl>
              <a:tblPr/>
              <a:tblGrid>
                <a:gridCol w="5257800">
                  <a:extLst>
                    <a:ext uri="{9D8B030D-6E8A-4147-A177-3AD203B41FA5}">
                      <a16:colId xmlns:a16="http://schemas.microsoft.com/office/drawing/2014/main" val="3731456659"/>
                    </a:ext>
                  </a:extLst>
                </a:gridCol>
                <a:gridCol w="5257800">
                  <a:extLst>
                    <a:ext uri="{9D8B030D-6E8A-4147-A177-3AD203B41FA5}">
                      <a16:colId xmlns:a16="http://schemas.microsoft.com/office/drawing/2014/main" val="2612433616"/>
                    </a:ext>
                  </a:extLst>
                </a:gridCol>
              </a:tblGrid>
              <a:tr h="0">
                <a:tc>
                  <a:txBody>
                    <a:bodyPr/>
                    <a:lstStyle/>
                    <a:p>
                      <a:pPr rtl="0">
                        <a:buNone/>
                      </a:pPr>
                      <a:r>
                        <a:rPr lang="en-IN" b="1" dirty="0">
                          <a:solidFill>
                            <a:srgbClr val="1F1F1F"/>
                          </a:solidFill>
                          <a:effectLst/>
                          <a:latin typeface="Google Sans Text"/>
                        </a:rPr>
                        <a:t>Raw Target Flight Status</a:t>
                      </a:r>
                      <a:endParaRPr lang="en-IN" dirty="0">
                        <a:solidFill>
                          <a:srgbClr val="1F1F1F"/>
                        </a:solidFill>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Label Encoded Output (Y)</a:t>
                      </a:r>
                      <a:endParaRPr lang="en-IN">
                        <a:solidFill>
                          <a:srgbClr val="1F1F1F"/>
                        </a:solidFill>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881849875"/>
                  </a:ext>
                </a:extLst>
              </a:tr>
              <a:tr h="0">
                <a:tc>
                  <a:txBody>
                    <a:bodyPr/>
                    <a:lstStyle/>
                    <a:p>
                      <a:pPr rtl="0">
                        <a:buNone/>
                      </a:pPr>
                      <a:r>
                        <a:rPr lang="en-IN">
                          <a:solidFill>
                            <a:srgbClr val="1F1F1F"/>
                          </a:solidFill>
                          <a:effectLst/>
                          <a:latin typeface="Google Sans Text"/>
                        </a:rPr>
                        <a:t>Cancelled</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0</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23132301"/>
                  </a:ext>
                </a:extLst>
              </a:tr>
              <a:tr h="0">
                <a:tc>
                  <a:txBody>
                    <a:bodyPr/>
                    <a:lstStyle/>
                    <a:p>
                      <a:pPr rtl="0">
                        <a:buNone/>
                      </a:pPr>
                      <a:r>
                        <a:rPr lang="en-IN">
                          <a:solidFill>
                            <a:srgbClr val="1F1F1F"/>
                          </a:solidFill>
                          <a:effectLst/>
                          <a:latin typeface="Google Sans Text"/>
                        </a:rPr>
                        <a:t>Delayed</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1</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087176113"/>
                  </a:ext>
                </a:extLst>
              </a:tr>
              <a:tr h="0">
                <a:tc>
                  <a:txBody>
                    <a:bodyPr/>
                    <a:lstStyle/>
                    <a:p>
                      <a:pPr rtl="0">
                        <a:buNone/>
                      </a:pPr>
                      <a:r>
                        <a:rPr lang="en-IN">
                          <a:solidFill>
                            <a:srgbClr val="1F1F1F"/>
                          </a:solidFill>
                          <a:effectLst/>
                          <a:latin typeface="Google Sans Text"/>
                        </a:rPr>
                        <a:t>On-Time</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rtl="0">
                        <a:buNone/>
                      </a:pPr>
                      <a:r>
                        <a:rPr lang="en-IN" dirty="0">
                          <a:solidFill>
                            <a:srgbClr val="1F1F1F"/>
                          </a:solidFill>
                          <a:effectLst/>
                          <a:latin typeface="Google Sans Text"/>
                        </a:rPr>
                        <a:t>2</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122109000"/>
                  </a:ext>
                </a:extLst>
              </a:tr>
            </a:tbl>
          </a:graphicData>
        </a:graphic>
      </p:graphicFrame>
      <p:sp>
        <p:nvSpPr>
          <p:cNvPr id="4" name="TextBox 3">
            <a:extLst>
              <a:ext uri="{FF2B5EF4-FFF2-40B4-BE49-F238E27FC236}">
                <a16:creationId xmlns:a16="http://schemas.microsoft.com/office/drawing/2014/main" id="{68713DBA-3BA8-3065-71D4-E3CA5FB2F0EA}"/>
              </a:ext>
            </a:extLst>
          </p:cNvPr>
          <p:cNvSpPr txBox="1"/>
          <p:nvPr/>
        </p:nvSpPr>
        <p:spPr>
          <a:xfrm>
            <a:off x="123824" y="3429000"/>
            <a:ext cx="8791576" cy="646331"/>
          </a:xfrm>
          <a:prstGeom prst="rect">
            <a:avLst/>
          </a:prstGeom>
          <a:noFill/>
        </p:spPr>
        <p:txBody>
          <a:bodyPr wrap="square">
            <a:spAutoFit/>
          </a:bodyPr>
          <a:lstStyle/>
          <a:p>
            <a:pPr>
              <a:buNone/>
            </a:pPr>
            <a:r>
              <a:rPr lang="en-IN" b="1" dirty="0"/>
              <a:t>Concrete Example:</a:t>
            </a:r>
          </a:p>
          <a:p>
            <a:pPr marL="285750" indent="-285750">
              <a:buFont typeface="Wingdings" panose="05000000000000000000" pitchFamily="2" charset="2"/>
              <a:buChar char="ü"/>
            </a:pPr>
            <a:r>
              <a:rPr lang="en-IN" dirty="0"/>
              <a:t>If you are predicting whether a flight will be </a:t>
            </a:r>
            <a:r>
              <a:rPr lang="en-IN" b="1" dirty="0"/>
              <a:t>Delayed</a:t>
            </a:r>
            <a:r>
              <a:rPr lang="en-IN" dirty="0"/>
              <a:t>, </a:t>
            </a:r>
            <a:r>
              <a:rPr lang="en-IN" b="1" dirty="0"/>
              <a:t>On-Time</a:t>
            </a:r>
            <a:r>
              <a:rPr lang="en-IN" dirty="0"/>
              <a:t>, or </a:t>
            </a:r>
            <a:r>
              <a:rPr lang="en-IN" b="1" dirty="0"/>
              <a:t>Cancelled</a:t>
            </a:r>
            <a:r>
              <a:rPr lang="en-IN" dirty="0"/>
              <a:t>:</a:t>
            </a:r>
          </a:p>
        </p:txBody>
      </p:sp>
      <p:sp>
        <p:nvSpPr>
          <p:cNvPr id="6" name="TextBox 5">
            <a:extLst>
              <a:ext uri="{FF2B5EF4-FFF2-40B4-BE49-F238E27FC236}">
                <a16:creationId xmlns:a16="http://schemas.microsoft.com/office/drawing/2014/main" id="{C2897EB9-96DE-2196-6A7B-4B0BC1107B1C}"/>
              </a:ext>
            </a:extLst>
          </p:cNvPr>
          <p:cNvSpPr txBox="1"/>
          <p:nvPr/>
        </p:nvSpPr>
        <p:spPr>
          <a:xfrm>
            <a:off x="71437" y="652621"/>
            <a:ext cx="12025313" cy="2215991"/>
          </a:xfrm>
          <a:prstGeom prst="rect">
            <a:avLst/>
          </a:prstGeom>
          <a:noFill/>
        </p:spPr>
        <p:txBody>
          <a:bodyPr wrap="square">
            <a:spAutoFit/>
          </a:bodyPr>
          <a:lstStyle/>
          <a:p>
            <a:pPr>
              <a:buNone/>
            </a:pPr>
            <a:r>
              <a:rPr lang="en-IN" b="1" dirty="0">
                <a:effectLst/>
                <a:latin typeface="Google Sans"/>
              </a:rPr>
              <a:t>Label Encoding (For "Target" Text Labels)</a:t>
            </a:r>
          </a:p>
          <a:p>
            <a:pPr marL="285750" indent="-285750">
              <a:spcBef>
                <a:spcPts val="1200"/>
              </a:spcBef>
              <a:buFont typeface="Wingdings" panose="05000000000000000000" pitchFamily="2" charset="2"/>
              <a:buChar char="ü"/>
            </a:pPr>
            <a:r>
              <a:rPr lang="en-IN" dirty="0">
                <a:effectLst/>
                <a:latin typeface="Google Sans Text"/>
              </a:rPr>
              <a:t>Label Encoding converts each text category into a unique integer (0, 1, 2, 3...) arbitrarily based on alphabetical order.</a:t>
            </a:r>
          </a:p>
          <a:p>
            <a:pPr marL="285750" indent="-285750">
              <a:spcBef>
                <a:spcPts val="1200"/>
              </a:spcBef>
              <a:buFont typeface="Wingdings" panose="05000000000000000000" pitchFamily="2" charset="2"/>
              <a:buChar char="ü"/>
            </a:pPr>
            <a:r>
              <a:rPr lang="en-IN" b="1" dirty="0">
                <a:effectLst/>
                <a:latin typeface="Google Sans Text"/>
              </a:rPr>
              <a:t>When to use it:</a:t>
            </a:r>
            <a:r>
              <a:rPr lang="en-IN" dirty="0">
                <a:effectLst/>
                <a:latin typeface="Google Sans Text"/>
              </a:rPr>
              <a:t> Strictly for your final </a:t>
            </a:r>
            <a:r>
              <a:rPr lang="en-IN" b="1" dirty="0">
                <a:effectLst/>
                <a:latin typeface="Google Sans Text"/>
              </a:rPr>
              <a:t>target output column (Y)</a:t>
            </a:r>
            <a:r>
              <a:rPr lang="en-IN" dirty="0">
                <a:effectLst/>
                <a:latin typeface="Google Sans Text"/>
              </a:rPr>
              <a:t> in classification tasks, never for your input feature columns.</a:t>
            </a:r>
          </a:p>
          <a:p>
            <a:pPr marL="285750" indent="-285750">
              <a:spcBef>
                <a:spcPts val="1200"/>
              </a:spcBef>
              <a:buFont typeface="Wingdings" panose="05000000000000000000" pitchFamily="2" charset="2"/>
              <a:buChar char="ü"/>
            </a:pPr>
            <a:r>
              <a:rPr lang="en-IN" b="1" dirty="0">
                <a:effectLst/>
                <a:latin typeface="Google Sans Text"/>
              </a:rPr>
              <a:t>The Danger:</a:t>
            </a:r>
            <a:r>
              <a:rPr lang="en-IN" dirty="0">
                <a:effectLst/>
                <a:latin typeface="Google Sans Text"/>
              </a:rPr>
              <a:t> If you use this on input columns (like </a:t>
            </a:r>
            <a:r>
              <a:rPr lang="en-IN" dirty="0" err="1">
                <a:effectLst/>
                <a:latin typeface="Google Sans Text"/>
              </a:rPr>
              <a:t>colors</a:t>
            </a:r>
            <a:r>
              <a:rPr lang="en-IN" dirty="0">
                <a:effectLst/>
                <a:latin typeface="Google Sans Text"/>
              </a:rPr>
              <a:t>: Red=0, Blue=1, Green=2), the algorithm will mistakenly think that Green (2) is mathematically "greater than" Red (0), or that Blue (1) + Blue (1) = Green (2). This creates false mathematical relationships.</a:t>
            </a:r>
          </a:p>
        </p:txBody>
      </p:sp>
    </p:spTree>
    <p:extLst>
      <p:ext uri="{BB962C8B-B14F-4D97-AF65-F5344CB8AC3E}">
        <p14:creationId xmlns:p14="http://schemas.microsoft.com/office/powerpoint/2010/main" val="56360542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DEB5A76-B3AB-EFA6-FA97-346449A43EB9}"/>
              </a:ext>
            </a:extLst>
          </p:cNvPr>
          <p:cNvGraphicFramePr>
            <a:graphicFrameLocks noGrp="1"/>
          </p:cNvGraphicFramePr>
          <p:nvPr>
            <p:extLst>
              <p:ext uri="{D42A27DB-BD31-4B8C-83A1-F6EECF244321}">
                <p14:modId xmlns:p14="http://schemas.microsoft.com/office/powerpoint/2010/main" val="3264045930"/>
              </p:ext>
            </p:extLst>
          </p:nvPr>
        </p:nvGraphicFramePr>
        <p:xfrm>
          <a:off x="442912" y="4162425"/>
          <a:ext cx="10515600" cy="1676400"/>
        </p:xfrm>
        <a:graphic>
          <a:graphicData uri="http://schemas.openxmlformats.org/drawingml/2006/table">
            <a:tbl>
              <a:tblPr/>
              <a:tblGrid>
                <a:gridCol w="5257800">
                  <a:extLst>
                    <a:ext uri="{9D8B030D-6E8A-4147-A177-3AD203B41FA5}">
                      <a16:colId xmlns:a16="http://schemas.microsoft.com/office/drawing/2014/main" val="3368178631"/>
                    </a:ext>
                  </a:extLst>
                </a:gridCol>
                <a:gridCol w="5257800">
                  <a:extLst>
                    <a:ext uri="{9D8B030D-6E8A-4147-A177-3AD203B41FA5}">
                      <a16:colId xmlns:a16="http://schemas.microsoft.com/office/drawing/2014/main" val="1587885290"/>
                    </a:ext>
                  </a:extLst>
                </a:gridCol>
              </a:tblGrid>
              <a:tr h="0">
                <a:tc>
                  <a:txBody>
                    <a:bodyPr/>
                    <a:lstStyle/>
                    <a:p>
                      <a:pPr>
                        <a:buNone/>
                      </a:pPr>
                      <a:r>
                        <a:rPr lang="en-IN" b="1" dirty="0">
                          <a:effectLst/>
                          <a:latin typeface="Google Sans Text"/>
                        </a:rPr>
                        <a:t>Raw Education Level</a:t>
                      </a:r>
                      <a:endParaRPr lang="en-IN" dirty="0">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b="1">
                          <a:effectLst/>
                          <a:latin typeface="Google Sans Text"/>
                        </a:rPr>
                        <a:t>Ordinal Encoded Feature</a:t>
                      </a:r>
                      <a:endParaRPr lang="en-IN">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937601008"/>
                  </a:ext>
                </a:extLst>
              </a:tr>
              <a:tr h="0">
                <a:tc>
                  <a:txBody>
                    <a:bodyPr/>
                    <a:lstStyle/>
                    <a:p>
                      <a:pPr>
                        <a:buNone/>
                      </a:pPr>
                      <a:r>
                        <a:rPr lang="en-IN">
                          <a:effectLst/>
                          <a:latin typeface="Google Sans Text"/>
                        </a:rPr>
                        <a:t>High School</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a:effectLst/>
                          <a:latin typeface="Google Sans Text"/>
                        </a:rPr>
                        <a:t>1</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626530398"/>
                  </a:ext>
                </a:extLst>
              </a:tr>
              <a:tr h="0">
                <a:tc>
                  <a:txBody>
                    <a:bodyPr/>
                    <a:lstStyle/>
                    <a:p>
                      <a:pPr>
                        <a:buNone/>
                      </a:pPr>
                      <a:r>
                        <a:rPr lang="en-IN">
                          <a:effectLst/>
                          <a:latin typeface="Google Sans Text"/>
                        </a:rPr>
                        <a:t>BTech</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a:effectLst/>
                          <a:latin typeface="Google Sans Text"/>
                        </a:rPr>
                        <a:t>2</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607085951"/>
                  </a:ext>
                </a:extLst>
              </a:tr>
              <a:tr h="0">
                <a:tc>
                  <a:txBody>
                    <a:bodyPr/>
                    <a:lstStyle/>
                    <a:p>
                      <a:pPr>
                        <a:buNone/>
                      </a:pPr>
                      <a:r>
                        <a:rPr lang="en-IN" dirty="0">
                          <a:effectLst/>
                          <a:latin typeface="Google Sans Text"/>
                        </a:rPr>
                        <a:t>MTech</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a:effectLst/>
                          <a:latin typeface="Google Sans Text"/>
                        </a:rPr>
                        <a:t>3</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026726103"/>
                  </a:ext>
                </a:extLst>
              </a:tr>
              <a:tr h="0">
                <a:tc>
                  <a:txBody>
                    <a:bodyPr/>
                    <a:lstStyle/>
                    <a:p>
                      <a:pPr>
                        <a:buNone/>
                      </a:pPr>
                      <a:r>
                        <a:rPr lang="en-IN" dirty="0">
                          <a:effectLst/>
                          <a:latin typeface="Google Sans Text"/>
                        </a:rPr>
                        <a:t>PhD</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dirty="0">
                          <a:effectLst/>
                          <a:latin typeface="Google Sans Text"/>
                        </a:rPr>
                        <a:t>4</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7900939"/>
                  </a:ext>
                </a:extLst>
              </a:tr>
            </a:tbl>
          </a:graphicData>
        </a:graphic>
      </p:graphicFrame>
      <p:sp>
        <p:nvSpPr>
          <p:cNvPr id="4" name="TextBox 3">
            <a:extLst>
              <a:ext uri="{FF2B5EF4-FFF2-40B4-BE49-F238E27FC236}">
                <a16:creationId xmlns:a16="http://schemas.microsoft.com/office/drawing/2014/main" id="{CC741F33-0FC9-7E17-4364-F61E438B97AD}"/>
              </a:ext>
            </a:extLst>
          </p:cNvPr>
          <p:cNvSpPr txBox="1"/>
          <p:nvPr/>
        </p:nvSpPr>
        <p:spPr>
          <a:xfrm>
            <a:off x="442912" y="941249"/>
            <a:ext cx="11134725" cy="2062103"/>
          </a:xfrm>
          <a:prstGeom prst="rect">
            <a:avLst/>
          </a:prstGeom>
          <a:noFill/>
        </p:spPr>
        <p:txBody>
          <a:bodyPr wrap="square">
            <a:spAutoFit/>
          </a:bodyPr>
          <a:lstStyle/>
          <a:p>
            <a:pPr>
              <a:buNone/>
            </a:pPr>
            <a:r>
              <a:rPr lang="en-IN" b="1" dirty="0">
                <a:effectLst/>
                <a:latin typeface="Google Sans"/>
              </a:rPr>
              <a:t>Ordinal Encoding (For Categories with a Natural Rank)</a:t>
            </a:r>
          </a:p>
          <a:p>
            <a:pPr marL="285750" indent="-285750">
              <a:spcBef>
                <a:spcPts val="1200"/>
              </a:spcBef>
              <a:buFont typeface="Wingdings" panose="05000000000000000000" pitchFamily="2" charset="2"/>
              <a:buChar char="ü"/>
            </a:pPr>
            <a:r>
              <a:rPr lang="en-IN" dirty="0">
                <a:effectLst/>
                <a:latin typeface="Google Sans Text"/>
              </a:rPr>
              <a:t>Some text data has a clear, built-in human order or hierarchy. We use Ordinal Encoding to convert these words into numbers </a:t>
            </a:r>
            <a:r>
              <a:rPr lang="en-IN" b="1" dirty="0">
                <a:effectLst/>
                <a:latin typeface="Google Sans Text"/>
              </a:rPr>
              <a:t>while preserving that exact ranking</a:t>
            </a:r>
            <a:r>
              <a:rPr lang="en-IN" dirty="0">
                <a:effectLst/>
                <a:latin typeface="Google Sans Text"/>
              </a:rPr>
              <a:t>.</a:t>
            </a:r>
          </a:p>
          <a:p>
            <a:pPr marL="285750" indent="-285750">
              <a:spcBef>
                <a:spcPts val="1200"/>
              </a:spcBef>
              <a:buFont typeface="Wingdings" panose="05000000000000000000" pitchFamily="2" charset="2"/>
              <a:buChar char="ü"/>
            </a:pPr>
            <a:r>
              <a:rPr lang="en-IN" b="1" dirty="0">
                <a:effectLst/>
                <a:latin typeface="Google Sans Text"/>
              </a:rPr>
              <a:t>When to use it:</a:t>
            </a:r>
            <a:r>
              <a:rPr lang="en-IN" dirty="0">
                <a:effectLst/>
                <a:latin typeface="Google Sans Text"/>
              </a:rPr>
              <a:t> For input features (X) where order matters (e.g., shirt sizes, education levels, review ratings).</a:t>
            </a:r>
          </a:p>
          <a:p>
            <a:pPr>
              <a:buFont typeface="Arial" panose="020B0604020202020204" pitchFamily="34" charset="0"/>
              <a:buChar char="•"/>
            </a:pPr>
            <a:endParaRPr lang="en-IN" dirty="0">
              <a:latin typeface="Google Sans Text"/>
            </a:endParaRPr>
          </a:p>
          <a:p>
            <a:pPr>
              <a:buFont typeface="Arial" panose="020B0604020202020204" pitchFamily="34" charset="0"/>
              <a:buChar char="•"/>
            </a:pPr>
            <a:endParaRPr lang="en-IN" dirty="0">
              <a:effectLst/>
              <a:latin typeface="Google Sans Text"/>
            </a:endParaRPr>
          </a:p>
        </p:txBody>
      </p:sp>
      <p:sp>
        <p:nvSpPr>
          <p:cNvPr id="6" name="TextBox 5">
            <a:extLst>
              <a:ext uri="{FF2B5EF4-FFF2-40B4-BE49-F238E27FC236}">
                <a16:creationId xmlns:a16="http://schemas.microsoft.com/office/drawing/2014/main" id="{B79DD85A-275B-B919-5FF8-246C5F7D05B6}"/>
              </a:ext>
            </a:extLst>
          </p:cNvPr>
          <p:cNvSpPr txBox="1"/>
          <p:nvPr/>
        </p:nvSpPr>
        <p:spPr>
          <a:xfrm>
            <a:off x="400050" y="3329672"/>
            <a:ext cx="6096000" cy="646331"/>
          </a:xfrm>
          <a:prstGeom prst="rect">
            <a:avLst/>
          </a:prstGeom>
          <a:noFill/>
        </p:spPr>
        <p:txBody>
          <a:bodyPr wrap="square">
            <a:spAutoFit/>
          </a:bodyPr>
          <a:lstStyle/>
          <a:p>
            <a:pPr>
              <a:buNone/>
            </a:pPr>
            <a:r>
              <a:rPr lang="en-IN" b="1" dirty="0">
                <a:effectLst/>
                <a:latin typeface="Google Sans"/>
              </a:rPr>
              <a:t>Concrete Example:</a:t>
            </a:r>
          </a:p>
          <a:p>
            <a:pPr marL="285750" indent="-285750">
              <a:buFont typeface="Wingdings" panose="05000000000000000000" pitchFamily="2" charset="2"/>
              <a:buChar char="ü"/>
            </a:pPr>
            <a:r>
              <a:rPr lang="en-IN" dirty="0">
                <a:effectLst/>
                <a:latin typeface="Google Sans Text"/>
              </a:rPr>
              <a:t>Imagine an input column for a customer's </a:t>
            </a:r>
            <a:r>
              <a:rPr lang="en-IN" b="1" dirty="0">
                <a:effectLst/>
                <a:latin typeface="Google Sans Text"/>
              </a:rPr>
              <a:t>Education Level</a:t>
            </a:r>
            <a:r>
              <a:rPr lang="en-IN" dirty="0">
                <a:effectLst/>
                <a:latin typeface="Google Sans Text"/>
              </a:rPr>
              <a:t>:</a:t>
            </a:r>
          </a:p>
        </p:txBody>
      </p:sp>
    </p:spTree>
    <p:extLst>
      <p:ext uri="{BB962C8B-B14F-4D97-AF65-F5344CB8AC3E}">
        <p14:creationId xmlns:p14="http://schemas.microsoft.com/office/powerpoint/2010/main" val="1459998334"/>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794AE1B-2351-D97B-F7B2-AC22A1677EAD}"/>
              </a:ext>
            </a:extLst>
          </p:cNvPr>
          <p:cNvGraphicFramePr>
            <a:graphicFrameLocks noGrp="1"/>
          </p:cNvGraphicFramePr>
          <p:nvPr>
            <p:extLst>
              <p:ext uri="{D42A27DB-BD31-4B8C-83A1-F6EECF244321}">
                <p14:modId xmlns:p14="http://schemas.microsoft.com/office/powerpoint/2010/main" val="2836939530"/>
              </p:ext>
            </p:extLst>
          </p:nvPr>
        </p:nvGraphicFramePr>
        <p:xfrm>
          <a:off x="404812" y="4697572"/>
          <a:ext cx="10515600" cy="1341120"/>
        </p:xfrm>
        <a:graphic>
          <a:graphicData uri="http://schemas.openxmlformats.org/drawingml/2006/table">
            <a:tbl>
              <a:tblPr/>
              <a:tblGrid>
                <a:gridCol w="2628900">
                  <a:extLst>
                    <a:ext uri="{9D8B030D-6E8A-4147-A177-3AD203B41FA5}">
                      <a16:colId xmlns:a16="http://schemas.microsoft.com/office/drawing/2014/main" val="3403045888"/>
                    </a:ext>
                  </a:extLst>
                </a:gridCol>
                <a:gridCol w="2628900">
                  <a:extLst>
                    <a:ext uri="{9D8B030D-6E8A-4147-A177-3AD203B41FA5}">
                      <a16:colId xmlns:a16="http://schemas.microsoft.com/office/drawing/2014/main" val="3306078419"/>
                    </a:ext>
                  </a:extLst>
                </a:gridCol>
                <a:gridCol w="2628900">
                  <a:extLst>
                    <a:ext uri="{9D8B030D-6E8A-4147-A177-3AD203B41FA5}">
                      <a16:colId xmlns:a16="http://schemas.microsoft.com/office/drawing/2014/main" val="2051450146"/>
                    </a:ext>
                  </a:extLst>
                </a:gridCol>
                <a:gridCol w="2628900">
                  <a:extLst>
                    <a:ext uri="{9D8B030D-6E8A-4147-A177-3AD203B41FA5}">
                      <a16:colId xmlns:a16="http://schemas.microsoft.com/office/drawing/2014/main" val="3619970627"/>
                    </a:ext>
                  </a:extLst>
                </a:gridCol>
              </a:tblGrid>
              <a:tr h="0">
                <a:tc>
                  <a:txBody>
                    <a:bodyPr/>
                    <a:lstStyle/>
                    <a:p>
                      <a:pPr>
                        <a:buNone/>
                      </a:pPr>
                      <a:r>
                        <a:rPr lang="en-IN" b="1">
                          <a:effectLst/>
                          <a:latin typeface="Google Sans Text"/>
                        </a:rPr>
                        <a:t>Raw City</a:t>
                      </a:r>
                      <a:endParaRPr lang="en-IN">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b="1">
                          <a:effectLst/>
                          <a:latin typeface="Google Sans Text"/>
                        </a:rPr>
                        <a:t>Is_Bengaluru</a:t>
                      </a:r>
                      <a:endParaRPr lang="en-IN">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b="1">
                          <a:effectLst/>
                          <a:latin typeface="Google Sans Text"/>
                        </a:rPr>
                        <a:t>Is_Mumbai</a:t>
                      </a:r>
                      <a:endParaRPr lang="en-IN">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b="1">
                          <a:effectLst/>
                          <a:latin typeface="Google Sans Text"/>
                        </a:rPr>
                        <a:t>Is_Delhi</a:t>
                      </a:r>
                      <a:endParaRPr lang="en-IN">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888838197"/>
                  </a:ext>
                </a:extLst>
              </a:tr>
              <a:tr h="0">
                <a:tc>
                  <a:txBody>
                    <a:bodyPr/>
                    <a:lstStyle/>
                    <a:p>
                      <a:pPr>
                        <a:buNone/>
                      </a:pPr>
                      <a:r>
                        <a:rPr lang="en-IN" b="1" dirty="0">
                          <a:effectLst/>
                          <a:latin typeface="Google Sans Text"/>
                        </a:rPr>
                        <a:t>Bengaluru</a:t>
                      </a:r>
                      <a:endParaRPr lang="en-IN" dirty="0">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b="1">
                          <a:effectLst/>
                          <a:latin typeface="Google Sans Text"/>
                        </a:rPr>
                        <a:t>1</a:t>
                      </a:r>
                      <a:endParaRPr lang="en-IN">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a:effectLst/>
                          <a:latin typeface="Google Sans Text"/>
                        </a:rPr>
                        <a:t>0</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a:effectLst/>
                          <a:latin typeface="Google Sans Text"/>
                        </a:rPr>
                        <a:t>0</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117402832"/>
                  </a:ext>
                </a:extLst>
              </a:tr>
              <a:tr h="0">
                <a:tc>
                  <a:txBody>
                    <a:bodyPr/>
                    <a:lstStyle/>
                    <a:p>
                      <a:pPr>
                        <a:buNone/>
                      </a:pPr>
                      <a:r>
                        <a:rPr lang="en-IN" b="1" dirty="0">
                          <a:effectLst/>
                          <a:latin typeface="Google Sans Text"/>
                        </a:rPr>
                        <a:t>Mumbai</a:t>
                      </a:r>
                      <a:endParaRPr lang="en-IN" dirty="0">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a:effectLst/>
                          <a:latin typeface="Google Sans Text"/>
                        </a:rPr>
                        <a:t>0</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b="1">
                          <a:effectLst/>
                          <a:latin typeface="Google Sans Text"/>
                        </a:rPr>
                        <a:t>1</a:t>
                      </a:r>
                      <a:endParaRPr lang="en-IN">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dirty="0">
                          <a:effectLst/>
                          <a:latin typeface="Google Sans Text"/>
                        </a:rPr>
                        <a:t>0</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951889073"/>
                  </a:ext>
                </a:extLst>
              </a:tr>
              <a:tr h="0">
                <a:tc>
                  <a:txBody>
                    <a:bodyPr/>
                    <a:lstStyle/>
                    <a:p>
                      <a:pPr>
                        <a:buNone/>
                      </a:pPr>
                      <a:r>
                        <a:rPr lang="en-IN" b="1">
                          <a:effectLst/>
                          <a:latin typeface="Google Sans Text"/>
                        </a:rPr>
                        <a:t>Delhi</a:t>
                      </a:r>
                      <a:endParaRPr lang="en-IN">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a:effectLst/>
                          <a:latin typeface="Google Sans Text"/>
                        </a:rPr>
                        <a:t>0</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a:effectLst/>
                          <a:latin typeface="Google Sans Text"/>
                        </a:rPr>
                        <a:t>0</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b="1" dirty="0">
                          <a:effectLst/>
                          <a:latin typeface="Google Sans Text"/>
                        </a:rPr>
                        <a:t>1</a:t>
                      </a:r>
                      <a:endParaRPr lang="en-IN" dirty="0">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51966303"/>
                  </a:ext>
                </a:extLst>
              </a:tr>
            </a:tbl>
          </a:graphicData>
        </a:graphic>
      </p:graphicFrame>
      <p:sp>
        <p:nvSpPr>
          <p:cNvPr id="4" name="TextBox 3">
            <a:extLst>
              <a:ext uri="{FF2B5EF4-FFF2-40B4-BE49-F238E27FC236}">
                <a16:creationId xmlns:a16="http://schemas.microsoft.com/office/drawing/2014/main" id="{AA6632BA-0C93-3A1C-B078-CDDA3ECDEEA7}"/>
              </a:ext>
            </a:extLst>
          </p:cNvPr>
          <p:cNvSpPr txBox="1"/>
          <p:nvPr/>
        </p:nvSpPr>
        <p:spPr>
          <a:xfrm>
            <a:off x="61913" y="252444"/>
            <a:ext cx="11877675" cy="2923877"/>
          </a:xfrm>
          <a:prstGeom prst="rect">
            <a:avLst/>
          </a:prstGeom>
          <a:noFill/>
        </p:spPr>
        <p:txBody>
          <a:bodyPr wrap="square">
            <a:spAutoFit/>
          </a:bodyPr>
          <a:lstStyle/>
          <a:p>
            <a:pPr>
              <a:buNone/>
            </a:pPr>
            <a:r>
              <a:rPr lang="en-IN" b="1" dirty="0">
                <a:effectLst/>
                <a:latin typeface="Google Sans"/>
              </a:rPr>
              <a:t>One-Hot Encoding (For Categories with NO Natural Rank)</a:t>
            </a:r>
          </a:p>
          <a:p>
            <a:pPr marL="285750" indent="-285750">
              <a:spcBef>
                <a:spcPts val="1200"/>
              </a:spcBef>
              <a:buFont typeface="Wingdings" panose="05000000000000000000" pitchFamily="2" charset="2"/>
              <a:buChar char="ü"/>
            </a:pPr>
            <a:r>
              <a:rPr lang="en-IN" dirty="0">
                <a:effectLst/>
                <a:latin typeface="Google Sans Text"/>
              </a:rPr>
              <a:t>What happens when your text categories have absolutely no mathematical order or relationship? For example, the names of cities like </a:t>
            </a:r>
            <a:r>
              <a:rPr lang="en-IN" b="1" dirty="0">
                <a:effectLst/>
                <a:latin typeface="Google Sans Text"/>
              </a:rPr>
              <a:t>Bengaluru, Mumbai, and Delhi</a:t>
            </a:r>
            <a:r>
              <a:rPr lang="en-IN" dirty="0">
                <a:effectLst/>
                <a:latin typeface="Google Sans Text"/>
              </a:rPr>
              <a:t>. Mumbai is not "greater than" Delhi, and Bengaluru is not "less than" Mumbai.</a:t>
            </a:r>
          </a:p>
          <a:p>
            <a:pPr marL="285750" indent="-285750">
              <a:spcBef>
                <a:spcPts val="1200"/>
              </a:spcBef>
              <a:buFont typeface="Wingdings" panose="05000000000000000000" pitchFamily="2" charset="2"/>
              <a:buChar char="ü"/>
            </a:pPr>
            <a:r>
              <a:rPr lang="en-IN" dirty="0">
                <a:effectLst/>
                <a:latin typeface="Google Sans Text"/>
              </a:rPr>
              <a:t>To prevent the model from assuming a false ranking, One-Hot Encoding creates a </a:t>
            </a:r>
            <a:r>
              <a:rPr lang="en-IN" b="1" dirty="0">
                <a:effectLst/>
                <a:latin typeface="Google Sans Text"/>
              </a:rPr>
              <a:t>brand new binary column (0 or 1)</a:t>
            </a:r>
            <a:r>
              <a:rPr lang="en-IN" dirty="0">
                <a:effectLst/>
                <a:latin typeface="Google Sans Text"/>
              </a:rPr>
              <a:t> for every single unique category in that column.</a:t>
            </a:r>
          </a:p>
          <a:p>
            <a:pPr marL="285750" indent="-285750">
              <a:spcBef>
                <a:spcPts val="1200"/>
              </a:spcBef>
              <a:buFont typeface="Wingdings" panose="05000000000000000000" pitchFamily="2" charset="2"/>
              <a:buChar char="ü"/>
            </a:pPr>
            <a:r>
              <a:rPr lang="en-IN" b="1" dirty="0">
                <a:effectLst/>
                <a:latin typeface="Google Sans Text"/>
              </a:rPr>
              <a:t>When to use it:</a:t>
            </a:r>
            <a:r>
              <a:rPr lang="en-IN" dirty="0">
                <a:effectLst/>
                <a:latin typeface="Google Sans Text"/>
              </a:rPr>
              <a:t> For input features (X) with non-ranked (nominal) text categories.</a:t>
            </a:r>
          </a:p>
          <a:p>
            <a:pPr marL="285750" indent="-285750">
              <a:spcBef>
                <a:spcPts val="1200"/>
              </a:spcBef>
              <a:buFont typeface="Wingdings" panose="05000000000000000000" pitchFamily="2" charset="2"/>
              <a:buChar char="ü"/>
            </a:pPr>
            <a:r>
              <a:rPr lang="en-IN" b="1" dirty="0">
                <a:effectLst/>
                <a:latin typeface="Google Sans Text"/>
              </a:rPr>
              <a:t>The Catch:</a:t>
            </a:r>
            <a:r>
              <a:rPr lang="en-IN" dirty="0">
                <a:effectLst/>
                <a:latin typeface="Google Sans Text"/>
              </a:rPr>
              <a:t> If a column has 100 unique city names, One-Hot Encoding will add 100 new columns to your dataset, making it massive and slow to train.</a:t>
            </a:r>
          </a:p>
        </p:txBody>
      </p:sp>
      <p:sp>
        <p:nvSpPr>
          <p:cNvPr id="6" name="TextBox 5">
            <a:extLst>
              <a:ext uri="{FF2B5EF4-FFF2-40B4-BE49-F238E27FC236}">
                <a16:creationId xmlns:a16="http://schemas.microsoft.com/office/drawing/2014/main" id="{4576B0E3-9CDA-1184-69B0-061D4EF5B407}"/>
              </a:ext>
            </a:extLst>
          </p:cNvPr>
          <p:cNvSpPr txBox="1"/>
          <p:nvPr/>
        </p:nvSpPr>
        <p:spPr>
          <a:xfrm>
            <a:off x="104776" y="3613781"/>
            <a:ext cx="8896350" cy="646331"/>
          </a:xfrm>
          <a:prstGeom prst="rect">
            <a:avLst/>
          </a:prstGeom>
          <a:noFill/>
        </p:spPr>
        <p:txBody>
          <a:bodyPr wrap="square">
            <a:spAutoFit/>
          </a:bodyPr>
          <a:lstStyle/>
          <a:p>
            <a:pPr>
              <a:buNone/>
            </a:pPr>
            <a:r>
              <a:rPr lang="en-IN" b="1" dirty="0">
                <a:effectLst/>
                <a:latin typeface="Google Sans"/>
              </a:rPr>
              <a:t>Concrete Example:</a:t>
            </a:r>
          </a:p>
          <a:p>
            <a:pPr marL="285750" indent="-285750">
              <a:buFont typeface="Wingdings" panose="05000000000000000000" pitchFamily="2" charset="2"/>
              <a:buChar char="ü"/>
            </a:pPr>
            <a:r>
              <a:rPr lang="en-IN" dirty="0">
                <a:effectLst/>
                <a:latin typeface="Google Sans Text"/>
              </a:rPr>
              <a:t>Instead of keeping one "City" column, the data splits into three separate columns:</a:t>
            </a:r>
          </a:p>
        </p:txBody>
      </p:sp>
    </p:spTree>
    <p:extLst>
      <p:ext uri="{BB962C8B-B14F-4D97-AF65-F5344CB8AC3E}">
        <p14:creationId xmlns:p14="http://schemas.microsoft.com/office/powerpoint/2010/main" val="3801182354"/>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6065451-08A0-110F-E477-377FB3F75F60}"/>
              </a:ext>
            </a:extLst>
          </p:cNvPr>
          <p:cNvGraphicFramePr>
            <a:graphicFrameLocks noGrp="1"/>
          </p:cNvGraphicFramePr>
          <p:nvPr>
            <p:extLst>
              <p:ext uri="{D42A27DB-BD31-4B8C-83A1-F6EECF244321}">
                <p14:modId xmlns:p14="http://schemas.microsoft.com/office/powerpoint/2010/main" val="3270064975"/>
              </p:ext>
            </p:extLst>
          </p:nvPr>
        </p:nvGraphicFramePr>
        <p:xfrm>
          <a:off x="357188" y="5355223"/>
          <a:ext cx="10515600" cy="1280160"/>
        </p:xfrm>
        <a:graphic>
          <a:graphicData uri="http://schemas.openxmlformats.org/drawingml/2006/table">
            <a:tbl>
              <a:tblPr/>
              <a:tblGrid>
                <a:gridCol w="3505200">
                  <a:extLst>
                    <a:ext uri="{9D8B030D-6E8A-4147-A177-3AD203B41FA5}">
                      <a16:colId xmlns:a16="http://schemas.microsoft.com/office/drawing/2014/main" val="4093036858"/>
                    </a:ext>
                  </a:extLst>
                </a:gridCol>
                <a:gridCol w="3505200">
                  <a:extLst>
                    <a:ext uri="{9D8B030D-6E8A-4147-A177-3AD203B41FA5}">
                      <a16:colId xmlns:a16="http://schemas.microsoft.com/office/drawing/2014/main" val="4176719618"/>
                    </a:ext>
                  </a:extLst>
                </a:gridCol>
                <a:gridCol w="3505200">
                  <a:extLst>
                    <a:ext uri="{9D8B030D-6E8A-4147-A177-3AD203B41FA5}">
                      <a16:colId xmlns:a16="http://schemas.microsoft.com/office/drawing/2014/main" val="1221222042"/>
                    </a:ext>
                  </a:extLst>
                </a:gridCol>
              </a:tblGrid>
              <a:tr h="0">
                <a:tc>
                  <a:txBody>
                    <a:bodyPr/>
                    <a:lstStyle/>
                    <a:p>
                      <a:pPr>
                        <a:buNone/>
                      </a:pPr>
                      <a:r>
                        <a:rPr lang="en-IN" b="1">
                          <a:effectLst/>
                          <a:latin typeface="Google Sans Text"/>
                        </a:rPr>
                        <a:t>Raw City Feature</a:t>
                      </a:r>
                      <a:endParaRPr lang="en-IN">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b="1" dirty="0">
                          <a:effectLst/>
                          <a:latin typeface="Google Sans Text"/>
                        </a:rPr>
                        <a:t>Target Encoded Feature</a:t>
                      </a:r>
                      <a:endParaRPr lang="en-IN" dirty="0">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b="1">
                          <a:effectLst/>
                          <a:latin typeface="Google Sans Text"/>
                        </a:rPr>
                        <a:t>Past Target History (Hidden Context)</a:t>
                      </a:r>
                      <a:endParaRPr lang="en-IN">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132750819"/>
                  </a:ext>
                </a:extLst>
              </a:tr>
              <a:tr h="0">
                <a:tc>
                  <a:txBody>
                    <a:bodyPr/>
                    <a:lstStyle/>
                    <a:p>
                      <a:pPr>
                        <a:buNone/>
                      </a:pPr>
                      <a:r>
                        <a:rPr lang="en-IN">
                          <a:effectLst/>
                          <a:latin typeface="Google Sans Text"/>
                        </a:rPr>
                        <a:t>Bengaluru</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b="1">
                          <a:effectLst/>
                          <a:latin typeface="Google Sans Text"/>
                        </a:rPr>
                        <a:t>0.80</a:t>
                      </a:r>
                      <a:endParaRPr lang="en-IN">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i="1">
                          <a:effectLst/>
                          <a:latin typeface="Google Sans Text"/>
                        </a:rPr>
                        <a:t>8 out of 10 people clicked</a:t>
                      </a:r>
                      <a:endParaRPr lang="en-IN">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439652687"/>
                  </a:ext>
                </a:extLst>
              </a:tr>
              <a:tr h="0">
                <a:tc>
                  <a:txBody>
                    <a:bodyPr/>
                    <a:lstStyle/>
                    <a:p>
                      <a:pPr>
                        <a:buNone/>
                      </a:pPr>
                      <a:r>
                        <a:rPr lang="en-IN">
                          <a:effectLst/>
                          <a:latin typeface="Google Sans Text"/>
                        </a:rPr>
                        <a:t>Mumbai</a:t>
                      </a: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b="1">
                          <a:effectLst/>
                          <a:latin typeface="Google Sans Text"/>
                        </a:rPr>
                        <a:t>0.20</a:t>
                      </a:r>
                      <a:endParaRPr lang="en-IN">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tc>
                  <a:txBody>
                    <a:bodyPr/>
                    <a:lstStyle/>
                    <a:p>
                      <a:pPr>
                        <a:buNone/>
                      </a:pPr>
                      <a:r>
                        <a:rPr lang="en-IN" i="1" dirty="0">
                          <a:effectLst/>
                          <a:latin typeface="Google Sans Text"/>
                        </a:rPr>
                        <a:t>2 out of 10 people clicked</a:t>
                      </a:r>
                      <a:endParaRPr lang="en-IN" dirty="0">
                        <a:effectLst/>
                        <a:latin typeface="Google Sans Text"/>
                      </a:endParaRPr>
                    </a:p>
                  </a:txBody>
                  <a:tcPr marL="45720" marR="45720" marT="30480" marB="30480" anchor="ctr">
                    <a:lnL w="3810" cap="flat" cmpd="sng" algn="ctr">
                      <a:solidFill>
                        <a:srgbClr val="C4C7C5"/>
                      </a:solidFill>
                      <a:prstDash val="solid"/>
                      <a:round/>
                      <a:headEnd type="none" w="med" len="med"/>
                      <a:tailEnd type="none" w="med" len="med"/>
                    </a:lnL>
                    <a:lnR w="3810" cap="flat" cmpd="sng" algn="ctr">
                      <a:solidFill>
                        <a:srgbClr val="C4C7C5"/>
                      </a:solidFill>
                      <a:prstDash val="solid"/>
                      <a:round/>
                      <a:headEnd type="none" w="med" len="med"/>
                      <a:tailEnd type="none" w="med" len="med"/>
                    </a:lnR>
                    <a:lnT w="3810" cap="flat" cmpd="sng" algn="ctr">
                      <a:solidFill>
                        <a:srgbClr val="C4C7C5"/>
                      </a:solidFill>
                      <a:prstDash val="solid"/>
                      <a:round/>
                      <a:headEnd type="none" w="med" len="med"/>
                      <a:tailEnd type="none" w="med" len="med"/>
                    </a:lnT>
                    <a:lnB w="381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252986401"/>
                  </a:ext>
                </a:extLst>
              </a:tr>
            </a:tbl>
          </a:graphicData>
        </a:graphic>
      </p:graphicFrame>
      <p:sp>
        <p:nvSpPr>
          <p:cNvPr id="4" name="TextBox 3">
            <a:extLst>
              <a:ext uri="{FF2B5EF4-FFF2-40B4-BE49-F238E27FC236}">
                <a16:creationId xmlns:a16="http://schemas.microsoft.com/office/drawing/2014/main" id="{04529956-331F-993E-8264-B750EEB0A18C}"/>
              </a:ext>
            </a:extLst>
          </p:cNvPr>
          <p:cNvSpPr txBox="1"/>
          <p:nvPr/>
        </p:nvSpPr>
        <p:spPr>
          <a:xfrm>
            <a:off x="80962" y="50871"/>
            <a:ext cx="12011026" cy="2215991"/>
          </a:xfrm>
          <a:prstGeom prst="rect">
            <a:avLst/>
          </a:prstGeom>
          <a:noFill/>
        </p:spPr>
        <p:txBody>
          <a:bodyPr wrap="square">
            <a:spAutoFit/>
          </a:bodyPr>
          <a:lstStyle/>
          <a:p>
            <a:pPr>
              <a:buNone/>
            </a:pPr>
            <a:r>
              <a:rPr lang="en-IN" b="1" dirty="0">
                <a:effectLst/>
                <a:latin typeface="Google Sans"/>
              </a:rPr>
              <a:t>Target Encoding (The Advanced "Cheat Code")</a:t>
            </a:r>
          </a:p>
          <a:p>
            <a:pPr marL="285750" indent="-285750">
              <a:spcBef>
                <a:spcPts val="1200"/>
              </a:spcBef>
              <a:buFont typeface="Wingdings" panose="05000000000000000000" pitchFamily="2" charset="2"/>
              <a:buChar char="ü"/>
            </a:pPr>
            <a:r>
              <a:rPr lang="en-IN" dirty="0">
                <a:effectLst/>
                <a:latin typeface="Google Sans Text"/>
              </a:rPr>
              <a:t>Target Encoding replaces each text category with the </a:t>
            </a:r>
            <a:r>
              <a:rPr lang="en-IN" b="1" dirty="0">
                <a:effectLst/>
                <a:latin typeface="Google Sans Text"/>
              </a:rPr>
              <a:t>average value of the target output</a:t>
            </a:r>
            <a:r>
              <a:rPr lang="en-IN" dirty="0">
                <a:effectLst/>
                <a:latin typeface="Google Sans Text"/>
              </a:rPr>
              <a:t> for that specific group.</a:t>
            </a:r>
          </a:p>
          <a:p>
            <a:pPr marL="285750" indent="-285750">
              <a:spcBef>
                <a:spcPts val="1200"/>
              </a:spcBef>
              <a:buFont typeface="Wingdings" panose="05000000000000000000" pitchFamily="2" charset="2"/>
              <a:buChar char="ü"/>
            </a:pPr>
            <a:r>
              <a:rPr lang="en-IN" b="1" dirty="0">
                <a:effectLst/>
                <a:latin typeface="Google Sans Text"/>
              </a:rPr>
              <a:t>When to use it:</a:t>
            </a:r>
            <a:r>
              <a:rPr lang="en-IN" dirty="0">
                <a:effectLst/>
                <a:latin typeface="Google Sans Text"/>
              </a:rPr>
              <a:t> When a categorical column has </a:t>
            </a:r>
            <a:r>
              <a:rPr lang="en-IN" i="1" dirty="0">
                <a:effectLst/>
                <a:latin typeface="Google Sans Text"/>
              </a:rPr>
              <a:t>hundreds</a:t>
            </a:r>
            <a:r>
              <a:rPr lang="en-IN" dirty="0">
                <a:effectLst/>
                <a:latin typeface="Google Sans Text"/>
              </a:rPr>
              <a:t> or </a:t>
            </a:r>
            <a:r>
              <a:rPr lang="en-IN" i="1" dirty="0">
                <a:effectLst/>
                <a:latin typeface="Google Sans Text"/>
              </a:rPr>
              <a:t>thousands</a:t>
            </a:r>
            <a:r>
              <a:rPr lang="en-IN" dirty="0">
                <a:effectLst/>
                <a:latin typeface="Google Sans Text"/>
              </a:rPr>
              <a:t> of unique values (like Zip Codes or Car Models). Using One-Hot Encoding here would create thousands of messy columns. Target Encoding keeps it as just </a:t>
            </a:r>
            <a:r>
              <a:rPr lang="en-IN" b="1" dirty="0">
                <a:effectLst/>
                <a:latin typeface="Google Sans Text"/>
              </a:rPr>
              <a:t>one single column</a:t>
            </a:r>
            <a:r>
              <a:rPr lang="en-IN" dirty="0">
                <a:effectLst/>
                <a:latin typeface="Google Sans Text"/>
              </a:rPr>
              <a:t>.</a:t>
            </a:r>
          </a:p>
          <a:p>
            <a:pPr marL="285750" indent="-285750">
              <a:spcBef>
                <a:spcPts val="1200"/>
              </a:spcBef>
              <a:buFont typeface="Wingdings" panose="05000000000000000000" pitchFamily="2" charset="2"/>
              <a:buChar char="ü"/>
            </a:pPr>
            <a:r>
              <a:rPr lang="en-IN" b="1" dirty="0">
                <a:effectLst/>
                <a:latin typeface="Google Sans Text"/>
              </a:rPr>
              <a:t>The Catch:</a:t>
            </a:r>
            <a:r>
              <a:rPr lang="en-IN" dirty="0">
                <a:effectLst/>
                <a:latin typeface="Google Sans Text"/>
              </a:rPr>
              <a:t> It carries a high risk of </a:t>
            </a:r>
            <a:r>
              <a:rPr lang="en-IN" b="1" dirty="0">
                <a:effectLst/>
                <a:latin typeface="Google Sans Text"/>
              </a:rPr>
              <a:t>Data Leakage</a:t>
            </a:r>
            <a:r>
              <a:rPr lang="en-IN" dirty="0">
                <a:effectLst/>
                <a:latin typeface="Google Sans Text"/>
              </a:rPr>
              <a:t> (overfitting), because it lets information from the target answer key leak into your input training data before training even begins.</a:t>
            </a:r>
          </a:p>
        </p:txBody>
      </p:sp>
      <p:sp>
        <p:nvSpPr>
          <p:cNvPr id="6" name="TextBox 5">
            <a:extLst>
              <a:ext uri="{FF2B5EF4-FFF2-40B4-BE49-F238E27FC236}">
                <a16:creationId xmlns:a16="http://schemas.microsoft.com/office/drawing/2014/main" id="{649B4986-A0C2-4A86-9E4F-C2B103CB64FD}"/>
              </a:ext>
            </a:extLst>
          </p:cNvPr>
          <p:cNvSpPr txBox="1"/>
          <p:nvPr/>
        </p:nvSpPr>
        <p:spPr>
          <a:xfrm>
            <a:off x="47624" y="2764602"/>
            <a:ext cx="11744326" cy="2369880"/>
          </a:xfrm>
          <a:prstGeom prst="rect">
            <a:avLst/>
          </a:prstGeom>
          <a:noFill/>
        </p:spPr>
        <p:txBody>
          <a:bodyPr wrap="square">
            <a:spAutoFit/>
          </a:bodyPr>
          <a:lstStyle/>
          <a:p>
            <a:pPr>
              <a:buNone/>
            </a:pPr>
            <a:r>
              <a:rPr lang="en-IN" b="1" dirty="0">
                <a:effectLst/>
                <a:latin typeface="Google Sans"/>
              </a:rPr>
              <a:t>Concrete Example:</a:t>
            </a:r>
          </a:p>
          <a:p>
            <a:pPr marL="285750" indent="-285750">
              <a:spcBef>
                <a:spcPts val="1200"/>
              </a:spcBef>
              <a:buFont typeface="Wingdings" panose="05000000000000000000" pitchFamily="2" charset="2"/>
              <a:buChar char="ü"/>
            </a:pPr>
            <a:r>
              <a:rPr lang="en-IN" dirty="0">
                <a:effectLst/>
                <a:latin typeface="Google Sans Text"/>
              </a:rPr>
              <a:t>Imagine you want to predict if a user will click an online ad (Target: </a:t>
            </a:r>
            <a:r>
              <a:rPr lang="en-IN" b="1" dirty="0">
                <a:effectLst/>
                <a:latin typeface="Google Sans Text"/>
              </a:rPr>
              <a:t>0 = No Click, 1 = Click</a:t>
            </a:r>
            <a:r>
              <a:rPr lang="en-IN" dirty="0">
                <a:effectLst/>
                <a:latin typeface="Google Sans Text"/>
              </a:rPr>
              <a:t>), based on the </a:t>
            </a:r>
            <a:r>
              <a:rPr lang="en-IN" b="1" dirty="0">
                <a:effectLst/>
                <a:latin typeface="Google Sans Text"/>
              </a:rPr>
              <a:t>City</a:t>
            </a:r>
            <a:r>
              <a:rPr lang="en-IN" dirty="0">
                <a:effectLst/>
                <a:latin typeface="Google Sans Text"/>
              </a:rPr>
              <a:t> they live in.</a:t>
            </a:r>
          </a:p>
          <a:p>
            <a:pPr marL="285750" indent="-285750">
              <a:spcBef>
                <a:spcPts val="1200"/>
              </a:spcBef>
              <a:buFont typeface="Wingdings" panose="05000000000000000000" pitchFamily="2" charset="2"/>
              <a:buChar char="ü"/>
            </a:pPr>
            <a:r>
              <a:rPr lang="en-IN" dirty="0">
                <a:effectLst/>
                <a:latin typeface="Google Sans Text"/>
              </a:rPr>
              <a:t>Instead of generating new columns, the algorithm looks at past data, calculates the average success rate for each city, and swaps the text for that percentage:</a:t>
            </a:r>
          </a:p>
          <a:p>
            <a:pPr marL="285750" indent="-285750">
              <a:spcBef>
                <a:spcPts val="1200"/>
              </a:spcBef>
              <a:buFont typeface="Wingdings" panose="05000000000000000000" pitchFamily="2" charset="2"/>
              <a:buChar char="ü"/>
            </a:pPr>
            <a:r>
              <a:rPr lang="en-IN" dirty="0">
                <a:effectLst/>
                <a:latin typeface="Google Sans Text"/>
              </a:rPr>
              <a:t>10 people from Bengaluru looked at the ad → 8 clicked it. (Average = </a:t>
            </a:r>
            <a:r>
              <a:rPr lang="en-IN" b="1" dirty="0">
                <a:effectLst/>
                <a:latin typeface="Google Sans Text"/>
              </a:rPr>
              <a:t>0.80</a:t>
            </a:r>
            <a:r>
              <a:rPr lang="en-IN" dirty="0">
                <a:effectLst/>
                <a:latin typeface="Google Sans Text"/>
              </a:rPr>
              <a:t>)</a:t>
            </a:r>
          </a:p>
          <a:p>
            <a:pPr marL="285750" indent="-285750">
              <a:spcBef>
                <a:spcPts val="1200"/>
              </a:spcBef>
              <a:buFont typeface="Wingdings" panose="05000000000000000000" pitchFamily="2" charset="2"/>
              <a:buChar char="ü"/>
            </a:pPr>
            <a:r>
              <a:rPr lang="en-IN" dirty="0">
                <a:effectLst/>
                <a:latin typeface="Google Sans Text"/>
              </a:rPr>
              <a:t>10 people from Mumbai looked at the ad  </a:t>
            </a:r>
            <a:r>
              <a:rPr lang="en-IN" dirty="0">
                <a:effectLst/>
                <a:latin typeface="Google Sans Text"/>
                <a:sym typeface="Wingdings" panose="05000000000000000000" pitchFamily="2" charset="2"/>
              </a:rPr>
              <a:t> </a:t>
            </a:r>
            <a:r>
              <a:rPr lang="en-IN" dirty="0">
                <a:effectLst/>
                <a:latin typeface="Google Sans Text"/>
              </a:rPr>
              <a:t>2 clicked it. (Average = </a:t>
            </a:r>
            <a:r>
              <a:rPr lang="en-IN" b="1" dirty="0">
                <a:effectLst/>
                <a:latin typeface="Google Sans Text"/>
              </a:rPr>
              <a:t>0.20</a:t>
            </a:r>
            <a:r>
              <a:rPr lang="en-IN" dirty="0">
                <a:effectLst/>
                <a:latin typeface="Google Sans Text"/>
              </a:rPr>
              <a:t>)</a:t>
            </a:r>
          </a:p>
        </p:txBody>
      </p:sp>
    </p:spTree>
    <p:extLst>
      <p:ext uri="{BB962C8B-B14F-4D97-AF65-F5344CB8AC3E}">
        <p14:creationId xmlns:p14="http://schemas.microsoft.com/office/powerpoint/2010/main" val="1017508061"/>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197894" y="1393446"/>
            <a:ext cx="11613106"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Linear regression is a foundational statistical technique for modeling relationships between variables.</a:t>
            </a:r>
          </a:p>
          <a:p>
            <a:endParaRPr lang="en-US" sz="2000" dirty="0"/>
          </a:p>
          <a:p>
            <a:r>
              <a:rPr lang="en-US" sz="2000" dirty="0"/>
              <a:t>•   It quantifies the linear relationship between independent variables (predictors) and a dependent</a:t>
            </a:r>
            <a:br>
              <a:rPr lang="en-US" sz="2000" dirty="0"/>
            </a:br>
            <a:r>
              <a:rPr lang="en-US" sz="2000" dirty="0"/>
              <a:t>     variable (target).</a:t>
            </a:r>
          </a:p>
          <a:p>
            <a:endParaRPr lang="en-US" sz="2000" dirty="0"/>
          </a:p>
          <a:p>
            <a:r>
              <a:rPr lang="en-US" sz="2000" dirty="0"/>
              <a:t>•   Known for its simplicity and interpretability, it's essential for understanding data patterns and making</a:t>
            </a:r>
            <a:br>
              <a:rPr lang="en-US" sz="2000" dirty="0"/>
            </a:br>
            <a:r>
              <a:rPr lang="en-US" sz="2000" dirty="0"/>
              <a:t>     predictions.</a:t>
            </a:r>
          </a:p>
          <a:p>
            <a:endParaRPr lang="en-US" sz="2000" dirty="0"/>
          </a:p>
          <a:p>
            <a:r>
              <a:rPr lang="en-US" sz="2000" dirty="0"/>
              <a:t>•   It's a supervised learning algorithm used for predicting continuous numerical values.</a:t>
            </a:r>
          </a:p>
          <a:p>
            <a:endParaRPr lang="en-US" sz="2000" dirty="0"/>
          </a:p>
          <a:p>
            <a:r>
              <a:rPr lang="en-US" sz="2000" dirty="0"/>
              <a:t>•   This technique is widely applied across various fields to gain insights and forecast outcomes.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Introduction to Linear Regression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93640720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1103519"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The fundamental equation for simple linear regression is: Y = β₀ + β₁X + ε.</a:t>
            </a:r>
          </a:p>
          <a:p>
            <a:endParaRPr lang="en-US" sz="2000" dirty="0"/>
          </a:p>
          <a:p>
            <a:r>
              <a:rPr lang="en-US" sz="2000" dirty="0"/>
              <a:t>• Y: Represents the dependent variable (the outcome we want to predict).</a:t>
            </a:r>
          </a:p>
          <a:p>
            <a:endParaRPr lang="en-US" sz="2000" dirty="0"/>
          </a:p>
          <a:p>
            <a:r>
              <a:rPr lang="en-US" sz="2000" dirty="0"/>
              <a:t>• X: Denotes the independent variable (the predictor or feature).</a:t>
            </a:r>
          </a:p>
          <a:p>
            <a:endParaRPr lang="en-US" sz="2000" dirty="0"/>
          </a:p>
          <a:p>
            <a:r>
              <a:rPr lang="en-US" sz="2000" dirty="0"/>
              <a:t>• β₀ (Intercept): The value of Y when X is zero, representing the starting point of the regression line.</a:t>
            </a:r>
          </a:p>
          <a:p>
            <a:endParaRPr lang="en-US" sz="2000" dirty="0"/>
          </a:p>
          <a:p>
            <a:r>
              <a:rPr lang="en-US" sz="2000" dirty="0"/>
              <a:t>• β₁ (Slope Coefficient): Indicates the change in Y for a one-unit change in X, showing the strength and direction of the relationship.</a:t>
            </a:r>
          </a:p>
          <a:p>
            <a:endParaRPr lang="en-US" sz="2000" dirty="0"/>
          </a:p>
          <a:p>
            <a:r>
              <a:rPr lang="en-US" sz="2000" dirty="0"/>
              <a:t>• ε (Error Term): Captures the unexplained variability in Y not accounted for by the linear relationship with X.</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Basics of Linear Regression Equation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720110024"/>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B167FC-0C19-F1B4-26B3-C9BB037934CC}"/>
              </a:ext>
            </a:extLst>
          </p:cNvPr>
          <p:cNvPicPr>
            <a:picLocks noChangeAspect="1"/>
          </p:cNvPicPr>
          <p:nvPr/>
        </p:nvPicPr>
        <p:blipFill>
          <a:blip r:embed="rId2"/>
          <a:stretch>
            <a:fillRect/>
          </a:stretch>
        </p:blipFill>
        <p:spPr>
          <a:xfrm>
            <a:off x="461621" y="276061"/>
            <a:ext cx="7868332" cy="3753175"/>
          </a:xfrm>
          <a:prstGeom prst="rect">
            <a:avLst/>
          </a:prstGeom>
        </p:spPr>
      </p:pic>
    </p:spTree>
    <p:extLst>
      <p:ext uri="{BB962C8B-B14F-4D97-AF65-F5344CB8AC3E}">
        <p14:creationId xmlns:p14="http://schemas.microsoft.com/office/powerpoint/2010/main" val="3312445690"/>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077DDA-41C6-B7F1-BEF7-A41EE50302EF}"/>
              </a:ext>
            </a:extLst>
          </p:cNvPr>
          <p:cNvPicPr>
            <a:picLocks noChangeAspect="1"/>
          </p:cNvPicPr>
          <p:nvPr/>
        </p:nvPicPr>
        <p:blipFill>
          <a:blip r:embed="rId2"/>
          <a:stretch>
            <a:fillRect/>
          </a:stretch>
        </p:blipFill>
        <p:spPr>
          <a:xfrm>
            <a:off x="1300763" y="1395260"/>
            <a:ext cx="8123624" cy="3524555"/>
          </a:xfrm>
          <a:prstGeom prst="rect">
            <a:avLst/>
          </a:prstGeom>
        </p:spPr>
      </p:pic>
    </p:spTree>
    <p:extLst>
      <p:ext uri="{BB962C8B-B14F-4D97-AF65-F5344CB8AC3E}">
        <p14:creationId xmlns:p14="http://schemas.microsoft.com/office/powerpoint/2010/main" val="3624634608"/>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A120F0-F098-327D-7931-6A75ACCA6326}"/>
              </a:ext>
            </a:extLst>
          </p:cNvPr>
          <p:cNvPicPr>
            <a:picLocks noChangeAspect="1"/>
          </p:cNvPicPr>
          <p:nvPr/>
        </p:nvPicPr>
        <p:blipFill>
          <a:blip r:embed="rId2"/>
          <a:stretch>
            <a:fillRect/>
          </a:stretch>
        </p:blipFill>
        <p:spPr>
          <a:xfrm>
            <a:off x="1815135" y="871311"/>
            <a:ext cx="7609229" cy="5220152"/>
          </a:xfrm>
          <a:prstGeom prst="rect">
            <a:avLst/>
          </a:prstGeom>
        </p:spPr>
      </p:pic>
    </p:spTree>
    <p:extLst>
      <p:ext uri="{BB962C8B-B14F-4D97-AF65-F5344CB8AC3E}">
        <p14:creationId xmlns:p14="http://schemas.microsoft.com/office/powerpoint/2010/main" val="2651630534"/>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0" y="1350583"/>
            <a:ext cx="11965531"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  Violating linear regression assumptions can lead to unreliable results.</a:t>
            </a:r>
          </a:p>
          <a:p>
            <a:endParaRPr lang="en-US" sz="2000" dirty="0"/>
          </a:p>
          <a:p>
            <a:r>
              <a:rPr lang="en-US" sz="2000" dirty="0"/>
              <a:t>• Linearity: The relationship between independent and dependent variables should be approximately linear.</a:t>
            </a:r>
          </a:p>
          <a:p>
            <a:endParaRPr lang="en-US" sz="2000" dirty="0"/>
          </a:p>
          <a:p>
            <a:r>
              <a:rPr lang="en-US" sz="2000" dirty="0"/>
              <a:t>• </a:t>
            </a:r>
            <a:r>
              <a:rPr lang="en-US" dirty="0"/>
              <a:t>Independence of Residuals: Errors should be independent of each other, meaning no patterns in the residuals.</a:t>
            </a:r>
          </a:p>
          <a:p>
            <a:endParaRPr lang="en-US" sz="2000" dirty="0"/>
          </a:p>
          <a:p>
            <a:r>
              <a:rPr lang="en-US" sz="2000" dirty="0"/>
              <a:t>• </a:t>
            </a:r>
            <a:r>
              <a:rPr lang="en-US" dirty="0"/>
              <a:t>Homoscedasticity: The variance of residuals should remain constant across all levels of the independent variable.</a:t>
            </a:r>
          </a:p>
          <a:p>
            <a:endParaRPr lang="en-US" sz="2000" dirty="0"/>
          </a:p>
          <a:p>
            <a:r>
              <a:rPr lang="en-US" sz="2000" dirty="0"/>
              <a:t>• Normality of Residuals: Residuals should follow a normal distribution, crucial for statistical inferences.</a:t>
            </a:r>
          </a:p>
          <a:p>
            <a:endParaRPr lang="en-US" sz="2000" dirty="0"/>
          </a:p>
          <a:p>
            <a:r>
              <a:rPr lang="en-US" sz="2000" dirty="0"/>
              <a:t>• No Multicollinearity: Independent variables should not be highly correlated with each other to clearly</a:t>
            </a:r>
            <a:br>
              <a:rPr lang="en-US" sz="2000" dirty="0"/>
            </a:br>
            <a:r>
              <a:rPr lang="en-US" sz="2000" dirty="0"/>
              <a:t>   disentangle individual effects.</a:t>
            </a:r>
          </a:p>
        </p:txBody>
      </p:sp>
      <p:sp>
        <p:nvSpPr>
          <p:cNvPr id="5" name="Google Shape;110;p5"/>
          <p:cNvSpPr txBox="1">
            <a:spLocks/>
          </p:cNvSpPr>
          <p:nvPr/>
        </p:nvSpPr>
        <p:spPr>
          <a:xfrm>
            <a:off x="172005" y="528638"/>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sym typeface="Avenir"/>
              </a:rPr>
              <a:t>Assumptions of Linear Regression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00953966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Step 1: Data Collection: Gather relevant data for the dependent (Y) and independent (X) variables.</a:t>
            </a:r>
          </a:p>
          <a:p>
            <a:endParaRPr lang="en-US" sz="2000"/>
          </a:p>
          <a:p>
            <a:r>
              <a:rPr lang="en-US" sz="2000"/>
              <a:t>• Step 1: Data Preprocessing: Handle missing data, outliers, and convert categorical variables.</a:t>
            </a:r>
          </a:p>
          <a:p>
            <a:endParaRPr lang="en-US" sz="2000"/>
          </a:p>
          <a:p>
            <a:r>
              <a:rPr lang="en-US" sz="2000"/>
              <a:t>• Step 1: Exploratory Data Analysis (EDA): Gain insights into data distribution and identify potential issues.</a:t>
            </a:r>
          </a:p>
          <a:p>
            <a:endParaRPr lang="en-US" sz="2000"/>
          </a:p>
          <a:p>
            <a:r>
              <a:rPr lang="en-US" sz="2000"/>
              <a:t>• Step 2: Model Specification: Choose between simple or multiple linear regression based on the problem.</a:t>
            </a:r>
          </a:p>
          <a:p>
            <a:endParaRPr lang="en-US" sz="2000"/>
          </a:p>
          <a:p>
            <a:r>
              <a:rPr lang="en-US" sz="2000"/>
              <a:t>• Step 2: Variable Selection: Select relevant independent variables guided by theory and plausible causal relationships.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Building a Linear Regression Model: Data &amp; Specification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795058866"/>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Step 3: Model Estimation: Estimate parameters (β₀, β₁) using the Ordinary Least Squares (OLS) method.</a:t>
            </a:r>
          </a:p>
          <a:p>
            <a:endParaRPr lang="en-US" sz="2000"/>
          </a:p>
          <a:p>
            <a:r>
              <a:rPr lang="en-US" sz="2000"/>
              <a:t>•   OLS minimizes the sum of squared residuals to find the best-fitting line.</a:t>
            </a:r>
          </a:p>
          <a:p>
            <a:endParaRPr lang="en-US" sz="2000"/>
          </a:p>
          <a:p>
            <a:r>
              <a:rPr lang="en-US" sz="2000"/>
              <a:t>• Step 3: Model Fit Evaluation: Assess how well the model fits using the R-squared (R²) metric.</a:t>
            </a:r>
          </a:p>
          <a:p>
            <a:endParaRPr lang="en-US" sz="2000"/>
          </a:p>
          <a:p>
            <a:r>
              <a:rPr lang="en-US" sz="2000"/>
              <a:t>• Step 4: Interpreting Coefficients: β₀ is the expected Y when X is zero; β₁ shows Y's change per unit X.</a:t>
            </a:r>
          </a:p>
          <a:p>
            <a:endParaRPr lang="en-US" sz="2000"/>
          </a:p>
          <a:p>
            <a:r>
              <a:rPr lang="en-US" sz="2000"/>
              <a:t>• Step 4: Significance &amp; Implications: Use statistical tests (t-tests, F-tests) to determine variable significance and interpret results in context.</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Building a Linear Regression Model: Estimation &amp; Interpretation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100529172"/>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Step 5: Model Validation: Ensure the model generalizes well to unseen data.</a:t>
            </a:r>
          </a:p>
          <a:p>
            <a:endParaRPr lang="en-US" sz="2000"/>
          </a:p>
          <a:p>
            <a:r>
              <a:rPr lang="en-US" sz="2000"/>
              <a:t>• Cross-Validation: Employ techniques like k-fold cross-validation to assess performance on different data subsets.</a:t>
            </a:r>
          </a:p>
          <a:p>
            <a:endParaRPr lang="en-US" sz="2000"/>
          </a:p>
          <a:p>
            <a:r>
              <a:rPr lang="en-US" sz="2000"/>
              <a:t>• Assumption Checks: Continuously verify linear regression assumptions throughout the modeling process.</a:t>
            </a:r>
          </a:p>
          <a:p>
            <a:endParaRPr lang="en-US" sz="2000"/>
          </a:p>
          <a:p>
            <a:r>
              <a:rPr lang="en-US" sz="2000"/>
              <a:t>•   Practical applications include predicting house prices based on features like square footage and location.</a:t>
            </a:r>
          </a:p>
          <a:p>
            <a:endParaRPr lang="en-US" sz="2000"/>
          </a:p>
          <a:p>
            <a:r>
              <a:rPr lang="en-US" sz="2000"/>
              <a:t>•   Other uses involve sales forecasting based on advertising or seasonality, and examining educational outcomes.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Building a Linear Regression Model: Validation &amp; Practical Use</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468179715"/>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 Which of the following feature engineering techniques is best suited for reducing dimensionality by transforming original features into linearly uncorrelated variables that retain most of the data's variance?</a:t>
            </a:r>
          </a:p>
          <a:p>
            <a:r>
              <a:rPr lang="en-US" sz="2000"/>
              <a:t>A) One-Hot Encoding</a:t>
            </a:r>
          </a:p>
          <a:p>
            <a:r>
              <a:rPr lang="en-US" sz="2000"/>
              <a:t>B) Principal Component Analysis (PCA)</a:t>
            </a:r>
          </a:p>
          <a:p>
            <a:r>
              <a:rPr lang="en-US" sz="2000"/>
              <a:t>C) Mean Imputation</a:t>
            </a:r>
          </a:p>
          <a:p>
            <a:r>
              <a:rPr lang="en-US" sz="2000"/>
              <a:t>D) Target Encoding</a:t>
            </a:r>
          </a:p>
          <a:p>
            <a:endParaRPr lang="en-US" sz="2000"/>
          </a:p>
          <a:p>
            <a:endParaRPr lang="en-US" sz="2000" dirty="0"/>
          </a:p>
        </p:txBody>
      </p:sp>
    </p:spTree>
    <p:extLst>
      <p:ext uri="{BB962C8B-B14F-4D97-AF65-F5344CB8AC3E}">
        <p14:creationId xmlns:p14="http://schemas.microsoft.com/office/powerpoint/2010/main" val="841011099"/>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lnSpcReduction="10000"/>
          </a:bodyPr>
          <a:lstStyle/>
          <a:p>
            <a:r>
              <a:rPr lang="en-US" sz="2000"/>
              <a:t>Question 1: Which of the following feature engineering techniques is best suited for reducing dimensionality by transforming original features into linearly uncorrelated variables that retain most of the data's variance?</a:t>
            </a:r>
          </a:p>
          <a:p>
            <a:r>
              <a:rPr lang="en-US" sz="2000"/>
              <a:t>A) One-Hot Encoding</a:t>
            </a:r>
          </a:p>
          <a:p>
            <a:r>
              <a:rPr lang="en-US" sz="2000"/>
              <a:t>B) Principal Component Analysis (PCA)</a:t>
            </a:r>
          </a:p>
          <a:p>
            <a:r>
              <a:rPr lang="en-US" sz="2000"/>
              <a:t>C) Mean Imputation</a:t>
            </a:r>
          </a:p>
          <a:p>
            <a:r>
              <a:rPr lang="en-US" sz="2000"/>
              <a:t>D) Target Encoding</a:t>
            </a:r>
          </a:p>
          <a:p>
            <a:endParaRPr lang="en-US" sz="2000"/>
          </a:p>
          <a:p>
            <a:endParaRPr lang="en-US" sz="2000"/>
          </a:p>
          <a:p>
            <a:endParaRPr lang="en-US" sz="2000"/>
          </a:p>
          <a:p>
            <a:r>
              <a:rPr lang="en-US" sz="2000" b="1"/>
              <a:t>Correct Answer: B) Principal Component Analysis (PCA)</a:t>
            </a:r>
          </a:p>
          <a:p>
            <a:r>
              <a:rPr lang="en-US" sz="2000" b="1"/>
              <a:t>Explanation: PCA is a dimensionality reduction technique that creates new, uncorrelated variables (principal components) that capture the most variance from the original features, making it ideal for the described scenario. One-Hot Encoding handles categorical data, Mean Imputation deals with missing data, and Target Encoding is for encoding categorical variables based on the target mean.</a:t>
            </a:r>
          </a:p>
          <a:p>
            <a:endParaRPr lang="en-US" sz="2000" b="1"/>
          </a:p>
          <a:p>
            <a:endParaRPr lang="en-US" sz="2000" dirty="0"/>
          </a:p>
        </p:txBody>
      </p:sp>
    </p:spTree>
    <p:extLst>
      <p:ext uri="{BB962C8B-B14F-4D97-AF65-F5344CB8AC3E}">
        <p14:creationId xmlns:p14="http://schemas.microsoft.com/office/powerpoint/2010/main" val="3774024352"/>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 In linear regression, if a model's residuals exhibit a clear pattern (e.g., increasing spread as the predicted value increases), which assumption is most likely being violated?</a:t>
            </a:r>
          </a:p>
          <a:p>
            <a:r>
              <a:rPr lang="en-US" sz="2000"/>
              <a:t>A) Linearity</a:t>
            </a:r>
          </a:p>
          <a:p>
            <a:r>
              <a:rPr lang="en-US" sz="2000"/>
              <a:t>B) Independence of Residuals</a:t>
            </a:r>
          </a:p>
          <a:p>
            <a:r>
              <a:rPr lang="en-US" sz="2000"/>
              <a:t>C) Homoscedasticity</a:t>
            </a:r>
          </a:p>
          <a:p>
            <a:r>
              <a:rPr lang="en-US" sz="2000"/>
              <a:t>D) Normality of Residuals</a:t>
            </a:r>
          </a:p>
          <a:p>
            <a:endParaRPr lang="en-US" sz="2000"/>
          </a:p>
          <a:p>
            <a:endParaRPr lang="en-US" sz="2000" dirty="0"/>
          </a:p>
        </p:txBody>
      </p:sp>
    </p:spTree>
    <p:extLst>
      <p:ext uri="{BB962C8B-B14F-4D97-AF65-F5344CB8AC3E}">
        <p14:creationId xmlns:p14="http://schemas.microsoft.com/office/powerpoint/2010/main" val="4134047073"/>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 In linear regression, if a model's residuals exhibit a clear pattern (e.g., increasing spread as the predicted value increases), which assumption is most likely being violated?</a:t>
            </a:r>
          </a:p>
          <a:p>
            <a:r>
              <a:rPr lang="en-US" sz="2000"/>
              <a:t>A) Linearity</a:t>
            </a:r>
          </a:p>
          <a:p>
            <a:r>
              <a:rPr lang="en-US" sz="2000"/>
              <a:t>B) Independence of Residuals</a:t>
            </a:r>
          </a:p>
          <a:p>
            <a:r>
              <a:rPr lang="en-US" sz="2000"/>
              <a:t>C) Homoscedasticity</a:t>
            </a:r>
          </a:p>
          <a:p>
            <a:r>
              <a:rPr lang="en-US" sz="2000"/>
              <a:t>D) Normality of Residuals</a:t>
            </a:r>
          </a:p>
          <a:p>
            <a:endParaRPr lang="en-US" sz="2000"/>
          </a:p>
          <a:p>
            <a:endParaRPr lang="en-US" sz="2000"/>
          </a:p>
          <a:p>
            <a:endParaRPr lang="en-US" sz="2000"/>
          </a:p>
          <a:p>
            <a:r>
              <a:rPr lang="en-US" sz="2000" b="1"/>
              <a:t>Correct Answer: C) Homoscedasticity</a:t>
            </a:r>
          </a:p>
          <a:p>
            <a:r>
              <a:rPr lang="en-US" sz="2000" b="1"/>
              <a:t>Explanation: Homoscedasticity assumes that the variance of the residuals (errors) is constant across all levels of the independent variable. A clear pattern of increasing or decreasing spread in residuals indicates heteroscedasticity, which is a violation of this assumption.</a:t>
            </a:r>
          </a:p>
          <a:p>
            <a:endParaRPr lang="en-US" sz="2000" b="1"/>
          </a:p>
          <a:p>
            <a:endParaRPr lang="en-US" sz="2000" dirty="0"/>
          </a:p>
        </p:txBody>
      </p:sp>
    </p:spTree>
    <p:extLst>
      <p:ext uri="{BB962C8B-B14F-4D97-AF65-F5344CB8AC3E}">
        <p14:creationId xmlns:p14="http://schemas.microsoft.com/office/powerpoint/2010/main" val="179086942"/>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3: A data scientist is working with a dataset where one categorical feature, "City," has over 100 unique values. Which encoding method is most efficient in terms of managing high dimensionality while still potentially capturing relationships, but might lead to overfitting if not handled carefully?</a:t>
            </a:r>
          </a:p>
          <a:p>
            <a:r>
              <a:rPr lang="en-US" sz="2000"/>
              <a:t>A) One-Hot Encoding</a:t>
            </a:r>
          </a:p>
          <a:p>
            <a:r>
              <a:rPr lang="en-US" sz="2000"/>
              <a:t>B) Label Encoding</a:t>
            </a:r>
          </a:p>
          <a:p>
            <a:r>
              <a:rPr lang="en-US" sz="2000"/>
              <a:t>C) Target Encoding</a:t>
            </a:r>
          </a:p>
          <a:p>
            <a:r>
              <a:rPr lang="en-US" sz="2000"/>
              <a:t>D) Binary Encoding</a:t>
            </a:r>
          </a:p>
          <a:p>
            <a:endParaRPr lang="en-US" sz="2000"/>
          </a:p>
          <a:p>
            <a:endParaRPr lang="en-US" sz="2000" dirty="0"/>
          </a:p>
        </p:txBody>
      </p:sp>
    </p:spTree>
    <p:extLst>
      <p:ext uri="{BB962C8B-B14F-4D97-AF65-F5344CB8AC3E}">
        <p14:creationId xmlns:p14="http://schemas.microsoft.com/office/powerpoint/2010/main" val="3201579291"/>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20000"/>
          </a:bodyPr>
          <a:lstStyle/>
          <a:p>
            <a:r>
              <a:rPr lang="en-US" sz="2000"/>
              <a:t>Question 3: A data scientist is working with a dataset where one categorical feature, "City," has over 100 unique values. Which encoding method is most efficient in terms of managing high dimensionality while still potentially capturing relationships, but might lead to overfitting if not handled carefully?</a:t>
            </a:r>
          </a:p>
          <a:p>
            <a:r>
              <a:rPr lang="en-US" sz="2000"/>
              <a:t>A) One-Hot Encoding</a:t>
            </a:r>
          </a:p>
          <a:p>
            <a:r>
              <a:rPr lang="en-US" sz="2000"/>
              <a:t>B) Label Encoding</a:t>
            </a:r>
          </a:p>
          <a:p>
            <a:r>
              <a:rPr lang="en-US" sz="2000"/>
              <a:t>C) Target Encoding</a:t>
            </a:r>
          </a:p>
          <a:p>
            <a:r>
              <a:rPr lang="en-US" sz="2000"/>
              <a:t>D) Binary Encoding</a:t>
            </a:r>
          </a:p>
          <a:p>
            <a:endParaRPr lang="en-US" sz="2000"/>
          </a:p>
          <a:p>
            <a:endParaRPr lang="en-US" sz="2000"/>
          </a:p>
          <a:p>
            <a:endParaRPr lang="en-US" sz="2000"/>
          </a:p>
          <a:p>
            <a:r>
              <a:rPr lang="en-US" sz="2000" b="1"/>
              <a:t>Correct Answer: C) Target Encoding</a:t>
            </a:r>
          </a:p>
          <a:p>
            <a:r>
              <a:rPr lang="en-US" sz="2000" b="1"/>
              <a:t>Explanation: One-Hot Encoding 100+ cities would create a very high-dimensional sparse matrix. Label Encoding might introduce an artificial ordinality. Binary Encoding is more efficient than One-Hot but still adds new columns. Target Encoding replaces each category with the mean of the target variable for that category, which can effectively capture relationships for high-cardinality features, but it's prone to overfitting because it uses information from the target variable.</a:t>
            </a:r>
          </a:p>
          <a:p>
            <a:endParaRPr lang="en-US" sz="2000" b="1"/>
          </a:p>
          <a:p>
            <a:endParaRPr lang="en-US" sz="2000" dirty="0"/>
          </a:p>
        </p:txBody>
      </p:sp>
    </p:spTree>
    <p:extLst>
      <p:ext uri="{BB962C8B-B14F-4D97-AF65-F5344CB8AC3E}">
        <p14:creationId xmlns:p14="http://schemas.microsoft.com/office/powerpoint/2010/main" val="3546521483"/>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4: Which step in building a linear regression model involves assessing how well the model fits the data using metrics like R-squared?</a:t>
            </a:r>
          </a:p>
          <a:p>
            <a:r>
              <a:rPr lang="en-US" sz="2000"/>
              <a:t>A) Model Specification</a:t>
            </a:r>
          </a:p>
          <a:p>
            <a:r>
              <a:rPr lang="en-US" sz="2000"/>
              <a:t>B) Model Estimation</a:t>
            </a:r>
          </a:p>
          <a:p>
            <a:r>
              <a:rPr lang="en-US" sz="2000"/>
              <a:t>C) Model Interpretation</a:t>
            </a:r>
          </a:p>
          <a:p>
            <a:r>
              <a:rPr lang="en-US" sz="2000"/>
              <a:t>D) Model Validation</a:t>
            </a:r>
          </a:p>
          <a:p>
            <a:endParaRPr lang="en-US" sz="2000"/>
          </a:p>
          <a:p>
            <a:endParaRPr lang="en-US" sz="2000" dirty="0"/>
          </a:p>
        </p:txBody>
      </p:sp>
    </p:spTree>
    <p:extLst>
      <p:ext uri="{BB962C8B-B14F-4D97-AF65-F5344CB8AC3E}">
        <p14:creationId xmlns:p14="http://schemas.microsoft.com/office/powerpoint/2010/main" val="1126691548"/>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lnSpcReduction="10000"/>
          </a:bodyPr>
          <a:lstStyle/>
          <a:p>
            <a:r>
              <a:rPr lang="en-US" sz="2000"/>
              <a:t>Question 4: Which step in building a linear regression model involves assessing how well the model fits the data using metrics like R-squared?</a:t>
            </a:r>
          </a:p>
          <a:p>
            <a:r>
              <a:rPr lang="en-US" sz="2000"/>
              <a:t>A) Model Specification</a:t>
            </a:r>
          </a:p>
          <a:p>
            <a:r>
              <a:rPr lang="en-US" sz="2000"/>
              <a:t>B) Model Estimation</a:t>
            </a:r>
          </a:p>
          <a:p>
            <a:r>
              <a:rPr lang="en-US" sz="2000"/>
              <a:t>C) Model Interpretation</a:t>
            </a:r>
          </a:p>
          <a:p>
            <a:r>
              <a:rPr lang="en-US" sz="2000"/>
              <a:t>D) Model Validation</a:t>
            </a:r>
          </a:p>
          <a:p>
            <a:endParaRPr lang="en-US" sz="2000"/>
          </a:p>
          <a:p>
            <a:endParaRPr lang="en-US" sz="2000"/>
          </a:p>
          <a:p>
            <a:endParaRPr lang="en-US" sz="2000"/>
          </a:p>
          <a:p>
            <a:r>
              <a:rPr lang="en-US" sz="2000" b="1"/>
              <a:t>Correct Answer: B) Model Estimation</a:t>
            </a:r>
          </a:p>
          <a:p>
            <a:r>
              <a:rPr lang="en-US" sz="2000" b="1"/>
              <a:t>Explanation: Model estimation involves calculating the model parameters (coefficients) and also evaluating how well these parameters explain the observed data, often quantified by metrics like R-squared, which measures the proportion of variance explained. Model specification is about choosing variables and model type. Interpretation is about understanding what coefficients mean. Validation is about generalization to new data.</a:t>
            </a:r>
          </a:p>
          <a:p>
            <a:endParaRPr lang="en-US" sz="2000" b="1"/>
          </a:p>
          <a:p>
            <a:endParaRPr lang="en-US" sz="2000" dirty="0"/>
          </a:p>
        </p:txBody>
      </p:sp>
    </p:spTree>
    <p:extLst>
      <p:ext uri="{BB962C8B-B14F-4D97-AF65-F5344CB8AC3E}">
        <p14:creationId xmlns:p14="http://schemas.microsoft.com/office/powerpoint/2010/main" val="2248241431"/>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 What is the primary purpose of the error term (ε) in the linear regression equation Y = β₀ + β₁X + ε?</a:t>
            </a:r>
          </a:p>
          <a:p>
            <a:r>
              <a:rPr lang="en-US" sz="2000"/>
              <a:t>A) It represents the direct causal impact of X on Y.</a:t>
            </a:r>
          </a:p>
          <a:p>
            <a:r>
              <a:rPr lang="en-US" sz="2000"/>
              <a:t>B) It is the value of Y when X is zero.</a:t>
            </a:r>
          </a:p>
          <a:p>
            <a:r>
              <a:rPr lang="en-US" sz="2000"/>
              <a:t>C) It captures the unexplained variability in Y that the linear relationship with X cannot account for.</a:t>
            </a:r>
          </a:p>
          <a:p>
            <a:r>
              <a:rPr lang="en-US" sz="2000"/>
              <a:t>D) It denotes the change in Y for a unit change in X.</a:t>
            </a:r>
          </a:p>
          <a:p>
            <a:endParaRPr lang="en-US" sz="2000"/>
          </a:p>
          <a:p>
            <a:endParaRPr lang="en-US" sz="2000" dirty="0"/>
          </a:p>
        </p:txBody>
      </p:sp>
    </p:spTree>
    <p:extLst>
      <p:ext uri="{BB962C8B-B14F-4D97-AF65-F5344CB8AC3E}">
        <p14:creationId xmlns:p14="http://schemas.microsoft.com/office/powerpoint/2010/main" val="1848149471"/>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 What is the primary purpose of the error term (ε) in the linear regression equation Y = β₀ + β₁X + ε?</a:t>
            </a:r>
          </a:p>
          <a:p>
            <a:r>
              <a:rPr lang="en-US" sz="2000"/>
              <a:t>A) It represents the direct causal impact of X on Y.</a:t>
            </a:r>
          </a:p>
          <a:p>
            <a:r>
              <a:rPr lang="en-US" sz="2000"/>
              <a:t>B) It is the value of Y when X is zero.</a:t>
            </a:r>
          </a:p>
          <a:p>
            <a:r>
              <a:rPr lang="en-US" sz="2000"/>
              <a:t>C) It captures the unexplained variability in Y that the linear relationship with X cannot account for.</a:t>
            </a:r>
          </a:p>
          <a:p>
            <a:r>
              <a:rPr lang="en-US" sz="2000"/>
              <a:t>D) It denotes the change in Y for a unit change in X.</a:t>
            </a:r>
          </a:p>
          <a:p>
            <a:endParaRPr lang="en-US" sz="2000"/>
          </a:p>
          <a:p>
            <a:endParaRPr lang="en-US" sz="2000"/>
          </a:p>
          <a:p>
            <a:endParaRPr lang="en-US" sz="2000"/>
          </a:p>
          <a:p>
            <a:r>
              <a:rPr lang="en-US" sz="2000" b="1"/>
              <a:t>Correct Answer: C) It captures the unexplained variability in Y that the linear relationship with X cannot account for.</a:t>
            </a:r>
          </a:p>
          <a:p>
            <a:r>
              <a:rPr lang="en-US" sz="2000" b="1"/>
              <a:t>Explanation: The error term (ε) accounts for all other factors influencing Y that are not included in the model and also for the random variation inherent in the relationship. It's the "noise" or "residual" that the model cannot explain.</a:t>
            </a:r>
          </a:p>
          <a:p>
            <a:endParaRPr lang="en-US" sz="2000" b="1"/>
          </a:p>
          <a:p>
            <a:endParaRPr lang="en-US" sz="2000" dirty="0"/>
          </a:p>
        </p:txBody>
      </p:sp>
    </p:spTree>
    <p:extLst>
      <p:ext uri="{BB962C8B-B14F-4D97-AF65-F5344CB8AC3E}">
        <p14:creationId xmlns:p14="http://schemas.microsoft.com/office/powerpoint/2010/main" val="3673288184"/>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6: In the context of feature selection, which method assesses feature subsets by actually training and evaluating the model's performance on different combinations of features?</a:t>
            </a:r>
          </a:p>
          <a:p>
            <a:r>
              <a:rPr lang="en-US" sz="2000"/>
              <a:t>A) Filter Methods (e.g., correlation)</a:t>
            </a:r>
          </a:p>
          <a:p>
            <a:r>
              <a:rPr lang="en-US" sz="2000"/>
              <a:t>B) Wrapper Methods (e.g., recursive feature elimination)</a:t>
            </a:r>
          </a:p>
          <a:p>
            <a:r>
              <a:rPr lang="en-US" sz="2000"/>
              <a:t>C) Embedded Methods (e.g., Lasso regression)</a:t>
            </a:r>
          </a:p>
          <a:p>
            <a:r>
              <a:rPr lang="en-US" sz="2000"/>
              <a:t>D) Feature Aggregation</a:t>
            </a:r>
          </a:p>
          <a:p>
            <a:endParaRPr lang="en-US" sz="2000"/>
          </a:p>
          <a:p>
            <a:endParaRPr lang="en-US" sz="2000" dirty="0"/>
          </a:p>
        </p:txBody>
      </p:sp>
    </p:spTree>
    <p:extLst>
      <p:ext uri="{BB962C8B-B14F-4D97-AF65-F5344CB8AC3E}">
        <p14:creationId xmlns:p14="http://schemas.microsoft.com/office/powerpoint/2010/main" val="2018383213"/>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lnSpcReduction="10000"/>
          </a:bodyPr>
          <a:lstStyle/>
          <a:p>
            <a:r>
              <a:rPr lang="en-US" sz="2000"/>
              <a:t>Question 6: In the context of feature selection, which method assesses feature subsets by actually training and evaluating the model's performance on different combinations of features?</a:t>
            </a:r>
          </a:p>
          <a:p>
            <a:r>
              <a:rPr lang="en-US" sz="2000"/>
              <a:t>A) Filter Methods (e.g., correlation)</a:t>
            </a:r>
          </a:p>
          <a:p>
            <a:r>
              <a:rPr lang="en-US" sz="2000"/>
              <a:t>B) Wrapper Methods (e.g., recursive feature elimination)</a:t>
            </a:r>
          </a:p>
          <a:p>
            <a:r>
              <a:rPr lang="en-US" sz="2000"/>
              <a:t>C) Embedded Methods (e.g., Lasso regression)</a:t>
            </a:r>
          </a:p>
          <a:p>
            <a:r>
              <a:rPr lang="en-US" sz="2000"/>
              <a:t>D) Feature Aggregation</a:t>
            </a:r>
          </a:p>
          <a:p>
            <a:endParaRPr lang="en-US" sz="2000"/>
          </a:p>
          <a:p>
            <a:endParaRPr lang="en-US" sz="2000"/>
          </a:p>
          <a:p>
            <a:endParaRPr lang="en-US" sz="2000"/>
          </a:p>
          <a:p>
            <a:r>
              <a:rPr lang="en-US" sz="2000" b="1"/>
              <a:t>Correct Answer: B) Wrapper Methods (e.g., recursive feature elimination)</a:t>
            </a:r>
          </a:p>
          <a:p>
            <a:r>
              <a:rPr lang="en-US" sz="2000" b="1"/>
              <a:t>Explanation: Wrapper methods directly evaluate the performance of a machine learning model on different subsets of features. This contrasts with filter methods which evaluate features independently of the model, and embedded methods which select features during the model's training process. Feature aggregation is a feature extraction technique, not selection.</a:t>
            </a:r>
          </a:p>
          <a:p>
            <a:endParaRPr lang="en-US" sz="2000" b="1"/>
          </a:p>
          <a:p>
            <a:endParaRPr lang="en-US" sz="2000" dirty="0"/>
          </a:p>
        </p:txBody>
      </p:sp>
    </p:spTree>
    <p:extLst>
      <p:ext uri="{BB962C8B-B14F-4D97-AF65-F5344CB8AC3E}">
        <p14:creationId xmlns:p14="http://schemas.microsoft.com/office/powerpoint/2010/main" val="3111713986"/>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7: A retail company wants to predict the number of units sold for a new product based on its advertising budget and store location type (e.g., urban, suburban). To build an effective linear regression model, what key consideration should be made regarding the "store location type" variable?</a:t>
            </a:r>
          </a:p>
          <a:p>
            <a:r>
              <a:rPr lang="en-US" sz="2000"/>
              <a:t>A) It should be directly used as a numerical input.</a:t>
            </a:r>
          </a:p>
          <a:p>
            <a:r>
              <a:rPr lang="en-US" sz="2000"/>
              <a:t>B) It should be removed as it's not a continuous variable.</a:t>
            </a:r>
          </a:p>
          <a:p>
            <a:r>
              <a:rPr lang="en-US" sz="2000"/>
              <a:t>C) It needs to be appropriately encoded (e.g., One-Hot Encoding) for the linear regression model.</a:t>
            </a:r>
          </a:p>
          <a:p>
            <a:r>
              <a:rPr lang="en-US" sz="2000"/>
              <a:t>D) It can only be used in a logistic regression model, not linear regression.</a:t>
            </a:r>
          </a:p>
          <a:p>
            <a:endParaRPr lang="en-US" sz="2000"/>
          </a:p>
          <a:p>
            <a:endParaRPr lang="en-US" sz="2000" dirty="0"/>
          </a:p>
        </p:txBody>
      </p:sp>
    </p:spTree>
    <p:extLst>
      <p:ext uri="{BB962C8B-B14F-4D97-AF65-F5344CB8AC3E}">
        <p14:creationId xmlns:p14="http://schemas.microsoft.com/office/powerpoint/2010/main" val="4193036125"/>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10000"/>
          </a:bodyPr>
          <a:lstStyle/>
          <a:p>
            <a:r>
              <a:rPr lang="en-US" sz="2000"/>
              <a:t>Question 7: A retail company wants to predict the number of units sold for a new product based on its advertising budget and store location type (e.g., urban, suburban). To build an effective linear regression model, what key consideration should be made regarding the "store location type" variable?</a:t>
            </a:r>
          </a:p>
          <a:p>
            <a:r>
              <a:rPr lang="en-US" sz="2000"/>
              <a:t>A) It should be directly used as a numerical input.</a:t>
            </a:r>
          </a:p>
          <a:p>
            <a:r>
              <a:rPr lang="en-US" sz="2000"/>
              <a:t>B) It should be removed as it's not a continuous variable.</a:t>
            </a:r>
          </a:p>
          <a:p>
            <a:r>
              <a:rPr lang="en-US" sz="2000"/>
              <a:t>C) It needs to be appropriately encoded (e.g., One-Hot Encoding) for the linear regression model.</a:t>
            </a:r>
          </a:p>
          <a:p>
            <a:r>
              <a:rPr lang="en-US" sz="2000"/>
              <a:t>D) It can only be used in a logistic regression model, not linear regression.</a:t>
            </a:r>
          </a:p>
          <a:p>
            <a:endParaRPr lang="en-US" sz="2000"/>
          </a:p>
          <a:p>
            <a:endParaRPr lang="en-US" sz="2000"/>
          </a:p>
          <a:p>
            <a:endParaRPr lang="en-US" sz="2000"/>
          </a:p>
          <a:p>
            <a:r>
              <a:rPr lang="en-US" sz="2000" b="1"/>
              <a:t>Correct Answer: C) It needs to be appropriately encoded (e.g., One-Hot Encoding) for the linear regression model.</a:t>
            </a:r>
          </a:p>
          <a:p>
            <a:r>
              <a:rPr lang="en-US" sz="2000" b="1"/>
              <a:t>Explanation: "Store location type" is a categorical variable. Linear regression models require numerical inputs. Therefore, categorical variables like this must be converted into a numerical format, typically using techniques like One-Hot Encoding, before they can be included in the model.</a:t>
            </a:r>
          </a:p>
          <a:p>
            <a:endParaRPr lang="en-US" sz="2000" b="1"/>
          </a:p>
          <a:p>
            <a:endParaRPr lang="en-US" sz="2000" dirty="0"/>
          </a:p>
        </p:txBody>
      </p:sp>
    </p:spTree>
    <p:extLst>
      <p:ext uri="{BB962C8B-B14F-4D97-AF65-F5344CB8AC3E}">
        <p14:creationId xmlns:p14="http://schemas.microsoft.com/office/powerpoint/2010/main" val="2771110559"/>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fontScale="92500" lnSpcReduction="20000"/>
          </a:bodyPr>
          <a:lstStyle/>
          <a:p>
            <a:r>
              <a:rPr lang="en-US" sz="2000"/>
              <a:t>:</a:t>
            </a:r>
          </a:p>
          <a:p>
            <a:endParaRPr lang="en-US" sz="2000"/>
          </a:p>
          <a:p>
            <a:r>
              <a:rPr lang="en-US" sz="2000"/>
              <a:t>A startup called "HomeValue Predictor" aims to build a machine learning model to estimate house prices for their clients. They've collected a dataset of recent home sales, including features like `square_footage`, `number_of_bedrooms`, `lot_size`, `neighborhood` (a categorical variable like 'Downtown', 'Suburban', 'Rural'), and `sale_price`.</a:t>
            </a:r>
          </a:p>
          <a:p>
            <a:endParaRPr lang="en-US" sz="2000"/>
          </a:p>
          <a:p>
            <a:r>
              <a:rPr lang="en-US" sz="2000"/>
              <a:t>The initial data analysis revealed a few issues:</a:t>
            </a:r>
          </a:p>
          <a:p>
            <a:r>
              <a:rPr lang="en-US" sz="2000"/>
              <a:t>1.  Some entries for `square_footage` are missing.</a:t>
            </a:r>
          </a:p>
          <a:p>
            <a:r>
              <a:rPr lang="en-US" sz="2000"/>
              <a:t>2.  The `neighborhood` variable, being categorical, needs to be handled for the regression model.</a:t>
            </a:r>
          </a:p>
          <a:p>
            <a:r>
              <a:rPr lang="en-US" sz="2000"/>
              <a:t>3.  The developers are worried about the impact of highly correlated features on their model's interpretability and stability.</a:t>
            </a:r>
          </a:p>
          <a:p>
            <a:r>
              <a:rPr lang="en-US" sz="2000"/>
              <a:t>4.  They suspect the relationship between some features and `sale_price` might not be perfectly linear, and they need a way to check this and other linear regression assumptions.</a:t>
            </a:r>
          </a:p>
          <a:p>
            <a:endParaRPr lang="en-US" sz="2000"/>
          </a:p>
          <a:p>
            <a:r>
              <a:rPr lang="en-US" sz="2000"/>
              <a:t>As a machine learning expert, describe the key feature engineering and linear regression steps HomeValue Predictor should take to build a robust and interpretable model, addressing each of their concerns.</a:t>
            </a:r>
          </a:p>
          <a:p>
            <a:endParaRPr lang="en-US" sz="2000"/>
          </a:p>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359068652"/>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fontScale="47500" lnSpcReduction="20000"/>
          </a:bodyPr>
          <a:lstStyle/>
          <a:p>
            <a:r>
              <a:rPr lang="en-US" sz="2000"/>
              <a:t>Solution:</a:t>
            </a:r>
          </a:p>
          <a:p>
            <a:endParaRPr lang="en-US" sz="2000"/>
          </a:p>
          <a:p>
            <a:endParaRPr lang="en-US" sz="2000"/>
          </a:p>
          <a:p>
            <a:r>
              <a:rPr lang="en-US" sz="2000"/>
              <a:t>HomeValue Predictor should follow these steps to build a robust and interpretable linear regression model:</a:t>
            </a:r>
          </a:p>
          <a:p>
            <a:endParaRPr lang="en-US" sz="2000"/>
          </a:p>
          <a:p>
            <a:r>
              <a:rPr lang="en-US" sz="2000"/>
              <a:t>1.  Handling Missing Data (`square_footage`):</a:t>
            </a:r>
          </a:p>
          <a:p>
            <a:r>
              <a:rPr lang="en-US" sz="2000"/>
              <a:t>Imputation: For `square_footage`, a numerical variable, the most appropriate approach would be to impute the missing values.</a:t>
            </a:r>
          </a:p>
          <a:p>
            <a:r>
              <a:rPr lang="en-US" sz="2000"/>
              <a:t>Strategy: They could use the mean or median imputation for `square_footage` as simple methods. For a more sophisticated approach, they could use a regression-based imputation (predicting `square_footage` based on other features). The choice depends on the extent of missing data and available resources.</a:t>
            </a:r>
          </a:p>
          <a:p>
            <a:endParaRPr lang="en-US" sz="2000"/>
          </a:p>
          <a:p>
            <a:r>
              <a:rPr lang="en-US" sz="2000"/>
              <a:t>2.  Handling Categorical Variables (`neighborhood`):</a:t>
            </a:r>
          </a:p>
          <a:p>
            <a:r>
              <a:rPr lang="en-US" sz="2000"/>
              <a:t>One-Hot Encoding: Since `neighborhood` is a nominal categorical variable (no inherent order), One-Hot Encoding is the most suitable method. This will convert the `neighborhood` column into multiple binary columns (e.g., `neighborhood_Downtown`, `neighborhood_Suburban`), avoiding the introduction of artificial ordinality.</a:t>
            </a:r>
          </a:p>
          <a:p>
            <a:endParaRPr lang="en-US" sz="2000"/>
          </a:p>
          <a:p>
            <a:r>
              <a:rPr lang="en-US" sz="2000"/>
              <a:t>3.  Addressing Highly Correlated Features (Multicollinearity):</a:t>
            </a:r>
          </a:p>
          <a:p>
            <a:r>
              <a:rPr lang="en-US" sz="2000"/>
              <a:t>Feature Selection/Extraction: To deal with highly correlated features:</a:t>
            </a:r>
          </a:p>
          <a:p>
            <a:r>
              <a:rPr lang="en-US" sz="2000"/>
              <a:t>Filter Methods (Correlation Matrix): Calculate the correlation matrix between independent variables. If two variables are highly correlated (e.g., &gt;0.8), one of them can be removed to reduce multicollinearity.</a:t>
            </a:r>
          </a:p>
          <a:p>
            <a:r>
              <a:rPr lang="en-US" sz="2000"/>
              <a:t>PCA (Feature Extraction): Apply Principal Component Analysis to combine correlated features into a smaller set of uncorrelated components, especially if retaining all original information is desired in a new form. This can improve model stability.</a:t>
            </a:r>
          </a:p>
          <a:p>
            <a:r>
              <a:rPr lang="en-US" sz="2000"/>
              <a:t>Embedded Methods (Lasso Regression): When training the linear regression model, using Lasso (L1 regularization) can automatically shrink the coefficients of less important correlated features to zero, effectively performing feature selection.</a:t>
            </a:r>
          </a:p>
          <a:p>
            <a:endParaRPr lang="en-US" sz="2000"/>
          </a:p>
          <a:p>
            <a:r>
              <a:rPr lang="en-US" sz="2000"/>
              <a:t>4.  Checking Linear Regression Assumptions:</a:t>
            </a:r>
          </a:p>
          <a:p>
            <a:r>
              <a:rPr lang="en-US" sz="2000"/>
              <a:t>Linearity: Create scatter plots of each independent variable against `sale_price` to visually inspect for linear relationships. Residual plots (residuals vs. predicted values) can also highlight non-linearity if a pattern emerges.</a:t>
            </a:r>
          </a:p>
          <a:p>
            <a:r>
              <a:rPr lang="en-US" sz="2000"/>
              <a:t>Homoscedasticity: Examine residual plots (residuals vs. predicted values) to ensure the spread of residuals is constant across all predicted values. A funnel shape would indicate heteroscedasticity.</a:t>
            </a:r>
          </a:p>
          <a:p>
            <a:r>
              <a:rPr lang="en-US" sz="2000"/>
              <a:t>Normality of Residuals: Plot a histogram or a Q-Q plot of the residuals to check if they approximate a normal distribution.</a:t>
            </a:r>
          </a:p>
          <a:p>
            <a:r>
              <a:rPr lang="en-US" sz="2000"/>
              <a:t>Independence of Residuals: For cross-sectional data like this, this is often assumed. If there's any spatial or temporal component not mentioned, specific tests would be needed.</a:t>
            </a:r>
          </a:p>
          <a:p>
            <a:r>
              <a:rPr lang="en-US" sz="2000"/>
              <a:t>No Multicollinearity: As mentioned above, a correlation matrix or Variance Inflation Factor (VIF) can quantify the extent of multicollinearity among independent variables.</a:t>
            </a:r>
          </a:p>
          <a:p>
            <a:endParaRPr lang="en-US" sz="2000"/>
          </a:p>
          <a:p>
            <a:r>
              <a:rPr lang="en-US" sz="2000"/>
              <a:t>By meticulously following these steps, HomeValue Predictor can develop a robust linear regression model that provides accurate house price estimations and clear insights into the factors driving them.</a:t>
            </a:r>
          </a:p>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3588965812"/>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Session Summary</a:t>
            </a:r>
            <a:endParaRPr lang="en-US" sz="2800" b="1" dirty="0">
              <a:solidFill>
                <a:srgbClr val="D9212B"/>
              </a:solidFill>
            </a:endParaRPr>
          </a:p>
        </p:txBody>
      </p:sp>
      <p:sp>
        <p:nvSpPr>
          <p:cNvPr id="5" name="Google Shape;135;p9"/>
          <p:cNvSpPr txBox="1"/>
          <p:nvPr/>
        </p:nvSpPr>
        <p:spPr>
          <a:xfrm>
            <a:off x="715540" y="1569935"/>
            <a:ext cx="6147786" cy="4812559"/>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r>
              <a:rPr lang="en-US" b="1">
                <a:latin typeface=""/>
                <a:ea typeface="Times New Roman"/>
                <a:cs typeface="Times New Roman"/>
              </a:rPr>
              <a:t>:</a:t>
            </a:r>
            <a:endParaRPr lang="en-US">
              <a:latin typeface=""/>
              <a:ea typeface="Times New Roman"/>
              <a:cs typeface="Times New Roman"/>
            </a:endParaRPr>
          </a:p>
          <a:p>
            <a:pPr>
              <a:lnSpc>
                <a:spcPct val="115000"/>
              </a:lnSpc>
              <a:spcAft>
                <a:spcPts val="1000"/>
              </a:spcAft>
            </a:pPr>
            <a:r>
              <a:rPr lang="en-US">
                <a:latin typeface=""/>
                <a:ea typeface="Times New Roman"/>
                <a:cs typeface="Times New Roman"/>
              </a:rPr>
              <a:t>•   Understand the critical role of feature engineering in the machine learning workflow.</a:t>
            </a:r>
          </a:p>
          <a:p>
            <a:pPr>
              <a:lnSpc>
                <a:spcPct val="115000"/>
              </a:lnSpc>
              <a:spcAft>
                <a:spcPts val="1000"/>
              </a:spcAft>
            </a:pPr>
            <a:r>
              <a:rPr lang="en-US">
                <a:latin typeface=""/>
                <a:ea typeface="Times New Roman"/>
                <a:cs typeface="Times New Roman"/>
              </a:rPr>
              <a:t>•   Learn various techniques for feature selection and extraction.</a:t>
            </a:r>
          </a:p>
          <a:p>
            <a:pPr>
              <a:lnSpc>
                <a:spcPct val="115000"/>
              </a:lnSpc>
              <a:spcAft>
                <a:spcPts val="1000"/>
              </a:spcAft>
            </a:pPr>
            <a:r>
              <a:rPr lang="en-US">
                <a:latin typeface=""/>
                <a:ea typeface="Times New Roman"/>
                <a:cs typeface="Times New Roman"/>
              </a:rPr>
              <a:t>•   Grasp the fundamental concepts and assumptions of linear regression.</a:t>
            </a:r>
          </a:p>
          <a:p>
            <a:pPr>
              <a:lnSpc>
                <a:spcPct val="115000"/>
              </a:lnSpc>
              <a:spcAft>
                <a:spcPts val="1000"/>
              </a:spcAft>
            </a:pPr>
            <a:r>
              <a:rPr lang="en-US">
                <a:latin typeface=""/>
                <a:ea typeface="Times New Roman"/>
                <a:cs typeface="Times New Roman"/>
              </a:rPr>
              <a:t>•   Learn how to build, estimate, and interpret a linear regression model.</a:t>
            </a:r>
          </a:p>
          <a:p>
            <a:pPr>
              <a:lnSpc>
                <a:spcPct val="115000"/>
              </a:lnSpc>
              <a:spcAft>
                <a:spcPts val="1000"/>
              </a:spcAft>
            </a:pPr>
            <a:r>
              <a:rPr lang="en-US">
                <a:latin typeface=""/>
                <a:ea typeface="Times New Roman"/>
                <a:cs typeface="Times New Roman"/>
              </a:rPr>
              <a:t>•   Recognize the importance of model validation in linear regression.</a:t>
            </a:r>
          </a:p>
          <a:p>
            <a:pPr>
              <a:lnSpc>
                <a:spcPct val="115000"/>
              </a:lnSpc>
              <a:spcAft>
                <a:spcPts val="1000"/>
              </a:spcAft>
            </a:pPr>
            <a:r>
              <a:rPr lang="en-US">
                <a:latin typeface=""/>
                <a:ea typeface="Times New Roman"/>
                <a:cs typeface="Times New Roman"/>
              </a:rPr>
              <a:t> </a:t>
            </a:r>
          </a:p>
        </p:txBody>
      </p:sp>
    </p:spTree>
    <p:extLst>
      <p:ext uri="{BB962C8B-B14F-4D97-AF65-F5344CB8AC3E}">
        <p14:creationId xmlns:p14="http://schemas.microsoft.com/office/powerpoint/2010/main" val="3535129115"/>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Learning Objectives 8</a:t>
            </a:r>
            <a:endParaRPr lang="en-US" sz="2800" b="1" dirty="0">
              <a:solidFill>
                <a:srgbClr val="D9212B"/>
              </a:solidFill>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96;p3"/>
          <p:cNvSpPr txBox="1"/>
          <p:nvPr/>
        </p:nvSpPr>
        <p:spPr>
          <a:xfrm>
            <a:off x="773393" y="1672895"/>
            <a:ext cx="8074981" cy="57134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000"/>
              <a:buFont typeface="Arial"/>
              <a:buNone/>
            </a:pPr>
            <a:r>
              <a:rPr lang="en-US" sz="2000" b="1" dirty="0">
                <a:solidFill>
                  <a:schemeClr val="dk1"/>
                </a:solidFill>
                <a:latin typeface="Avenir"/>
                <a:ea typeface="Avenir"/>
                <a:cs typeface="Avenir"/>
                <a:sym typeface="Avenir"/>
              </a:rPr>
              <a:t>By the end of this session, you will be able to:</a:t>
            </a:r>
            <a:endParaRPr dirty="0"/>
          </a:p>
        </p:txBody>
      </p:sp>
      <p:sp>
        <p:nvSpPr>
          <p:cNvPr id="5" name="Google Shape;98;p3"/>
          <p:cNvSpPr txBox="1"/>
          <p:nvPr/>
        </p:nvSpPr>
        <p:spPr>
          <a:xfrm>
            <a:off x="885636" y="2326538"/>
            <a:ext cx="10132884" cy="3219815"/>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Comprehend the principles of logistic regression for binary classification.</a:t>
            </a:r>
          </a:p>
          <a:p>
            <a:pPr>
              <a:lnSpc>
                <a:spcPct val="115000"/>
              </a:lnSpc>
              <a:spcAft>
                <a:spcPts val="1000"/>
              </a:spcAft>
            </a:pPr>
            <a:r>
              <a:rPr lang="en-US" dirty="0">
                <a:latin typeface=""/>
                <a:ea typeface="Times New Roman"/>
                <a:cs typeface="Times New Roman"/>
              </a:rPr>
              <a:t>•   Discover the logistic function and its role in logistic regression.</a:t>
            </a:r>
          </a:p>
          <a:p>
            <a:pPr>
              <a:lnSpc>
                <a:spcPct val="115000"/>
              </a:lnSpc>
              <a:spcAft>
                <a:spcPts val="1000"/>
              </a:spcAft>
            </a:pPr>
            <a:r>
              <a:rPr lang="en-US" dirty="0">
                <a:latin typeface=""/>
                <a:ea typeface="Times New Roman"/>
                <a:cs typeface="Times New Roman"/>
              </a:rPr>
              <a:t>•   Build logistic regression models to predict categorical outcomes.</a:t>
            </a:r>
          </a:p>
          <a:p>
            <a:pPr>
              <a:lnSpc>
                <a:spcPct val="115000"/>
              </a:lnSpc>
              <a:spcAft>
                <a:spcPts val="1000"/>
              </a:spcAft>
            </a:pPr>
            <a:r>
              <a:rPr lang="en-US" dirty="0">
                <a:latin typeface=""/>
                <a:ea typeface="Times New Roman"/>
                <a:cs typeface="Times New Roman"/>
              </a:rPr>
              <a:t>•   Gain insight into the concept of clustering and its applications.</a:t>
            </a:r>
          </a:p>
          <a:p>
            <a:pPr>
              <a:lnSpc>
                <a:spcPct val="115000"/>
              </a:lnSpc>
              <a:spcAft>
                <a:spcPts val="1000"/>
              </a:spcAft>
            </a:pPr>
            <a:r>
              <a:rPr lang="en-US" dirty="0">
                <a:latin typeface=""/>
                <a:ea typeface="Times New Roman"/>
                <a:cs typeface="Times New Roman"/>
              </a:rPr>
              <a:t>•   Explore various clustering algorithms such as K-means, DBSCAN, and hierarchical clustering.</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998153605"/>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Logistic regression is a powerful statistical technique used for binary classification tasks.</a:t>
            </a:r>
          </a:p>
          <a:p>
            <a:endParaRPr lang="en-US" sz="2000"/>
          </a:p>
          <a:p>
            <a:r>
              <a:rPr lang="en-US" sz="2000"/>
              <a:t>•   It models the relationship between a binary dependent variable (e.g., yes/no, 0/1) and one or more independent variables.</a:t>
            </a:r>
          </a:p>
          <a:p>
            <a:endParaRPr lang="en-US" sz="2000"/>
          </a:p>
          <a:p>
            <a:r>
              <a:rPr lang="en-US" sz="2000"/>
              <a:t>•   The model estimates the probability of a specific outcome occurring, which is then transformed using a link function (logit).</a:t>
            </a:r>
          </a:p>
          <a:p>
            <a:endParaRPr lang="en-US" sz="2000"/>
          </a:p>
          <a:p>
            <a:r>
              <a:rPr lang="en-US" sz="2000"/>
              <a:t>•   It is essential for problems where the outcome variable is categorical with two distinct classes.</a:t>
            </a:r>
          </a:p>
          <a:p>
            <a:endParaRPr lang="en-US" sz="2000"/>
          </a:p>
          <a:p>
            <a:r>
              <a:rPr lang="en-US" sz="2000"/>
              <a:t>•   Model performance is often assessed using evaluation metrics like ROC curves and AUC.</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Logistic Regression Fundamentals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997949289"/>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Data Preprocessing: Key steps include cleaning data, handling missing values, identifying relevant features, and performing necessary feature scaling.</a:t>
            </a:r>
          </a:p>
          <a:p>
            <a:endParaRPr lang="en-US" sz="2000"/>
          </a:p>
          <a:p>
            <a:r>
              <a:rPr lang="en-US" sz="2000"/>
              <a:t>• Variable Selection: Choose the binary outcome as the dependent variable and pertinent features as independent variables.</a:t>
            </a:r>
          </a:p>
          <a:p>
            <a:endParaRPr lang="en-US" sz="2000"/>
          </a:p>
          <a:p>
            <a:r>
              <a:rPr lang="en-US" sz="2000"/>
              <a:t>• Model Specification: Define the logistic regression equation, which incorporates the logit link function to map predictions to probabilities.</a:t>
            </a:r>
          </a:p>
          <a:p>
            <a:endParaRPr lang="en-US" sz="2000"/>
          </a:p>
          <a:p>
            <a:r>
              <a:rPr lang="en-US" sz="2000"/>
              <a:t>• Model Fitting: Estimate the model coefficients (parameters) using statistical methods such as Maximum Likelihood Estimation (MLE).</a:t>
            </a:r>
          </a:p>
          <a:p>
            <a:endParaRPr lang="en-US" sz="2000"/>
          </a:p>
          <a:p>
            <a:r>
              <a:rPr lang="en-US" sz="2000"/>
              <a:t>•   The primary goal is to predict the likelihood of an instance belonging to one of the two defined classes.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Constructing Logistic Regression Models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234354775"/>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Coefficient Interpretation: Understand the direction and strength of the impact each predictor has on the outcome's log-odds.</a:t>
            </a:r>
          </a:p>
          <a:p>
            <a:endParaRPr lang="en-US" sz="2000"/>
          </a:p>
          <a:p>
            <a:r>
              <a:rPr lang="en-US" sz="2000"/>
              <a:t>• Odds Ratio: Calculate odds ratios to quantify the multiplicative effect of independent variables on the odds of the dependent variable's outcome.</a:t>
            </a:r>
          </a:p>
          <a:p>
            <a:endParaRPr lang="en-US" sz="2000"/>
          </a:p>
          <a:p>
            <a:r>
              <a:rPr lang="en-US" sz="2000"/>
              <a:t>•   An odds ratio greater than 1 suggests an increase in odds, while less than 1 suggests a decrease, for a one-unit increase in the predictor.</a:t>
            </a:r>
          </a:p>
          <a:p>
            <a:endParaRPr lang="en-US" sz="2000"/>
          </a:p>
          <a:p>
            <a:r>
              <a:rPr lang="en-US" sz="2000"/>
              <a:t>• Model Evaluation: Assess the model's overall fit and predictive power using statistical tests and metrics like deviance, AIC, and BIC.</a:t>
            </a:r>
          </a:p>
          <a:p>
            <a:endParaRPr lang="en-US" sz="2000"/>
          </a:p>
          <a:p>
            <a:r>
              <a:rPr lang="en-US" sz="2000"/>
              <a:t>•   These interpretation tools are crucial for gaining actionable insights from the model.</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Interpreting Logistic Regression Coefficients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6088905"/>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ROC curves are graphical tools for visualizing a classifier's performance across various probability thresholds.</a:t>
            </a:r>
          </a:p>
          <a:p>
            <a:endParaRPr lang="en-US" sz="2000"/>
          </a:p>
          <a:p>
            <a:r>
              <a:rPr lang="en-US" sz="2000"/>
              <a:t>•   They plot the True Positive Rate (TPR or sensitivity) on the y-axis against the False Positive Rate (FPR) on the x-axis.</a:t>
            </a:r>
          </a:p>
          <a:p>
            <a:endParaRPr lang="en-US" sz="2000"/>
          </a:p>
          <a:p>
            <a:r>
              <a:rPr lang="en-US" sz="2000"/>
              <a:t>•   Each point on the curve corresponds to a different decision threshold for classifying positive instances.</a:t>
            </a:r>
          </a:p>
          <a:p>
            <a:endParaRPr lang="en-US" sz="2000"/>
          </a:p>
          <a:p>
            <a:r>
              <a:rPr lang="en-US" sz="2000"/>
              <a:t>•   A curve that bends towards the upper-left corner indicates a model with high discriminatory power.</a:t>
            </a:r>
          </a:p>
          <a:p>
            <a:endParaRPr lang="en-US" sz="2000"/>
          </a:p>
          <a:p>
            <a:r>
              <a:rPr lang="en-US" sz="2000"/>
              <a:t>•   A diagonal line represents a random classifier, performing no better than chance.</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Receiver Operating Characteristic (ROC) Curves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4177133835"/>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AUC quantifies the overall performance of a logistic regression model into a single scalar value.</a:t>
            </a:r>
          </a:p>
          <a:p>
            <a:endParaRPr lang="en-US" sz="2000"/>
          </a:p>
          <a:p>
            <a:r>
              <a:rPr lang="en-US" sz="2000"/>
              <a:t>•   It ranges from 0.5 (random classifier) to 1.0 (perfect classifier), with higher values indicating better performance.</a:t>
            </a:r>
          </a:p>
          <a:p>
            <a:endParaRPr lang="en-US" sz="2000"/>
          </a:p>
          <a:p>
            <a:r>
              <a:rPr lang="en-US" sz="2000"/>
              <a:t>•   AUC can be interpreted as the probability that the model will rank a randomly chosen positive instance higher than a randomly chosen negative instance.</a:t>
            </a:r>
          </a:p>
          <a:p>
            <a:endParaRPr lang="en-US" sz="2000"/>
          </a:p>
          <a:p>
            <a:r>
              <a:rPr lang="en-US" sz="2000"/>
              <a:t>•   It is particularly useful for comparing the discriminatory power of different classification models.</a:t>
            </a:r>
          </a:p>
          <a:p>
            <a:endParaRPr lang="en-US" sz="2000"/>
          </a:p>
          <a:p>
            <a:r>
              <a:rPr lang="en-US" sz="2000"/>
              <a:t>• Limitations: AUC can be sensitive to class imbalance, which may lead to an overly optimistic or pessimistic view of performance.</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Area Under the Curve (AUC) Analysis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86640599"/>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Medical Diagnosis: Predicting the presence or absence of diseases (e.g., diabetes, heart disease) based on patient data.</a:t>
            </a:r>
          </a:p>
          <a:p>
            <a:endParaRPr lang="en-US" sz="2000"/>
          </a:p>
          <a:p>
            <a:r>
              <a:rPr lang="en-US" sz="2000"/>
              <a:t>• Credit Scoring: Assessing the creditworthiness of loan applicants and predicting their likelihood of defaulting.</a:t>
            </a:r>
          </a:p>
          <a:p>
            <a:endParaRPr lang="en-US" sz="2000"/>
          </a:p>
          <a:p>
            <a:r>
              <a:rPr lang="en-US" sz="2000"/>
              <a:t>• Customer Churn Prediction: Identifying customers likely to cancel subscriptions in industries like telecommunications or streaming services.</a:t>
            </a:r>
          </a:p>
          <a:p>
            <a:endParaRPr lang="en-US" sz="2000"/>
          </a:p>
          <a:p>
            <a:r>
              <a:rPr lang="en-US" sz="2000"/>
              <a:t>• Fraud Detection: Flagging suspicious transactions or activities in financial systems to prevent fraud.</a:t>
            </a:r>
          </a:p>
          <a:p>
            <a:endParaRPr lang="en-US" sz="2000"/>
          </a:p>
          <a:p>
            <a:r>
              <a:rPr lang="en-US" sz="2000"/>
              <a:t>• Marketing and Customer Response: Predicting whether a customer will respond positively to a marketing campaign or make a purchase.</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Practical Applications of Logistic Regression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981629651"/>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Clustering is a fundamental unsupervised machine learning technique used to group similar data points together.</a:t>
            </a:r>
          </a:p>
          <a:p>
            <a:endParaRPr lang="en-US" sz="2000"/>
          </a:p>
          <a:p>
            <a:r>
              <a:rPr lang="en-US" sz="2000"/>
              <a:t>•   The goal is to partition a dataset into groups (clusters) such that data points within the same group are more similar to each other than to those in other groups.</a:t>
            </a:r>
          </a:p>
          <a:p>
            <a:endParaRPr lang="en-US" sz="2000"/>
          </a:p>
          <a:p>
            <a:r>
              <a:rPr lang="en-US" sz="2000"/>
              <a:t>•   It is primarily used for data exploration, pattern discovery, and identifying inherent structures within unlabeled datasets.</a:t>
            </a:r>
          </a:p>
          <a:p>
            <a:endParaRPr lang="en-US" sz="2000"/>
          </a:p>
          <a:p>
            <a:r>
              <a:rPr lang="en-US" sz="2000"/>
              <a:t>•   Unlike supervised learning, clustering does not require pre-labeled output data.</a:t>
            </a:r>
          </a:p>
          <a:p>
            <a:endParaRPr lang="en-US" sz="2000"/>
          </a:p>
          <a:p>
            <a:r>
              <a:rPr lang="en-US" sz="2000"/>
              <a:t>•   Key applications include customer segmentation, image segmentation, and anomaly detection.</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Unsupervised Learning: Clustering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91613932"/>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K-Means is a popular clustering algorithm that partitions data into a pre-defined number of (K) clusters.</a:t>
            </a:r>
          </a:p>
          <a:p>
            <a:endParaRPr lang="en-US" sz="2000"/>
          </a:p>
          <a:p>
            <a:r>
              <a:rPr lang="en-US" sz="2000"/>
              <a:t>•   It operates by minimizing the sum of squared distances between data points and the centroid of their respective clusters.</a:t>
            </a:r>
          </a:p>
          <a:p>
            <a:endParaRPr lang="en-US" sz="2000"/>
          </a:p>
          <a:p>
            <a:r>
              <a:rPr lang="en-US" sz="2000"/>
              <a:t>• Algorithm Steps: 1) Initialize K cluster centroids randomly. 2) Assign each data point to its nearest centroid. 3) Recalculate centroids as the mean of all points in each cluster. 4) Repeat steps 2-3 until centroids no longer change significantly.</a:t>
            </a:r>
          </a:p>
          <a:p>
            <a:endParaRPr lang="en-US" sz="2000"/>
          </a:p>
          <a:p>
            <a:r>
              <a:rPr lang="en-US" sz="2000"/>
              <a:t>• Pros: Simple, computationally efficient, and effective for well-separated, spherical clusters.</a:t>
            </a:r>
          </a:p>
          <a:p>
            <a:endParaRPr lang="en-US" sz="2000"/>
          </a:p>
          <a:p>
            <a:r>
              <a:rPr lang="en-US" sz="2000"/>
              <a:t>• Cons: Requires specifying the number of clusters (K) in advance and is sensitive to the initial placement of centroids.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K-Means Clustering Algorithm</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283234096"/>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DBSCAN (Density-Based Spatial Clustering of Applications with Noise) identifies clusters of arbitrary shapes and can handle noise (outliers).</a:t>
            </a:r>
          </a:p>
          <a:p>
            <a:endParaRPr lang="en-US" sz="2000"/>
          </a:p>
          <a:p>
            <a:r>
              <a:rPr lang="en-US" sz="2000"/>
              <a:t>•   Unlike K-Means, it does not require specifying the number of clusters beforehand; instead, it defines clusters based on the density of data points.</a:t>
            </a:r>
          </a:p>
          <a:p>
            <a:endParaRPr lang="en-US" sz="2000"/>
          </a:p>
          <a:p>
            <a:r>
              <a:rPr lang="en-US" sz="2000"/>
              <a:t>• Algorithm Steps: It works by selecting an arbitrary unvisited data point, retrieving its neighbors within a specified radius (epsilon), and if enough neighbors (min_samples) are found, a cluster is formed and expanded.</a:t>
            </a:r>
          </a:p>
          <a:p>
            <a:endParaRPr lang="en-US" sz="2000"/>
          </a:p>
          <a:p>
            <a:r>
              <a:rPr lang="en-US" sz="2000"/>
              <a:t>•   Points that do not belong to any dense region are classified as noise or outliers.</a:t>
            </a:r>
          </a:p>
          <a:p>
            <a:endParaRPr lang="en-US" sz="2000"/>
          </a:p>
          <a:p>
            <a:r>
              <a:rPr lang="en-US" sz="2000"/>
              <a:t>• Pros: Robust to noise, discovers clusters of complex, non-linear shapes.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DBSCAN Clustering Algorithm</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883140034"/>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Hierarchical Clustering creates a hierarchy of clusters, represented visually by a tree-like structure called a dendrogram.</a:t>
            </a:r>
          </a:p>
          <a:p>
            <a:endParaRPr lang="en-US" sz="2000"/>
          </a:p>
          <a:p>
            <a:r>
              <a:rPr lang="en-US" sz="2000"/>
              <a:t>• Agglomerative Clustering (Bottom-Up): Starts with each data point as its own cluster and iteratively merges the closest clusters until only one cluster remains.</a:t>
            </a:r>
          </a:p>
          <a:p>
            <a:endParaRPr lang="en-US" sz="2000"/>
          </a:p>
          <a:p>
            <a:r>
              <a:rPr lang="en-US" sz="2000"/>
              <a:t>• Divisive Clustering (Top-Down): Begins with all data points in a single cluster and recursively divides them into smaller ones.</a:t>
            </a:r>
          </a:p>
          <a:p>
            <a:endParaRPr lang="en-US" sz="2000"/>
          </a:p>
          <a:p>
            <a:r>
              <a:rPr lang="en-US" sz="2000"/>
              <a:t>•   The dendrogram allows users to observe the merging or splitting process and select the desired number of clusters by cutting the tree at an appropriate level.</a:t>
            </a:r>
          </a:p>
          <a:p>
            <a:endParaRPr lang="en-US" sz="2000"/>
          </a:p>
          <a:p>
            <a:r>
              <a:rPr lang="en-US" sz="2000"/>
              <a:t>• Pros: Does not require specifying the number of clusters in advance and provides a clear visual hierarchy.</a:t>
            </a:r>
          </a:p>
          <a:p>
            <a:endParaRPr lang="en-US" sz="2000"/>
          </a:p>
          <a:p>
            <a:r>
              <a:rPr lang="en-US" sz="2000"/>
              <a:t>• Cons: Can be computationally expensive for very large datasets, limiting its scalability.</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Hierarchical Clustering Approaches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954533827"/>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K-Means: Best suited for datasets with distinct, spherical clusters and when the number of clusters (K) is known or can be estimated.</a:t>
            </a:r>
          </a:p>
          <a:p>
            <a:endParaRPr lang="en-US" sz="2000"/>
          </a:p>
          <a:p>
            <a:r>
              <a:rPr lang="en-US" sz="2000"/>
              <a:t>• DBSCAN: Ideal for identifying clusters of arbitrary shapes, handling noise effectively, and when the number of clusters is unknown.</a:t>
            </a:r>
          </a:p>
          <a:p>
            <a:endParaRPr lang="en-US" sz="2000"/>
          </a:p>
          <a:p>
            <a:r>
              <a:rPr lang="en-US" sz="2000"/>
              <a:t>• Hierarchical Clustering: Provides a detailed, multi-level view of data relationships, useful for exploring nested structures or when flexibility in cluster count is desired.</a:t>
            </a:r>
          </a:p>
          <a:p>
            <a:endParaRPr lang="en-US" sz="2000"/>
          </a:p>
          <a:p>
            <a:r>
              <a:rPr lang="en-US" sz="2000"/>
              <a:t>•   The selection of a clustering technique depends on the nature of your data (e.g., cluster shape, density, presence of outliers).</a:t>
            </a:r>
          </a:p>
          <a:p>
            <a:endParaRPr lang="en-US" sz="2000"/>
          </a:p>
          <a:p>
            <a:r>
              <a:rPr lang="en-US" sz="2000"/>
              <a:t>•   Consider factors like interpretability, computational complexity, and the specific goals of your analysis when making your choice.</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Choosing the Right Clustering Technique</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809243119"/>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 In Logistic Regression, what does the Odds Ratio of an independent variable being 2.5 signify?</a:t>
            </a:r>
          </a:p>
          <a:p>
            <a:r>
              <a:rPr lang="en-US" sz="2000"/>
              <a:t>A) For every one-unit increase in the independent variable, the probability of the dependent variable occurring increases by 2.5%.</a:t>
            </a:r>
          </a:p>
          <a:p>
            <a:r>
              <a:rPr lang="en-US" sz="2000"/>
              <a:t>B) For every one-unit increase in the independent variable, the odds of the dependent variable occurring are 2.5 times higher.</a:t>
            </a:r>
          </a:p>
          <a:p>
            <a:r>
              <a:rPr lang="en-US" sz="2000"/>
              <a:t>C) The independent variable is 2.5 times more important than other variables in the model.</a:t>
            </a:r>
          </a:p>
          <a:p>
            <a:r>
              <a:rPr lang="en-US" sz="2000"/>
              <a:t>D) The model's accuracy is 2.5% higher when this variable is included.</a:t>
            </a:r>
          </a:p>
          <a:p>
            <a:endParaRPr lang="en-US" sz="2000" dirty="0"/>
          </a:p>
        </p:txBody>
      </p:sp>
    </p:spTree>
    <p:extLst>
      <p:ext uri="{BB962C8B-B14F-4D97-AF65-F5344CB8AC3E}">
        <p14:creationId xmlns:p14="http://schemas.microsoft.com/office/powerpoint/2010/main" val="2577927336"/>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lnSpcReduction="10000"/>
          </a:bodyPr>
          <a:lstStyle/>
          <a:p>
            <a:r>
              <a:rPr lang="en-US" sz="2000"/>
              <a:t>Question 1: In Logistic Regression, what does the Odds Ratio of an independent variable being 2.5 signify?</a:t>
            </a:r>
          </a:p>
          <a:p>
            <a:r>
              <a:rPr lang="en-US" sz="2000"/>
              <a:t>A) For every one-unit increase in the independent variable, the probability of the dependent variable occurring increases by 2.5%.</a:t>
            </a:r>
          </a:p>
          <a:p>
            <a:r>
              <a:rPr lang="en-US" sz="2000"/>
              <a:t>B) For every one-unit increase in the independent variable, the odds of the dependent variable occurring are 2.5 times higher.</a:t>
            </a:r>
          </a:p>
          <a:p>
            <a:r>
              <a:rPr lang="en-US" sz="2000"/>
              <a:t>C) The independent variable is 2.5 times more important than other variables in the model.</a:t>
            </a:r>
          </a:p>
          <a:p>
            <a:r>
              <a:rPr lang="en-US" sz="2000"/>
              <a:t>D) The model's accuracy is 2.5% higher when this variable is included.</a:t>
            </a:r>
          </a:p>
          <a:p>
            <a:endParaRPr lang="en-US" sz="2000"/>
          </a:p>
          <a:p>
            <a:endParaRPr lang="en-US" sz="2000"/>
          </a:p>
          <a:p>
            <a:r>
              <a:rPr lang="en-US" sz="2000" b="1"/>
              <a:t>Correct Answer: B) For every one-unit increase in the independent variable, the odds of the dependent variable occurring are 2.5 times higher.</a:t>
            </a:r>
          </a:p>
          <a:p>
            <a:r>
              <a:rPr lang="en-US" sz="2000" b="1"/>
              <a:t>Explanation: The odds ratio in logistic regression quantifies the multiplicative change in the odds of the dependent variable's outcome for a one-unit change in an independent variable, holding other variables constant. An odds ratio of 2.5 means the odds are 2.5 times greater.</a:t>
            </a:r>
          </a:p>
          <a:p>
            <a:endParaRPr lang="en-US" sz="2000" b="1"/>
          </a:p>
          <a:p>
            <a:endParaRPr lang="en-US" sz="2000" dirty="0"/>
          </a:p>
        </p:txBody>
      </p:sp>
    </p:spTree>
    <p:extLst>
      <p:ext uri="{BB962C8B-B14F-4D97-AF65-F5344CB8AC3E}">
        <p14:creationId xmlns:p14="http://schemas.microsoft.com/office/powerpoint/2010/main" val="3812963048"/>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 Which of the following statements about the Area Under the Receiver Operating Characteristic (AUC-ROC) curve is true?</a:t>
            </a:r>
          </a:p>
          <a:p>
            <a:r>
              <a:rPr lang="en-US" sz="2000"/>
              <a:t>A) An AUC value of 0.5 indicates a perfect classifier.</a:t>
            </a:r>
          </a:p>
          <a:p>
            <a:r>
              <a:rPr lang="en-US" sz="2000"/>
              <a:t>B) AUC is primarily used for evaluating regression models.</a:t>
            </a:r>
          </a:p>
          <a:p>
            <a:r>
              <a:rPr lang="en-US" sz="2000"/>
              <a:t>C) A higher AUC value (closer to 1.0) signifies better model discriminatory power.</a:t>
            </a:r>
          </a:p>
          <a:p>
            <a:r>
              <a:rPr lang="en-US" sz="2000"/>
              <a:t>D) AUC provides insights into the optimal classification threshold.</a:t>
            </a:r>
          </a:p>
          <a:p>
            <a:endParaRPr lang="en-US" sz="2000" dirty="0"/>
          </a:p>
        </p:txBody>
      </p:sp>
    </p:spTree>
    <p:extLst>
      <p:ext uri="{BB962C8B-B14F-4D97-AF65-F5344CB8AC3E}">
        <p14:creationId xmlns:p14="http://schemas.microsoft.com/office/powerpoint/2010/main" val="1239421515"/>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 Which of the following statements about the Area Under the Receiver Operating Characteristic (AUC-ROC) curve is true?</a:t>
            </a:r>
          </a:p>
          <a:p>
            <a:r>
              <a:rPr lang="en-US" sz="2000"/>
              <a:t>A) An AUC value of 0.5 indicates a perfect classifier.</a:t>
            </a:r>
          </a:p>
          <a:p>
            <a:r>
              <a:rPr lang="en-US" sz="2000"/>
              <a:t>B) AUC is primarily used for evaluating regression models.</a:t>
            </a:r>
          </a:p>
          <a:p>
            <a:r>
              <a:rPr lang="en-US" sz="2000"/>
              <a:t>C) A higher AUC value (closer to 1.0) signifies better model discriminatory power.</a:t>
            </a:r>
          </a:p>
          <a:p>
            <a:r>
              <a:rPr lang="en-US" sz="2000"/>
              <a:t>D) AUC provides insights into the optimal classification threshold.</a:t>
            </a:r>
          </a:p>
          <a:p>
            <a:endParaRPr lang="en-US" sz="2000"/>
          </a:p>
          <a:p>
            <a:endParaRPr lang="en-US" sz="2000"/>
          </a:p>
          <a:p>
            <a:r>
              <a:rPr lang="en-US" sz="2000" b="1"/>
              <a:t>Correct Answer: C) A higher AUC value (closer to 1.0) signifies better model discriminatory power.</a:t>
            </a:r>
          </a:p>
          <a:p>
            <a:r>
              <a:rPr lang="en-US" sz="2000" b="1"/>
              <a:t>Explanation: AUC quantifies the overall performance of a binary classifier, where 1.0 is a perfect model and 0.5 is equivalent to random chance. It does not directly indicate an optimal threshold, and it is specifically used for evaluating classification models, not regression.</a:t>
            </a:r>
          </a:p>
          <a:p>
            <a:endParaRPr lang="en-US" sz="2000" b="1"/>
          </a:p>
          <a:p>
            <a:endParaRPr lang="en-US" sz="2000" dirty="0"/>
          </a:p>
        </p:txBody>
      </p:sp>
    </p:spTree>
    <p:extLst>
      <p:ext uri="{BB962C8B-B14F-4D97-AF65-F5344CB8AC3E}">
        <p14:creationId xmlns:p14="http://schemas.microsoft.com/office/powerpoint/2010/main" val="430316911"/>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3: What is a key limitation of using ROC curves and AUC analysis for model evaluation?</a:t>
            </a:r>
          </a:p>
          <a:p>
            <a:r>
              <a:rPr lang="en-US" sz="2000"/>
              <a:t>A) They are computationally expensive to generate.</a:t>
            </a:r>
          </a:p>
          <a:p>
            <a:r>
              <a:rPr lang="en-US" sz="2000"/>
              <a:t>B) They cannot be used to compare different classification models.</a:t>
            </a:r>
          </a:p>
          <a:p>
            <a:r>
              <a:rPr lang="en-US" sz="2000"/>
              <a:t>C) They are sensitive to class imbalance, potentially giving a misleading impression of performance.</a:t>
            </a:r>
          </a:p>
          <a:p>
            <a:r>
              <a:rPr lang="en-US" sz="2000"/>
              <a:t>D) They only work for models with exactly two independent variables.</a:t>
            </a:r>
          </a:p>
          <a:p>
            <a:endParaRPr lang="en-US" sz="2000" dirty="0"/>
          </a:p>
        </p:txBody>
      </p:sp>
    </p:spTree>
    <p:extLst>
      <p:ext uri="{BB962C8B-B14F-4D97-AF65-F5344CB8AC3E}">
        <p14:creationId xmlns:p14="http://schemas.microsoft.com/office/powerpoint/2010/main" val="1365434883"/>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3: What is a key limitation of using ROC curves and AUC analysis for model evaluation?</a:t>
            </a:r>
          </a:p>
          <a:p>
            <a:r>
              <a:rPr lang="en-US" sz="2000"/>
              <a:t>A) They are computationally expensive to generate.</a:t>
            </a:r>
          </a:p>
          <a:p>
            <a:r>
              <a:rPr lang="en-US" sz="2000"/>
              <a:t>B) They cannot be used to compare different classification models.</a:t>
            </a:r>
          </a:p>
          <a:p>
            <a:r>
              <a:rPr lang="en-US" sz="2000"/>
              <a:t>C) They are sensitive to class imbalance, potentially giving a misleading impression of performance.</a:t>
            </a:r>
          </a:p>
          <a:p>
            <a:r>
              <a:rPr lang="en-US" sz="2000"/>
              <a:t>D) They only work for models with exactly two independent variables.</a:t>
            </a:r>
          </a:p>
          <a:p>
            <a:endParaRPr lang="en-US" sz="2000"/>
          </a:p>
          <a:p>
            <a:endParaRPr lang="en-US" sz="2000"/>
          </a:p>
          <a:p>
            <a:r>
              <a:rPr lang="en-US" sz="2000" b="1"/>
              <a:t>Correct Answer: C) They are sensitive to class imbalance, potentially giving a misleading impression of performance.</a:t>
            </a:r>
          </a:p>
          <a:p>
            <a:r>
              <a:rPr lang="en-US" sz="2000" b="1"/>
              <a:t>Explanation: The provided text explicitly states that "ROC curves and AUC can be sensitive to class imbalance, so it's essential to consider the distribution of the target variable," as it can skew the perception of a model's true performance.</a:t>
            </a:r>
          </a:p>
          <a:p>
            <a:endParaRPr lang="en-US" sz="2000" b="1"/>
          </a:p>
          <a:p>
            <a:endParaRPr lang="en-US" sz="2000" dirty="0"/>
          </a:p>
        </p:txBody>
      </p:sp>
    </p:spTree>
    <p:extLst>
      <p:ext uri="{BB962C8B-B14F-4D97-AF65-F5344CB8AC3E}">
        <p14:creationId xmlns:p14="http://schemas.microsoft.com/office/powerpoint/2010/main" val="3384158858"/>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4: In K-Means clustering, what does the 'K' represent?</a:t>
            </a:r>
          </a:p>
          <a:p>
            <a:r>
              <a:rPr lang="en-US" sz="2000"/>
              <a:t>A) The number of features in the dataset.</a:t>
            </a:r>
          </a:p>
          <a:p>
            <a:r>
              <a:rPr lang="en-US" sz="2000"/>
              <a:t>B) The maximum number of iterations the algorithm will run.</a:t>
            </a:r>
          </a:p>
          <a:p>
            <a:r>
              <a:rPr lang="en-US" sz="2000"/>
              <a:t>C) The number of clusters to be formed.</a:t>
            </a:r>
          </a:p>
          <a:p>
            <a:r>
              <a:rPr lang="en-US" sz="2000"/>
              <a:t>D) The density threshold for forming clusters.</a:t>
            </a:r>
          </a:p>
          <a:p>
            <a:endParaRPr lang="en-US" sz="2000" dirty="0"/>
          </a:p>
        </p:txBody>
      </p:sp>
    </p:spTree>
    <p:extLst>
      <p:ext uri="{BB962C8B-B14F-4D97-AF65-F5344CB8AC3E}">
        <p14:creationId xmlns:p14="http://schemas.microsoft.com/office/powerpoint/2010/main" val="3403332904"/>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4: In K-Means clustering, what does the 'K' represent?</a:t>
            </a:r>
          </a:p>
          <a:p>
            <a:r>
              <a:rPr lang="en-US" sz="2000"/>
              <a:t>A) The number of features in the dataset.</a:t>
            </a:r>
          </a:p>
          <a:p>
            <a:r>
              <a:rPr lang="en-US" sz="2000"/>
              <a:t>B) The maximum number of iterations the algorithm will run.</a:t>
            </a:r>
          </a:p>
          <a:p>
            <a:r>
              <a:rPr lang="en-US" sz="2000"/>
              <a:t>C) The number of clusters to be formed.</a:t>
            </a:r>
          </a:p>
          <a:p>
            <a:r>
              <a:rPr lang="en-US" sz="2000"/>
              <a:t>D) The density threshold for forming clusters.</a:t>
            </a:r>
          </a:p>
          <a:p>
            <a:endParaRPr lang="en-US" sz="2000"/>
          </a:p>
          <a:p>
            <a:endParaRPr lang="en-US" sz="2000"/>
          </a:p>
          <a:p>
            <a:r>
              <a:rPr lang="en-US" sz="2000" b="1"/>
              <a:t>Correct Answer: C) The number of clusters to be formed.</a:t>
            </a:r>
          </a:p>
          <a:p>
            <a:r>
              <a:rPr lang="en-US" sz="2000" b="1"/>
              <a:t>Explanation: K-Means clustering algorithm requires the user to specify 'K', the desired number of clusters, before the algorithm starts partitioning the data.</a:t>
            </a:r>
          </a:p>
          <a:p>
            <a:endParaRPr lang="en-US" sz="2000" b="1"/>
          </a:p>
          <a:p>
            <a:endParaRPr lang="en-US" sz="2000" dirty="0"/>
          </a:p>
        </p:txBody>
      </p:sp>
    </p:spTree>
    <p:extLst>
      <p:ext uri="{BB962C8B-B14F-4D97-AF65-F5344CB8AC3E}">
        <p14:creationId xmlns:p14="http://schemas.microsoft.com/office/powerpoint/2010/main" val="4270878790"/>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 Which clustering algorithm is particularly effective at identifying clusters of arbitrary shapes and detecting noise (outliers)?</a:t>
            </a:r>
          </a:p>
          <a:p>
            <a:r>
              <a:rPr lang="en-US" sz="2000"/>
              <a:t>A) K-Means Clustering</a:t>
            </a:r>
          </a:p>
          <a:p>
            <a:r>
              <a:rPr lang="en-US" sz="2000"/>
              <a:t>B) Hierarchical Clustering (Agglomerative)</a:t>
            </a:r>
          </a:p>
          <a:p>
            <a:r>
              <a:rPr lang="en-US" sz="2000"/>
              <a:t>C) DBSCAN (Density-Based Spatial Clustering of Applications with Noise)</a:t>
            </a:r>
          </a:p>
          <a:p>
            <a:r>
              <a:rPr lang="en-US" sz="2000"/>
              <a:t>D) Divisive Hierarchical Clustering</a:t>
            </a:r>
          </a:p>
          <a:p>
            <a:endParaRPr lang="en-US" sz="2000" dirty="0"/>
          </a:p>
        </p:txBody>
      </p:sp>
    </p:spTree>
    <p:extLst>
      <p:ext uri="{BB962C8B-B14F-4D97-AF65-F5344CB8AC3E}">
        <p14:creationId xmlns:p14="http://schemas.microsoft.com/office/powerpoint/2010/main" val="2591959296"/>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 Which clustering algorithm is particularly effective at identifying clusters of arbitrary shapes and detecting noise (outliers)?</a:t>
            </a:r>
          </a:p>
          <a:p>
            <a:r>
              <a:rPr lang="en-US" sz="2000"/>
              <a:t>A) K-Means Clustering</a:t>
            </a:r>
          </a:p>
          <a:p>
            <a:r>
              <a:rPr lang="en-US" sz="2000"/>
              <a:t>B) Hierarchical Clustering (Agglomerative)</a:t>
            </a:r>
          </a:p>
          <a:p>
            <a:r>
              <a:rPr lang="en-US" sz="2000"/>
              <a:t>C) DBSCAN (Density-Based Spatial Clustering of Applications with Noise)</a:t>
            </a:r>
          </a:p>
          <a:p>
            <a:r>
              <a:rPr lang="en-US" sz="2000"/>
              <a:t>D) Divisive Hierarchical Clustering</a:t>
            </a:r>
          </a:p>
          <a:p>
            <a:endParaRPr lang="en-US" sz="2000"/>
          </a:p>
          <a:p>
            <a:endParaRPr lang="en-US" sz="2000"/>
          </a:p>
          <a:p>
            <a:r>
              <a:rPr lang="en-US" sz="2000" b="1"/>
              <a:t>Correct Answer: C) DBSCAN (Density-Based Spatial Clustering of Applications with Noise)</a:t>
            </a:r>
          </a:p>
          <a:p>
            <a:r>
              <a:rPr lang="en-US" sz="2000" b="1"/>
              <a:t>Explanation: DBSCAN defines clusters based on the density of data points and is well-suited to discover clusters of irregular shapes and also identifies outliers as "noise" points that do not belong to any dense region.</a:t>
            </a:r>
          </a:p>
          <a:p>
            <a:endParaRPr lang="en-US" sz="2000" b="1"/>
          </a:p>
          <a:p>
            <a:endParaRPr lang="en-US" sz="2000" dirty="0"/>
          </a:p>
        </p:txBody>
      </p:sp>
    </p:spTree>
    <p:extLst>
      <p:ext uri="{BB962C8B-B14F-4D97-AF65-F5344CB8AC3E}">
        <p14:creationId xmlns:p14="http://schemas.microsoft.com/office/powerpoint/2010/main" val="4242382249"/>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6: A marketing team wants to segment customers based on their purchasing behavior to tailor marketing campaigns, but they have no prior labels for customer groups. Which machine learning technique would be most appropriate for this task?</a:t>
            </a:r>
          </a:p>
          <a:p>
            <a:r>
              <a:rPr lang="en-US" sz="2000"/>
              <a:t>A) Linear Regression</a:t>
            </a:r>
          </a:p>
          <a:p>
            <a:r>
              <a:rPr lang="en-US" sz="2000"/>
              <a:t>B) Logistic Regression</a:t>
            </a:r>
          </a:p>
          <a:p>
            <a:r>
              <a:rPr lang="en-US" sz="2000"/>
              <a:t>C) K-Means Clustering</a:t>
            </a:r>
          </a:p>
          <a:p>
            <a:r>
              <a:rPr lang="en-US" sz="2000"/>
              <a:t>D) Decision Tree Classification</a:t>
            </a:r>
          </a:p>
          <a:p>
            <a:endParaRPr lang="en-US" sz="2000" dirty="0"/>
          </a:p>
        </p:txBody>
      </p:sp>
    </p:spTree>
    <p:extLst>
      <p:ext uri="{BB962C8B-B14F-4D97-AF65-F5344CB8AC3E}">
        <p14:creationId xmlns:p14="http://schemas.microsoft.com/office/powerpoint/2010/main" val="4050290365"/>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6: A marketing team wants to segment customers based on their purchasing behavior to tailor marketing campaigns, but they have no prior labels for customer groups. Which machine learning technique would be most appropriate for this task?</a:t>
            </a:r>
          </a:p>
          <a:p>
            <a:r>
              <a:rPr lang="en-US" sz="2000"/>
              <a:t>A) Linear Regression</a:t>
            </a:r>
          </a:p>
          <a:p>
            <a:r>
              <a:rPr lang="en-US" sz="2000"/>
              <a:t>B) Logistic Regression</a:t>
            </a:r>
          </a:p>
          <a:p>
            <a:r>
              <a:rPr lang="en-US" sz="2000"/>
              <a:t>C) K-Means Clustering</a:t>
            </a:r>
          </a:p>
          <a:p>
            <a:r>
              <a:rPr lang="en-US" sz="2000"/>
              <a:t>D) Decision Tree Classification</a:t>
            </a:r>
          </a:p>
          <a:p>
            <a:endParaRPr lang="en-US" sz="2000"/>
          </a:p>
          <a:p>
            <a:endParaRPr lang="en-US" sz="2000"/>
          </a:p>
          <a:p>
            <a:r>
              <a:rPr lang="en-US" sz="2000" b="1"/>
              <a:t>Correct Answer: C) K-Means Clustering</a:t>
            </a:r>
          </a:p>
          <a:p>
            <a:r>
              <a:rPr lang="en-US" sz="2000" b="1"/>
              <a:t>Explanation: Customer segmentation without prior labels is an unsupervised learning task aimed at grouping similar data points. K-Means clustering is a widely used and effective unsupervised technique for this purpose, allowing the identification of distinct customer groups based on their attributes.</a:t>
            </a:r>
          </a:p>
          <a:p>
            <a:endParaRPr lang="en-US" sz="2000" b="1"/>
          </a:p>
          <a:p>
            <a:endParaRPr lang="en-US" sz="2000" dirty="0"/>
          </a:p>
        </p:txBody>
      </p:sp>
    </p:spTree>
    <p:extLst>
      <p:ext uri="{BB962C8B-B14F-4D97-AF65-F5344CB8AC3E}">
        <p14:creationId xmlns:p14="http://schemas.microsoft.com/office/powerpoint/2010/main" val="1022739706"/>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7: What is a significant drawback of Hierarchical Clustering when dealing with very large datasets?</a:t>
            </a:r>
          </a:p>
          <a:p>
            <a:r>
              <a:rPr lang="en-US" sz="2000"/>
              <a:t>A) It is sensitive to the initial placement of centroids.</a:t>
            </a:r>
          </a:p>
          <a:p>
            <a:r>
              <a:rPr lang="en-US" sz="2000"/>
              <a:t>B) It cannot identify clusters of arbitrary shapes.</a:t>
            </a:r>
          </a:p>
          <a:p>
            <a:r>
              <a:rPr lang="en-US" sz="2000"/>
              <a:t>C) It is computationally expensive, especially for large datasets.</a:t>
            </a:r>
          </a:p>
          <a:p>
            <a:r>
              <a:rPr lang="en-US" sz="2000"/>
              <a:t>D) It always requires specifying the number of clusters in advance.</a:t>
            </a:r>
          </a:p>
          <a:p>
            <a:endParaRPr lang="en-US" sz="2000" dirty="0"/>
          </a:p>
        </p:txBody>
      </p:sp>
    </p:spTree>
    <p:extLst>
      <p:ext uri="{BB962C8B-B14F-4D97-AF65-F5344CB8AC3E}">
        <p14:creationId xmlns:p14="http://schemas.microsoft.com/office/powerpoint/2010/main" val="3363935145"/>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7: What is a significant drawback of Hierarchical Clustering when dealing with very large datasets?</a:t>
            </a:r>
          </a:p>
          <a:p>
            <a:r>
              <a:rPr lang="en-US" sz="2000"/>
              <a:t>A) It is sensitive to the initial placement of centroids.</a:t>
            </a:r>
          </a:p>
          <a:p>
            <a:r>
              <a:rPr lang="en-US" sz="2000"/>
              <a:t>B) It cannot identify clusters of arbitrary shapes.</a:t>
            </a:r>
          </a:p>
          <a:p>
            <a:r>
              <a:rPr lang="en-US" sz="2000"/>
              <a:t>C) It is computationally expensive, especially for large datasets.</a:t>
            </a:r>
          </a:p>
          <a:p>
            <a:r>
              <a:rPr lang="en-US" sz="2000"/>
              <a:t>D) It always requires specifying the number of clusters in advance.</a:t>
            </a:r>
          </a:p>
          <a:p>
            <a:endParaRPr lang="en-US" sz="2000"/>
          </a:p>
          <a:p>
            <a:endParaRPr lang="en-US" sz="2000"/>
          </a:p>
          <a:p>
            <a:r>
              <a:rPr lang="en-US" sz="2000" b="1"/>
              <a:t>Correct Answer: C) It is computationally expensive, especially for large datasets.</a:t>
            </a:r>
          </a:p>
          <a:p>
            <a:r>
              <a:rPr lang="en-US" sz="2000" b="1"/>
              <a:t>Explanation: The provided text explicitly lists among the cons of Hierarchical Clustering that it "Can be computationally expensive for large datasets." The other options are either incorrect or less significant drawbacks for this technique.</a:t>
            </a:r>
          </a:p>
          <a:p>
            <a:endParaRPr lang="en-US" sz="2000" b="1"/>
          </a:p>
          <a:p>
            <a:endParaRPr lang="en-US" sz="2000" dirty="0"/>
          </a:p>
        </p:txBody>
      </p:sp>
    </p:spTree>
    <p:extLst>
      <p:ext uri="{BB962C8B-B14F-4D97-AF65-F5344CB8AC3E}">
        <p14:creationId xmlns:p14="http://schemas.microsoft.com/office/powerpoint/2010/main" val="2959458339"/>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fontScale="92500" lnSpcReduction="20000"/>
          </a:bodyPr>
          <a:lstStyle/>
          <a:p>
            <a:pPr algn="just"/>
            <a:endParaRPr lang="en-US" sz="2000" dirty="0"/>
          </a:p>
          <a:p>
            <a:pPr algn="just"/>
            <a:endParaRPr lang="en-US" sz="2000" dirty="0"/>
          </a:p>
          <a:p>
            <a:pPr algn="just"/>
            <a:r>
              <a:rPr lang="en-US" sz="2000" dirty="0"/>
              <a:t>A new streaming service, "</a:t>
            </a:r>
            <a:r>
              <a:rPr lang="en-US" sz="2000" dirty="0" err="1"/>
              <a:t>StreamVerse</a:t>
            </a:r>
            <a:r>
              <a:rPr lang="en-US" sz="2000" dirty="0"/>
              <a:t>," is trying to understand its customer base better. They collect data on user activity, including the total hours watched per week, the number of unique genres explored, and whether a customer has canceled their subscription within the first six months (a binary outcome: 0 for active, 1 for churned).</a:t>
            </a:r>
          </a:p>
          <a:p>
            <a:pPr algn="just"/>
            <a:endParaRPr lang="en-US" sz="2000" dirty="0"/>
          </a:p>
          <a:p>
            <a:pPr algn="just"/>
            <a:r>
              <a:rPr lang="en-US" sz="2000" dirty="0"/>
              <a:t>The marketing team wants to achieve two main goals:</a:t>
            </a:r>
          </a:p>
          <a:p>
            <a:pPr algn="just"/>
            <a:r>
              <a:rPr lang="en-US" sz="2000" dirty="0"/>
              <a:t>1.  Identify patterns of customer churn: They want to predict which customers are likely to churn based on their viewing habits to implement proactive retention strategies.</a:t>
            </a:r>
          </a:p>
          <a:p>
            <a:pPr algn="just"/>
            <a:r>
              <a:rPr lang="en-US" sz="2000" dirty="0"/>
              <a:t>2.  Segment active customers: For customers who haven't churned, they want to group them into distinct segments based on their viewing patterns (hours watched, genres explored) to personalize content recommendations and marketing offers.</a:t>
            </a:r>
          </a:p>
          <a:p>
            <a:pPr algn="just"/>
            <a:endParaRPr lang="en-US" sz="2000" dirty="0"/>
          </a:p>
          <a:p>
            <a:pPr algn="just"/>
            <a:r>
              <a:rPr lang="en-US" sz="2000" dirty="0"/>
              <a:t>Your Challenge:</a:t>
            </a:r>
          </a:p>
          <a:p>
            <a:pPr algn="just"/>
            <a:r>
              <a:rPr lang="en-US" sz="2000" dirty="0"/>
              <a:t>For each of </a:t>
            </a:r>
            <a:r>
              <a:rPr lang="en-US" sz="2000" dirty="0" err="1"/>
              <a:t>StreamVerse's</a:t>
            </a:r>
            <a:r>
              <a:rPr lang="en-US" sz="2000" dirty="0"/>
              <a:t> goals, suggest the most appropriate machine learning technique from the ones discussed (Logistic Regression, K-Means, DBSCAN, Hierarchical Clustering) and briefly explain why it is the most suitable choice, considering the nature of the data and the problem.</a:t>
            </a:r>
          </a:p>
          <a:p>
            <a:pPr algn="just"/>
            <a:endParaRPr lang="en-US" sz="2000" dirty="0"/>
          </a:p>
          <a:p>
            <a:pPr algn="just"/>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1096964438"/>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fontScale="70000" lnSpcReduction="20000"/>
          </a:bodyPr>
          <a:lstStyle/>
          <a:p>
            <a:r>
              <a:rPr lang="en-US" sz="2000"/>
              <a:t>Solution:</a:t>
            </a:r>
          </a:p>
          <a:p>
            <a:endParaRPr lang="en-US" sz="2000"/>
          </a:p>
          <a:p>
            <a:endParaRPr lang="en-US" sz="2000"/>
          </a:p>
          <a:p>
            <a:r>
              <a:rPr lang="en-US" sz="2000"/>
              <a:t>Goal 1: Identify patterns of customer churn</a:t>
            </a:r>
          </a:p>
          <a:p>
            <a:r>
              <a:rPr lang="en-US" sz="2000"/>
              <a:t>Most Appropriate Technique: Logistic Regression</a:t>
            </a:r>
          </a:p>
          <a:p>
            <a:r>
              <a:rPr lang="en-US" sz="2000"/>
              <a:t>Explanation:</a:t>
            </a:r>
          </a:p>
          <a:p>
            <a:r>
              <a:rPr lang="en-US" sz="2000"/>
              <a:t>•   This task involves predicting a binary outcome (churn or no-churn), making it a classic binary classification problem.</a:t>
            </a:r>
          </a:p>
          <a:p>
            <a:r>
              <a:rPr lang="en-US" sz="2000"/>
              <a:t>•   Logistic Regression is specifically designed to model the probability of such binary outcomes based on given independent variables (like viewing hours and genres).</a:t>
            </a:r>
          </a:p>
          <a:p>
            <a:r>
              <a:rPr lang="en-US" sz="2000"/>
              <a:t>•   The model will help quantify the influence of various viewing habits on the likelihood of customer churn, providing actionable insights for targeted retention strategies.</a:t>
            </a:r>
          </a:p>
          <a:p>
            <a:endParaRPr lang="en-US" sz="2000"/>
          </a:p>
          <a:p>
            <a:r>
              <a:rPr lang="en-US" sz="2000"/>
              <a:t>Goal 2: Segment active customers</a:t>
            </a:r>
          </a:p>
          <a:p>
            <a:r>
              <a:rPr lang="en-US" sz="2000"/>
              <a:t>Most Appropriate Technique: K-Means Clustering (or Hierarchical Clustering)</a:t>
            </a:r>
          </a:p>
          <a:p>
            <a:r>
              <a:rPr lang="en-US" sz="2000"/>
              <a:t>Explanation:</a:t>
            </a:r>
          </a:p>
          <a:p>
            <a:r>
              <a:rPr lang="en-US" sz="2000"/>
              <a:t>•   This is an unsupervised learning problem where the objective is to discover inherent groupings within the active customer base without any pre-defined labels. Clustering algorithms are ideal for this.</a:t>
            </a:r>
          </a:p>
          <a:p>
            <a:r>
              <a:rPr lang="en-US" sz="2000"/>
              <a:t>•   K-Means Clustering is a strong candidate because it is efficient and effective for partitioning customers into distinct segments based on numerical features like "total hours watched" and "number of unique genres explored." The marketing team can then specify the number of desired segments.</a:t>
            </a:r>
          </a:p>
          <a:p>
            <a:r>
              <a:rPr lang="en-US" sz="2000"/>
              <a:t>•   Alternatively, Hierarchical Clustering could be used if the marketing team wants to explore a hierarchical structure of customer relationships and decide on the number of segments after visualizing the dendrogram, allowing for more nuanced segment definitions.</a:t>
            </a:r>
          </a:p>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3037573806"/>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Session Summary</a:t>
            </a:r>
            <a:endParaRPr lang="en-US" sz="2800" b="1" dirty="0">
              <a:solidFill>
                <a:srgbClr val="D9212B"/>
              </a:solidFill>
            </a:endParaRPr>
          </a:p>
        </p:txBody>
      </p:sp>
      <p:sp>
        <p:nvSpPr>
          <p:cNvPr id="5" name="Google Shape;135;p9"/>
          <p:cNvSpPr txBox="1"/>
          <p:nvPr/>
        </p:nvSpPr>
        <p:spPr>
          <a:xfrm>
            <a:off x="715540" y="1569935"/>
            <a:ext cx="11107652" cy="3219815"/>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Comprehend the principles of logistic regression for binary classification.</a:t>
            </a:r>
          </a:p>
          <a:p>
            <a:pPr>
              <a:lnSpc>
                <a:spcPct val="115000"/>
              </a:lnSpc>
              <a:spcAft>
                <a:spcPts val="1000"/>
              </a:spcAft>
            </a:pPr>
            <a:r>
              <a:rPr lang="en-US" dirty="0">
                <a:latin typeface=""/>
                <a:ea typeface="Times New Roman"/>
                <a:cs typeface="Times New Roman"/>
              </a:rPr>
              <a:t>•   Discover the logistic function and its role in logistic regression.</a:t>
            </a:r>
          </a:p>
          <a:p>
            <a:pPr>
              <a:lnSpc>
                <a:spcPct val="115000"/>
              </a:lnSpc>
              <a:spcAft>
                <a:spcPts val="1000"/>
              </a:spcAft>
            </a:pPr>
            <a:r>
              <a:rPr lang="en-US" dirty="0">
                <a:latin typeface=""/>
                <a:ea typeface="Times New Roman"/>
                <a:cs typeface="Times New Roman"/>
              </a:rPr>
              <a:t>•   Build logistic regression models to predict categorical outcomes.</a:t>
            </a:r>
          </a:p>
          <a:p>
            <a:pPr>
              <a:lnSpc>
                <a:spcPct val="115000"/>
              </a:lnSpc>
              <a:spcAft>
                <a:spcPts val="1000"/>
              </a:spcAft>
            </a:pPr>
            <a:r>
              <a:rPr lang="en-US" dirty="0">
                <a:latin typeface=""/>
                <a:ea typeface="Times New Roman"/>
                <a:cs typeface="Times New Roman"/>
              </a:rPr>
              <a:t>•   Gain insight into the concept of clustering and its applications.</a:t>
            </a:r>
          </a:p>
          <a:p>
            <a:pPr>
              <a:lnSpc>
                <a:spcPct val="115000"/>
              </a:lnSpc>
              <a:spcAft>
                <a:spcPts val="1000"/>
              </a:spcAft>
            </a:pPr>
            <a:r>
              <a:rPr lang="en-US" dirty="0">
                <a:latin typeface=""/>
                <a:ea typeface="Times New Roman"/>
                <a:cs typeface="Times New Roman"/>
              </a:rPr>
              <a:t>•   Explore various clustering algorithms such as K-means, DBSCAN, and hierarchical clustering.</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2541695000"/>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Learning Objectives 9</a:t>
            </a:r>
            <a:endParaRPr lang="en-US" sz="2800" b="1" dirty="0">
              <a:solidFill>
                <a:srgbClr val="D9212B"/>
              </a:solidFill>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96;p3"/>
          <p:cNvSpPr txBox="1"/>
          <p:nvPr/>
        </p:nvSpPr>
        <p:spPr>
          <a:xfrm>
            <a:off x="773393" y="1672895"/>
            <a:ext cx="8074981" cy="57134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000"/>
              <a:buFont typeface="Arial"/>
              <a:buNone/>
            </a:pPr>
            <a:r>
              <a:rPr lang="en-US" sz="2000" b="1" dirty="0">
                <a:solidFill>
                  <a:schemeClr val="dk1"/>
                </a:solidFill>
                <a:latin typeface="Avenir"/>
                <a:ea typeface="Avenir"/>
                <a:cs typeface="Avenir"/>
                <a:sym typeface="Avenir"/>
              </a:rPr>
              <a:t>By the end of this session, you will be able to:</a:t>
            </a:r>
            <a:endParaRPr dirty="0"/>
          </a:p>
        </p:txBody>
      </p:sp>
      <p:sp>
        <p:nvSpPr>
          <p:cNvPr id="5" name="Google Shape;98;p3"/>
          <p:cNvSpPr txBox="1"/>
          <p:nvPr/>
        </p:nvSpPr>
        <p:spPr>
          <a:xfrm>
            <a:off x="885636" y="2326538"/>
            <a:ext cx="10132884" cy="4175462"/>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Understand the fundamental importance of model evaluation in the machine learning workflow.</a:t>
            </a:r>
          </a:p>
          <a:p>
            <a:pPr>
              <a:lnSpc>
                <a:spcPct val="115000"/>
              </a:lnSpc>
              <a:spcAft>
                <a:spcPts val="1000"/>
              </a:spcAft>
            </a:pPr>
            <a:r>
              <a:rPr lang="en-US" dirty="0">
                <a:latin typeface=""/>
                <a:ea typeface="Times New Roman"/>
                <a:cs typeface="Times New Roman"/>
              </a:rPr>
              <a:t>•   Grasp various classification metrics, including Accuracy, Precision, Recall, F1-score, ROC Curve, AUC-ROC, and Confusion Matrix.</a:t>
            </a:r>
          </a:p>
          <a:p>
            <a:pPr>
              <a:lnSpc>
                <a:spcPct val="115000"/>
              </a:lnSpc>
              <a:spcAft>
                <a:spcPts val="1000"/>
              </a:spcAft>
            </a:pPr>
            <a:r>
              <a:rPr lang="en-US" dirty="0">
                <a:latin typeface=""/>
                <a:ea typeface="Times New Roman"/>
                <a:cs typeface="Times New Roman"/>
              </a:rPr>
              <a:t>•   Learn about different regression metrics such as Mean Absolute Error (MAE), Mean Squared Error (MSE), Root Mean Squared Error (RMSE), and R-squared.</a:t>
            </a:r>
          </a:p>
          <a:p>
            <a:pPr>
              <a:lnSpc>
                <a:spcPct val="115000"/>
              </a:lnSpc>
              <a:spcAft>
                <a:spcPts val="1000"/>
              </a:spcAft>
            </a:pPr>
            <a:r>
              <a:rPr lang="en-US" dirty="0">
                <a:latin typeface=""/>
                <a:ea typeface="Times New Roman"/>
                <a:cs typeface="Times New Roman"/>
              </a:rPr>
              <a:t>•   Explore the purpose and benefits of cross-validation techniques for robust model assessment.</a:t>
            </a:r>
          </a:p>
          <a:p>
            <a:pPr>
              <a:lnSpc>
                <a:spcPct val="115000"/>
              </a:lnSpc>
              <a:spcAft>
                <a:spcPts val="1000"/>
              </a:spcAft>
            </a:pPr>
            <a:r>
              <a:rPr lang="en-US" dirty="0">
                <a:latin typeface=""/>
                <a:ea typeface="Times New Roman"/>
                <a:cs typeface="Times New Roman"/>
              </a:rPr>
              <a:t>•   Differentiate between various cross-validation methods like k-Fold, Leave-One-Out, and Stratified.</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3613701651"/>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Model evaluation is a crucial step in the machine learning pipeline, assessing a trained model's performance.</a:t>
            </a:r>
          </a:p>
          <a:p>
            <a:endParaRPr lang="en-US" sz="2000"/>
          </a:p>
          <a:p>
            <a:r>
              <a:rPr lang="en-US" sz="2000"/>
              <a:t>•   It determines how well a model generalizes to new, unseen data, preventing overfitting or underfitting.</a:t>
            </a:r>
          </a:p>
          <a:p>
            <a:endParaRPr lang="en-US" sz="2000"/>
          </a:p>
          <a:p>
            <a:r>
              <a:rPr lang="en-US" sz="2000"/>
              <a:t>•   Evaluation helps in making informed decisions regarding model selection and hyperparameter tuning.</a:t>
            </a:r>
          </a:p>
          <a:p>
            <a:endParaRPr lang="en-US" sz="2000"/>
          </a:p>
          <a:p>
            <a:r>
              <a:rPr lang="en-US" sz="2000"/>
              <a:t>•   The process ensures the overall quality and reliability of predictive models before deployment.</a:t>
            </a:r>
          </a:p>
          <a:p>
            <a:endParaRPr lang="en-US" sz="2000"/>
          </a:p>
          <a:p>
            <a:r>
              <a:rPr lang="en-US" sz="2000"/>
              <a:t>•   It provides insights for data scientists to refine and optimize their machine learning solutions.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Model Evaluation Essentials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4007549219"/>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Classification models aim to assign data points to predefined categories or classes.</a:t>
            </a:r>
          </a:p>
          <a:p>
            <a:endParaRPr lang="en-US" sz="2000"/>
          </a:p>
          <a:p>
            <a:r>
              <a:rPr lang="en-US" sz="2000"/>
              <a:t>• Accuracy measures the proportion of correctly classified instances out of the total.</a:t>
            </a:r>
          </a:p>
          <a:p>
            <a:endParaRPr lang="en-US" sz="2000"/>
          </a:p>
          <a:p>
            <a:r>
              <a:rPr lang="en-US" sz="2000"/>
              <a:t>•   Accuracy is calculated as (True Positives + True Negatives) / Total Instances.</a:t>
            </a:r>
          </a:p>
          <a:p>
            <a:endParaRPr lang="en-US" sz="2000"/>
          </a:p>
          <a:p>
            <a:r>
              <a:rPr lang="en-US" sz="2000"/>
              <a:t>•   While easy to interpret, accuracy can be misleading for imbalanced datasets where one class is dominant.</a:t>
            </a:r>
          </a:p>
          <a:p>
            <a:endParaRPr lang="en-US" sz="2000"/>
          </a:p>
          <a:p>
            <a:r>
              <a:rPr lang="en-US" sz="2000"/>
              <a:t>•   Other metrics are often needed to provide a more complete picture of performance in such scenarios.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Classification Metrics - Core Measures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460821154"/>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Precision quantifies the accuracy of positive predictions, focusing on avoiding false positives.</a:t>
            </a:r>
          </a:p>
          <a:p>
            <a:endParaRPr lang="en-US" sz="2000"/>
          </a:p>
          <a:p>
            <a:r>
              <a:rPr lang="en-US" sz="2000"/>
              <a:t>•   It is calculated as True Positives / (True Positives + False Positives).</a:t>
            </a:r>
          </a:p>
          <a:p>
            <a:endParaRPr lang="en-US" sz="2000"/>
          </a:p>
          <a:p>
            <a:r>
              <a:rPr lang="en-US" sz="2000"/>
              <a:t>• Recall (or Sensitivity) measures the model's ability to find all relevant positive instances, minimizing false negatives.</a:t>
            </a:r>
          </a:p>
          <a:p>
            <a:endParaRPr lang="en-US" sz="2000"/>
          </a:p>
          <a:p>
            <a:r>
              <a:rPr lang="en-US" sz="2000"/>
              <a:t>•   Recall is calculated as True Positives / (True Positives + False Negatives).</a:t>
            </a:r>
          </a:p>
          <a:p>
            <a:endParaRPr lang="en-US" sz="2000"/>
          </a:p>
          <a:p>
            <a:r>
              <a:rPr lang="en-US" sz="2000"/>
              <a:t>• The F1-score provides a single value that balances both precision and recall, useful for imbalanced datasets.</a:t>
            </a:r>
          </a:p>
          <a:p>
            <a:endParaRPr lang="en-US" sz="2000"/>
          </a:p>
          <a:p>
            <a:r>
              <a:rPr lang="en-US" sz="2000"/>
              <a:t>• F1-score is the harmonic mean of precision and recall: 2  (Precision * Recall) / (Precision + Recall).</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Classification Metrics - Precision &amp; Recall</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085641949"/>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The Receiver Operating Characteristic (ROC) curve graphically represents a classifier's performance across various threshold values.</a:t>
            </a:r>
          </a:p>
          <a:p>
            <a:endParaRPr lang="en-US" sz="2000"/>
          </a:p>
          <a:p>
            <a:r>
              <a:rPr lang="en-US" sz="2000"/>
              <a:t>•   It plots the True Positive Rate (Recall) against the False Positive Rate (1 - Specificity).</a:t>
            </a:r>
          </a:p>
          <a:p>
            <a:endParaRPr lang="en-US" sz="2000"/>
          </a:p>
          <a:p>
            <a:r>
              <a:rPr lang="en-US" sz="2000"/>
              <a:t>• The Area Under the ROC Curve (AUC-ROC) summarizes the model's overall performance as a single scalar value.</a:t>
            </a:r>
          </a:p>
          <a:p>
            <a:endParaRPr lang="en-US" sz="2000"/>
          </a:p>
          <a:p>
            <a:r>
              <a:rPr lang="en-US" sz="2000"/>
              <a:t>•   Higher AUC-ROC values indicate better discriminatory power of the model.</a:t>
            </a:r>
          </a:p>
          <a:p>
            <a:endParaRPr lang="en-US" sz="2000"/>
          </a:p>
          <a:p>
            <a:r>
              <a:rPr lang="en-US" sz="2000"/>
              <a:t>• A Confusion Matrix provides a tabular breakdown of predictions, showing True Positives, True Negatives, False Positives, and False Negatives.</a:t>
            </a:r>
          </a:p>
          <a:p>
            <a:endParaRPr lang="en-US" sz="2000"/>
          </a:p>
          <a:p>
            <a:r>
              <a:rPr lang="en-US" sz="2000"/>
              <a:t>•   It's particularly useful for understanding the types of errors a classification model is making.</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Classification Metrics - Advanced Tools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064673855"/>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141796"/>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   Regression tasks involve predicting continuous numerical values rather than discrete classes.</a:t>
            </a:r>
          </a:p>
          <a:p>
            <a:endParaRPr lang="en-US" sz="2000" dirty="0"/>
          </a:p>
          <a:p>
            <a:r>
              <a:rPr lang="en-US" sz="2000" dirty="0"/>
              <a:t>• Mean Absolute Error (MAE) calculates the average absolute difference between predicted and actual values.</a:t>
            </a:r>
          </a:p>
          <a:p>
            <a:endParaRPr lang="en-US" sz="2000" dirty="0"/>
          </a:p>
          <a:p>
            <a:r>
              <a:rPr lang="en-US" sz="2000" dirty="0"/>
              <a:t>•   MAE is easy to understand but can be sensitive to outliers due to the absolute difference.</a:t>
            </a:r>
          </a:p>
          <a:p>
            <a:endParaRPr lang="en-US" sz="2000" dirty="0"/>
          </a:p>
          <a:p>
            <a:r>
              <a:rPr lang="en-US" sz="2000" dirty="0"/>
              <a:t>• Mean Squared Error (MSE) computes the average of the squared differences between predicted and actual values.</a:t>
            </a:r>
          </a:p>
          <a:p>
            <a:endParaRPr lang="en-US" sz="2000" dirty="0"/>
          </a:p>
          <a:p>
            <a:r>
              <a:rPr lang="en-US" sz="2000" dirty="0"/>
              <a:t>•   MSE penalizes larger errors more heavily because of the squaring operation.</a:t>
            </a:r>
          </a:p>
          <a:p>
            <a:endParaRPr lang="en-US" sz="2000" dirty="0"/>
          </a:p>
          <a:p>
            <a:r>
              <a:rPr lang="en-US" sz="2000" dirty="0"/>
              <a:t>• Root Mean Squared Error (RMSE) is the square root of MSE, providing an error metric in the same units as the target variable.</a:t>
            </a:r>
          </a:p>
          <a:p>
            <a:endParaRPr lang="en-US" sz="2000" dirty="0"/>
          </a:p>
          <a:p>
            <a:r>
              <a:rPr lang="en-US" sz="2000" dirty="0"/>
              <a:t>•   RMSE is often preferred when the magnitude of prediction errors is a critical concern.</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Regression Metrics - Error Magnitudes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463362063"/>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R-squared (R²) measures the proportion of the variance in the dependent variable that is predictable from the independent variables.</a:t>
            </a:r>
          </a:p>
          <a:p>
            <a:endParaRPr lang="en-US" sz="2000"/>
          </a:p>
          <a:p>
            <a:r>
              <a:rPr lang="en-US" sz="2000"/>
              <a:t>•   It ranges from 0 to 1, where 1 indicates that the model perfectly predicts the target variable's variance.</a:t>
            </a:r>
          </a:p>
          <a:p>
            <a:endParaRPr lang="en-US" sz="2000"/>
          </a:p>
          <a:p>
            <a:r>
              <a:rPr lang="en-US" sz="2000"/>
              <a:t>•   R-squared is calculated as 1 - (Sum of Squared Residuals / Total Sum of Squares).</a:t>
            </a:r>
          </a:p>
          <a:p>
            <a:endParaRPr lang="en-US" sz="2000"/>
          </a:p>
          <a:p>
            <a:r>
              <a:rPr lang="en-US" sz="2000"/>
              <a:t>•   A higher R-squared value generally indicates a better fit of the regression model to the data.</a:t>
            </a:r>
          </a:p>
          <a:p>
            <a:endParaRPr lang="en-US" sz="2000"/>
          </a:p>
          <a:p>
            <a:r>
              <a:rPr lang="en-US" sz="2000"/>
              <a:t>•   However, R-squared alone doesn't confirm predictive accuracy, and adjusted R-squared is often used for multiple regression.</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Regression Metrics - Explaining Variance</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346604041"/>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Cross-validation is a technique to ensure robust model evaluation, preventing overly optimistic or pessimistic performance estimates.</a:t>
            </a:r>
          </a:p>
          <a:p>
            <a:endParaRPr lang="en-US" sz="2000"/>
          </a:p>
          <a:p>
            <a:r>
              <a:rPr lang="en-US" sz="2000"/>
              <a:t>•   It addresses the issue of evaluation being dependent on a particular training-testing data split.</a:t>
            </a:r>
          </a:p>
          <a:p>
            <a:endParaRPr lang="en-US" sz="2000"/>
          </a:p>
          <a:p>
            <a:r>
              <a:rPr lang="en-US" sz="2000"/>
              <a:t>•   The technique involves dividing the dataset into multiple subsets or "folds."</a:t>
            </a:r>
          </a:p>
          <a:p>
            <a:endParaRPr lang="en-US" sz="2000"/>
          </a:p>
          <a:p>
            <a:r>
              <a:rPr lang="en-US" sz="2000"/>
              <a:t>•   Models are systematically trained and evaluated on different combinations of these folds.</a:t>
            </a:r>
          </a:p>
          <a:p>
            <a:endParaRPr lang="en-US" sz="2000"/>
          </a:p>
          <a:p>
            <a:r>
              <a:rPr lang="en-US" sz="2000"/>
              <a:t>•   This approach helps in assessing how well a model generalizes to new, unseen data more reliably.</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Introduction to Cross-Validation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4073337213"/>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k-Fold Cross-Validation is a widely used technique for robust model evaluation.</a:t>
            </a:r>
          </a:p>
          <a:p>
            <a:endParaRPr lang="en-US" sz="2000"/>
          </a:p>
          <a:p>
            <a:r>
              <a:rPr lang="en-US" sz="2000"/>
              <a:t>•   The dataset is divided into 'k' equal-sized folds or subsets.</a:t>
            </a:r>
          </a:p>
          <a:p>
            <a:endParaRPr lang="en-US" sz="2000"/>
          </a:p>
          <a:p>
            <a:r>
              <a:rPr lang="en-US" sz="2000"/>
              <a:t>•   The model is trained on 'k-1' folds and then tested on the remaining single fold.</a:t>
            </a:r>
          </a:p>
          <a:p>
            <a:endParaRPr lang="en-US" sz="2000"/>
          </a:p>
          <a:p>
            <a:r>
              <a:rPr lang="en-US" sz="2000"/>
              <a:t>•   This process is repeated 'k' times, ensuring each fold serves as the test set exactly once.</a:t>
            </a:r>
          </a:p>
          <a:p>
            <a:endParaRPr lang="en-US" sz="2000"/>
          </a:p>
          <a:p>
            <a:r>
              <a:rPr lang="en-US" sz="2000"/>
              <a:t>•   The final performance metric is typically the average of the performance scores from all 'k' iterations.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k-Fold Cross-Validation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470112812"/>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LOOCV is a special case of k-Fold Cross-Validation where 'k' is set equal to the total number of data points ('n').</a:t>
            </a:r>
          </a:p>
          <a:p>
            <a:endParaRPr lang="en-US" sz="2000"/>
          </a:p>
          <a:p>
            <a:r>
              <a:rPr lang="en-US" sz="2000"/>
              <a:t>•   In each iteration, one single data point serves as the test set, and the model is trained on the remaining 'n-1' data points.</a:t>
            </a:r>
          </a:p>
          <a:p>
            <a:endParaRPr lang="en-US" sz="2000"/>
          </a:p>
          <a:p>
            <a:r>
              <a:rPr lang="en-US" sz="2000"/>
              <a:t>•   This process is repeated 'n' times, ensuring every data point is used as a test instance once.</a:t>
            </a:r>
          </a:p>
          <a:p>
            <a:endParaRPr lang="en-US" sz="2000"/>
          </a:p>
          <a:p>
            <a:r>
              <a:rPr lang="en-US" sz="2000"/>
              <a:t>•   LOOCV provides a robust and nearly unbiased estimate of a model's performance.</a:t>
            </a:r>
          </a:p>
          <a:p>
            <a:endParaRPr lang="en-US" sz="2000"/>
          </a:p>
          <a:p>
            <a:r>
              <a:rPr lang="en-US" sz="2000"/>
              <a:t>•   However, it can be computationally very expensive and time-consuming for large datasets.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Leave-One-Out Cross-Validation (LOOCV)</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713605182"/>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a:p>
          <a:p>
            <a:r>
              <a:rPr lang="en-US" sz="2000"/>
              <a:t>•   Stratified Cross-Validation is primarily used for classification tasks, especially with imbalanced datasets.</a:t>
            </a:r>
          </a:p>
          <a:p>
            <a:endParaRPr lang="en-US" sz="2000"/>
          </a:p>
          <a:p>
            <a:r>
              <a:rPr lang="en-US" sz="2000"/>
              <a:t>•   It ensures that each fold maintains a similar proportion of class labels as the original complete dataset.</a:t>
            </a:r>
          </a:p>
          <a:p>
            <a:endParaRPr lang="en-US" sz="2000"/>
          </a:p>
          <a:p>
            <a:r>
              <a:rPr lang="en-US" sz="2000"/>
              <a:t>•   This technique helps prevent bias in evaluation that could arise if a fold happens to have very few instances of a minority class.</a:t>
            </a:r>
          </a:p>
          <a:p>
            <a:endParaRPr lang="en-US" sz="2000"/>
          </a:p>
          <a:p>
            <a:r>
              <a:rPr lang="en-US" sz="2000"/>
              <a:t>•   By preserving class distribution, stratified cross-validation provides more reliable performance estimates for each class.</a:t>
            </a:r>
          </a:p>
          <a:p>
            <a:endParaRPr lang="en-US" sz="2000"/>
          </a:p>
          <a:p>
            <a:r>
              <a:rPr lang="en-US" sz="2000"/>
              <a:t>•   It is crucial for models where accurately predicting minority classes is as important as predicting majority classes.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Stratified Cross-Validation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4286696"/>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580037" y="1187516"/>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 Time Series Cross-Validation is specifically designed for time-ordered data (e.g., stock prices, weather).</a:t>
            </a:r>
          </a:p>
          <a:p>
            <a:endParaRPr lang="en-US" sz="2000" dirty="0"/>
          </a:p>
          <a:p>
            <a:r>
              <a:rPr lang="en-US" sz="2000" dirty="0"/>
              <a:t>•   It ensures that training data always precedes test data chronologically, mimicking real-world prediction scenarios.</a:t>
            </a:r>
          </a:p>
          <a:p>
            <a:endParaRPr lang="en-US" sz="2000" dirty="0"/>
          </a:p>
          <a:p>
            <a:r>
              <a:rPr lang="en-US" sz="2000" dirty="0"/>
              <a:t>• Shuffle-Split Cross-Validation randomly shuffles the dataset and then splits it into training and testing sets multiple times.</a:t>
            </a:r>
          </a:p>
          <a:p>
            <a:endParaRPr lang="en-US" sz="2000" dirty="0"/>
          </a:p>
          <a:p>
            <a:r>
              <a:rPr lang="en-US" sz="2000" dirty="0"/>
              <a:t>•   It offers flexibility in balancing the sizes of training and testing data.</a:t>
            </a:r>
          </a:p>
          <a:p>
            <a:endParaRPr lang="en-US" sz="2000" dirty="0"/>
          </a:p>
          <a:p>
            <a:r>
              <a:rPr lang="en-US" sz="2000" dirty="0"/>
              <a:t>•   This method generates multiple independent train/test splits, allowing for repeated evaluation and averaging of results.</a:t>
            </a:r>
          </a:p>
          <a:p>
            <a:endParaRPr lang="en-US" sz="2000" dirty="0"/>
          </a:p>
          <a:p>
            <a:r>
              <a:rPr lang="en-US" sz="2000" dirty="0"/>
              <a:t>•   Each specialized method addresses unique data characteristics or evaluation needs to ensure appropriate model assessment.</a:t>
            </a:r>
          </a:p>
          <a:p>
            <a:endParaRPr lang="en-US" sz="2000" dirty="0"/>
          </a:p>
          <a:p>
            <a:r>
              <a:rPr lang="en-US" sz="2000" dirty="0"/>
              <a: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Specialized Cross-Validation Techniques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409124359"/>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a:t>
            </a:r>
          </a:p>
          <a:p>
            <a:r>
              <a:rPr lang="en-US" sz="2000"/>
              <a:t>A machine learning model achieved 99% accuracy on a dataset where only 1% of instances belong to the positive class. What is the most likely concern regarding this evaluation?</a:t>
            </a:r>
          </a:p>
          <a:p>
            <a:r>
              <a:rPr lang="en-US" sz="2000"/>
              <a:t>A) The model is overfitted to the training data.</a:t>
            </a:r>
          </a:p>
          <a:p>
            <a:r>
              <a:rPr lang="en-US" sz="2000"/>
              <a:t>B) The accuracy metric is misleading due to class imbalance.</a:t>
            </a:r>
          </a:p>
          <a:p>
            <a:r>
              <a:rPr lang="en-US" sz="2000"/>
              <a:t>C) The model has a high False Positive Rate.</a:t>
            </a:r>
          </a:p>
          <a:p>
            <a:r>
              <a:rPr lang="en-US" sz="2000"/>
              <a:t>D) The model's recall for the negative class is very low.</a:t>
            </a:r>
          </a:p>
          <a:p>
            <a:endParaRPr lang="en-US" sz="2000"/>
          </a:p>
          <a:p>
            <a:endParaRPr lang="en-US" sz="2000" dirty="0"/>
          </a:p>
        </p:txBody>
      </p:sp>
    </p:spTree>
    <p:extLst>
      <p:ext uri="{BB962C8B-B14F-4D97-AF65-F5344CB8AC3E}">
        <p14:creationId xmlns:p14="http://schemas.microsoft.com/office/powerpoint/2010/main" val="2697242382"/>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lnSpcReduction="10000"/>
          </a:bodyPr>
          <a:lstStyle/>
          <a:p>
            <a:r>
              <a:rPr lang="en-US" sz="2000"/>
              <a:t>Question 1:</a:t>
            </a:r>
          </a:p>
          <a:p>
            <a:r>
              <a:rPr lang="en-US" sz="2000"/>
              <a:t>A machine learning model achieved 99% accuracy on a dataset where only 1% of instances belong to the positive class. What is the most likely concern regarding this evaluation?</a:t>
            </a:r>
          </a:p>
          <a:p>
            <a:r>
              <a:rPr lang="en-US" sz="2000"/>
              <a:t>A) The model is overfitted to the training data.</a:t>
            </a:r>
          </a:p>
          <a:p>
            <a:r>
              <a:rPr lang="en-US" sz="2000"/>
              <a:t>B) The accuracy metric is misleading due to class imbalance.</a:t>
            </a:r>
          </a:p>
          <a:p>
            <a:r>
              <a:rPr lang="en-US" sz="2000"/>
              <a:t>C) The model has a high False Positive Rate.</a:t>
            </a:r>
          </a:p>
          <a:p>
            <a:r>
              <a:rPr lang="en-US" sz="2000"/>
              <a:t>D) The model's recall for the negative class is very low.</a:t>
            </a:r>
          </a:p>
          <a:p>
            <a:endParaRPr lang="en-US" sz="2000"/>
          </a:p>
          <a:p>
            <a:endParaRPr lang="en-US" sz="2000"/>
          </a:p>
          <a:p>
            <a:endParaRPr lang="en-US" sz="2000"/>
          </a:p>
          <a:p>
            <a:r>
              <a:rPr lang="en-US" sz="2000" b="1"/>
              <a:t>Correct Answer: B) The accuracy metric is misleading due to class imbalance.</a:t>
            </a:r>
          </a:p>
          <a:p>
            <a:r>
              <a:rPr lang="en-US" sz="2000" b="1"/>
              <a:t>Explanation: In highly imbalanced datasets, a model can achieve high accuracy by simply predicting the majority class for all instances. For example, predicting "negative" for all instances in this case would yield 99% accuracy, but the model would completely fail to identify any positive instances. Accuracy alone does not reflect performance on the minority class.</a:t>
            </a:r>
          </a:p>
          <a:p>
            <a:endParaRPr lang="en-US" sz="2000" b="1"/>
          </a:p>
          <a:p>
            <a:endParaRPr lang="en-US" sz="2000" dirty="0"/>
          </a:p>
        </p:txBody>
      </p:sp>
    </p:spTree>
    <p:extLst>
      <p:ext uri="{BB962C8B-B14F-4D97-AF65-F5344CB8AC3E}">
        <p14:creationId xmlns:p14="http://schemas.microsoft.com/office/powerpoint/2010/main" val="4184595170"/>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a:t>
            </a:r>
          </a:p>
          <a:p>
            <a:r>
              <a:rPr lang="en-US" sz="2000"/>
              <a:t>Which classification metric is primarily concerned with minimizing the number of actual positive cases that are incorrectly identified as negative by the model?</a:t>
            </a:r>
          </a:p>
          <a:p>
            <a:r>
              <a:rPr lang="en-US" sz="2000"/>
              <a:t>A) Precision</a:t>
            </a:r>
          </a:p>
          <a:p>
            <a:r>
              <a:rPr lang="en-US" sz="2000"/>
              <a:t>B) Accuracy</a:t>
            </a:r>
          </a:p>
          <a:p>
            <a:r>
              <a:rPr lang="en-US" sz="2000"/>
              <a:t>C) F1-score</a:t>
            </a:r>
          </a:p>
          <a:p>
            <a:r>
              <a:rPr lang="en-US" sz="2000"/>
              <a:t>D) Recall</a:t>
            </a:r>
          </a:p>
          <a:p>
            <a:endParaRPr lang="en-US" sz="2000"/>
          </a:p>
          <a:p>
            <a:endParaRPr lang="en-US" sz="2000" dirty="0"/>
          </a:p>
        </p:txBody>
      </p:sp>
    </p:spTree>
    <p:extLst>
      <p:ext uri="{BB962C8B-B14F-4D97-AF65-F5344CB8AC3E}">
        <p14:creationId xmlns:p14="http://schemas.microsoft.com/office/powerpoint/2010/main" val="1821943582"/>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a:t>
            </a:r>
          </a:p>
          <a:p>
            <a:r>
              <a:rPr lang="en-US" sz="2000"/>
              <a:t>Which classification metric is primarily concerned with minimizing the number of actual positive cases that are incorrectly identified as negative by the model?</a:t>
            </a:r>
          </a:p>
          <a:p>
            <a:r>
              <a:rPr lang="en-US" sz="2000"/>
              <a:t>A) Precision</a:t>
            </a:r>
          </a:p>
          <a:p>
            <a:r>
              <a:rPr lang="en-US" sz="2000"/>
              <a:t>B) Accuracy</a:t>
            </a:r>
          </a:p>
          <a:p>
            <a:r>
              <a:rPr lang="en-US" sz="2000"/>
              <a:t>C) F1-score</a:t>
            </a:r>
          </a:p>
          <a:p>
            <a:r>
              <a:rPr lang="en-US" sz="2000"/>
              <a:t>D) Recall</a:t>
            </a:r>
          </a:p>
          <a:p>
            <a:endParaRPr lang="en-US" sz="2000"/>
          </a:p>
          <a:p>
            <a:endParaRPr lang="en-US" sz="2000"/>
          </a:p>
          <a:p>
            <a:endParaRPr lang="en-US" sz="2000"/>
          </a:p>
          <a:p>
            <a:r>
              <a:rPr lang="en-US" sz="2000" b="1"/>
              <a:t>Correct Answer: D) Recall</a:t>
            </a:r>
          </a:p>
          <a:p>
            <a:r>
              <a:rPr lang="en-US" sz="2000" b="1"/>
              <a:t>Explanation: Recall (also known as sensitivity or True Positive Rate) measures the proportion of actual positive instances that were correctly identified by the model. It focuses on avoiding False Negatives (actual positives incorrectly predicted as negative).</a:t>
            </a:r>
          </a:p>
          <a:p>
            <a:endParaRPr lang="en-US" sz="2000" b="1"/>
          </a:p>
          <a:p>
            <a:endParaRPr lang="en-US" sz="2000" dirty="0"/>
          </a:p>
        </p:txBody>
      </p:sp>
    </p:spTree>
    <p:extLst>
      <p:ext uri="{BB962C8B-B14F-4D97-AF65-F5344CB8AC3E}">
        <p14:creationId xmlns:p14="http://schemas.microsoft.com/office/powerpoint/2010/main" val="3219497362"/>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3:</a:t>
            </a:r>
          </a:p>
          <a:p>
            <a:r>
              <a:rPr lang="en-US" sz="2000"/>
              <a:t>A data scientist is evaluating a regression model. They observe a high Mean Squared Error (MSE) but a relatively low Mean Absolute Error (MAE). What does this suggest about the model's predictions?</a:t>
            </a:r>
          </a:p>
          <a:p>
            <a:r>
              <a:rPr lang="en-US" sz="2000"/>
              <a:t>A) The model consistently makes small errors across all predictions.</a:t>
            </a:r>
          </a:p>
          <a:p>
            <a:r>
              <a:rPr lang="en-US" sz="2000"/>
              <a:t>B) The model has a few predictions with very large errors (outliers).</a:t>
            </a:r>
          </a:p>
          <a:p>
            <a:r>
              <a:rPr lang="en-US" sz="2000"/>
              <a:t>C) The model is generally underfitting the data.</a:t>
            </a:r>
          </a:p>
          <a:p>
            <a:r>
              <a:rPr lang="en-US" sz="2000"/>
              <a:t>D) The model's predictions are highly precise but not accurate.</a:t>
            </a:r>
          </a:p>
          <a:p>
            <a:endParaRPr lang="en-US" sz="2000"/>
          </a:p>
          <a:p>
            <a:endParaRPr lang="en-US" sz="2000" dirty="0"/>
          </a:p>
        </p:txBody>
      </p:sp>
    </p:spTree>
    <p:extLst>
      <p:ext uri="{BB962C8B-B14F-4D97-AF65-F5344CB8AC3E}">
        <p14:creationId xmlns:p14="http://schemas.microsoft.com/office/powerpoint/2010/main" val="2348551984"/>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lnSpcReduction="10000"/>
          </a:bodyPr>
          <a:lstStyle/>
          <a:p>
            <a:r>
              <a:rPr lang="en-US" sz="2000"/>
              <a:t>Question 3:</a:t>
            </a:r>
          </a:p>
          <a:p>
            <a:r>
              <a:rPr lang="en-US" sz="2000"/>
              <a:t>A data scientist is evaluating a regression model. They observe a high Mean Squared Error (MSE) but a relatively low Mean Absolute Error (MAE). What does this suggest about the model's predictions?</a:t>
            </a:r>
          </a:p>
          <a:p>
            <a:r>
              <a:rPr lang="en-US" sz="2000"/>
              <a:t>A) The model consistently makes small errors across all predictions.</a:t>
            </a:r>
          </a:p>
          <a:p>
            <a:r>
              <a:rPr lang="en-US" sz="2000"/>
              <a:t>B) The model has a few predictions with very large errors (outliers).</a:t>
            </a:r>
          </a:p>
          <a:p>
            <a:r>
              <a:rPr lang="en-US" sz="2000"/>
              <a:t>C) The model is generally underfitting the data.</a:t>
            </a:r>
          </a:p>
          <a:p>
            <a:r>
              <a:rPr lang="en-US" sz="2000"/>
              <a:t>D) The model's predictions are highly precise but not accurate.</a:t>
            </a:r>
          </a:p>
          <a:p>
            <a:endParaRPr lang="en-US" sz="2000"/>
          </a:p>
          <a:p>
            <a:endParaRPr lang="en-US" sz="2000"/>
          </a:p>
          <a:p>
            <a:endParaRPr lang="en-US" sz="2000"/>
          </a:p>
          <a:p>
            <a:r>
              <a:rPr lang="en-US" sz="2000" b="1"/>
              <a:t>Correct Answer: B) The model has a few predictions with very large errors (outliers).</a:t>
            </a:r>
          </a:p>
          <a:p>
            <a:r>
              <a:rPr lang="en-US" sz="2000" b="1"/>
              <a:t>Explanation: MSE squares the errors, giving disproportionately higher weight to larger errors. If MSE is high while MAE is relatively low, it implies that the average absolute error is manageable, but a few large errors (outliers) are significantly inflating the squared error term.</a:t>
            </a:r>
          </a:p>
          <a:p>
            <a:endParaRPr lang="en-US" sz="2000" b="1"/>
          </a:p>
          <a:p>
            <a:endParaRPr lang="en-US" sz="2000" dirty="0"/>
          </a:p>
        </p:txBody>
      </p:sp>
    </p:spTree>
    <p:extLst>
      <p:ext uri="{BB962C8B-B14F-4D97-AF65-F5344CB8AC3E}">
        <p14:creationId xmlns:p14="http://schemas.microsoft.com/office/powerpoint/2010/main" val="817920363"/>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4:</a:t>
            </a:r>
          </a:p>
          <a:p>
            <a:r>
              <a:rPr lang="en-US" sz="2000"/>
              <a:t>In the context of regression model evaluation, what does an R-squared (R²) value of 0.85 signify?</a:t>
            </a:r>
          </a:p>
          <a:p>
            <a:r>
              <a:rPr lang="en-US" sz="2000"/>
              <a:t>A) The model has an 85% chance of making a correct prediction.</a:t>
            </a:r>
          </a:p>
          <a:p>
            <a:r>
              <a:rPr lang="en-US" sz="2000"/>
              <a:t>B) 85% of the variance in the dependent variable is explained by the independent variables.</a:t>
            </a:r>
          </a:p>
          <a:p>
            <a:r>
              <a:rPr lang="en-US" sz="2000"/>
              <a:t>C) The average prediction error is 15% of the mean dependent variable.</a:t>
            </a:r>
          </a:p>
          <a:p>
            <a:r>
              <a:rPr lang="en-US" sz="2000"/>
              <a:t>D) The model is 85% better than a baseline model predicting the mean.</a:t>
            </a:r>
          </a:p>
          <a:p>
            <a:endParaRPr lang="en-US" sz="2000"/>
          </a:p>
          <a:p>
            <a:endParaRPr lang="en-US" sz="2000" dirty="0"/>
          </a:p>
        </p:txBody>
      </p:sp>
    </p:spTree>
    <p:extLst>
      <p:ext uri="{BB962C8B-B14F-4D97-AF65-F5344CB8AC3E}">
        <p14:creationId xmlns:p14="http://schemas.microsoft.com/office/powerpoint/2010/main" val="2142639140"/>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lnSpcReduction="10000"/>
          </a:bodyPr>
          <a:lstStyle/>
          <a:p>
            <a:r>
              <a:rPr lang="en-US" sz="2000"/>
              <a:t>Question 4:</a:t>
            </a:r>
          </a:p>
          <a:p>
            <a:r>
              <a:rPr lang="en-US" sz="2000"/>
              <a:t>In the context of regression model evaluation, what does an R-squared (R²) value of 0.85 signify?</a:t>
            </a:r>
          </a:p>
          <a:p>
            <a:r>
              <a:rPr lang="en-US" sz="2000"/>
              <a:t>A) The model has an 85% chance of making a correct prediction.</a:t>
            </a:r>
          </a:p>
          <a:p>
            <a:r>
              <a:rPr lang="en-US" sz="2000"/>
              <a:t>B) 85% of the variance in the dependent variable is explained by the independent variables.</a:t>
            </a:r>
          </a:p>
          <a:p>
            <a:r>
              <a:rPr lang="en-US" sz="2000"/>
              <a:t>C) The average prediction error is 15% of the mean dependent variable.</a:t>
            </a:r>
          </a:p>
          <a:p>
            <a:r>
              <a:rPr lang="en-US" sz="2000"/>
              <a:t>D) The model is 85% better than a baseline model predicting the mean.</a:t>
            </a:r>
          </a:p>
          <a:p>
            <a:endParaRPr lang="en-US" sz="2000"/>
          </a:p>
          <a:p>
            <a:endParaRPr lang="en-US" sz="2000"/>
          </a:p>
          <a:p>
            <a:endParaRPr lang="en-US" sz="2000"/>
          </a:p>
          <a:p>
            <a:r>
              <a:rPr lang="en-US" sz="2000" b="1"/>
              <a:t>Correct Answer: B) 85% of the variance in the dependent variable is explained by the independent variables.</a:t>
            </a:r>
          </a:p>
          <a:p>
            <a:r>
              <a:rPr lang="en-US" sz="2000" b="1"/>
              <a:t>Explanation: R-squared measures the proportion of the variance in the dependent variable that is predictable from the independent variables. An R-squared of 0.85 means that 85% of the total variation in the dependent variable can be explained by the model's independent variables.</a:t>
            </a:r>
          </a:p>
          <a:p>
            <a:endParaRPr lang="en-US" sz="2000" b="1"/>
          </a:p>
          <a:p>
            <a:endParaRPr lang="en-US" sz="2000" dirty="0"/>
          </a:p>
        </p:txBody>
      </p:sp>
    </p:spTree>
    <p:extLst>
      <p:ext uri="{BB962C8B-B14F-4D97-AF65-F5344CB8AC3E}">
        <p14:creationId xmlns:p14="http://schemas.microsoft.com/office/powerpoint/2010/main" val="3678930790"/>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a:t>
            </a:r>
          </a:p>
          <a:p>
            <a:r>
              <a:rPr lang="en-US" sz="2000"/>
              <a:t>Which of the following cross-validation techniques is most appropriate for evaluating a model trained on financial time series data to predict future stock prices?</a:t>
            </a:r>
          </a:p>
          <a:p>
            <a:r>
              <a:rPr lang="en-US" sz="2000"/>
              <a:t>A) k-Fold Cross-Validation</a:t>
            </a:r>
          </a:p>
          <a:p>
            <a:r>
              <a:rPr lang="en-US" sz="2000"/>
              <a:t>B) Leave-One-Out Cross-Validation (LOOCV)</a:t>
            </a:r>
          </a:p>
          <a:p>
            <a:r>
              <a:rPr lang="en-US" sz="2000"/>
              <a:t>C) Stratified Cross-Validation</a:t>
            </a:r>
          </a:p>
          <a:p>
            <a:r>
              <a:rPr lang="en-US" sz="2000"/>
              <a:t>D) Time Series Cross-Validation</a:t>
            </a:r>
          </a:p>
          <a:p>
            <a:endParaRPr lang="en-US" sz="2000"/>
          </a:p>
          <a:p>
            <a:endParaRPr lang="en-US" sz="2000" dirty="0"/>
          </a:p>
        </p:txBody>
      </p:sp>
    </p:spTree>
    <p:extLst>
      <p:ext uri="{BB962C8B-B14F-4D97-AF65-F5344CB8AC3E}">
        <p14:creationId xmlns:p14="http://schemas.microsoft.com/office/powerpoint/2010/main" val="2580564887"/>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a:t>
            </a:r>
          </a:p>
          <a:p>
            <a:r>
              <a:rPr lang="en-US" sz="2000"/>
              <a:t>Which of the following cross-validation techniques is most appropriate for evaluating a model trained on financial time series data to predict future stock prices?</a:t>
            </a:r>
          </a:p>
          <a:p>
            <a:r>
              <a:rPr lang="en-US" sz="2000"/>
              <a:t>A) k-Fold Cross-Validation</a:t>
            </a:r>
          </a:p>
          <a:p>
            <a:r>
              <a:rPr lang="en-US" sz="2000"/>
              <a:t>B) Leave-One-Out Cross-Validation (LOOCV)</a:t>
            </a:r>
          </a:p>
          <a:p>
            <a:r>
              <a:rPr lang="en-US" sz="2000"/>
              <a:t>C) Stratified Cross-Validation</a:t>
            </a:r>
          </a:p>
          <a:p>
            <a:r>
              <a:rPr lang="en-US" sz="2000"/>
              <a:t>D) Time Series Cross-Validation</a:t>
            </a:r>
          </a:p>
          <a:p>
            <a:endParaRPr lang="en-US" sz="2000"/>
          </a:p>
          <a:p>
            <a:endParaRPr lang="en-US" sz="2000"/>
          </a:p>
          <a:p>
            <a:endParaRPr lang="en-US" sz="2000"/>
          </a:p>
          <a:p>
            <a:r>
              <a:rPr lang="en-US" sz="2000" b="1"/>
              <a:t>Correct Answer: D) Time Series Cross-Validation</a:t>
            </a:r>
          </a:p>
          <a:p>
            <a:r>
              <a:rPr lang="en-US" sz="2000" b="1"/>
              <a:t>Explanation: Time Series Cross-Validation is specifically designed for time-ordered data. It maintains the temporal order by ensuring that training data always comes from the past relative to the test data, which is crucial for preventing data leakage and accurately simulating real-world prediction scenarios for time series.</a:t>
            </a:r>
          </a:p>
          <a:p>
            <a:endParaRPr lang="en-US" sz="2000" b="1"/>
          </a:p>
          <a:p>
            <a:endParaRPr lang="en-US" sz="2000" dirty="0"/>
          </a:p>
        </p:txBody>
      </p:sp>
    </p:spTree>
    <p:extLst>
      <p:ext uri="{BB962C8B-B14F-4D97-AF65-F5344CB8AC3E}">
        <p14:creationId xmlns:p14="http://schemas.microsoft.com/office/powerpoint/2010/main" val="2563668500"/>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6:</a:t>
            </a:r>
          </a:p>
          <a:p>
            <a:r>
              <a:rPr lang="en-US" sz="2000"/>
              <a:t>What is the primary benefit of using Stratified Cross-Validation over standard k-Fold Cross-Validation, especially in classification tasks?</a:t>
            </a:r>
          </a:p>
          <a:p>
            <a:r>
              <a:rPr lang="en-US" sz="2000"/>
              <a:t>A) It significantly reduces the computational cost of evaluation.</a:t>
            </a:r>
          </a:p>
          <a:p>
            <a:r>
              <a:rPr lang="en-US" sz="2000"/>
              <a:t>B) It ensures that each fold has a representative distribution of class labels.</a:t>
            </a:r>
          </a:p>
          <a:p>
            <a:r>
              <a:rPr lang="en-US" sz="2000"/>
              <a:t>C) It allows for a more flexible balance between training and testing data sizes.</a:t>
            </a:r>
          </a:p>
          <a:p>
            <a:r>
              <a:rPr lang="en-US" sz="2000"/>
              <a:t>D) It is less susceptible to overfitting on small datasets.</a:t>
            </a:r>
          </a:p>
          <a:p>
            <a:endParaRPr lang="en-US" sz="2000"/>
          </a:p>
          <a:p>
            <a:endParaRPr lang="en-US" sz="2000" dirty="0"/>
          </a:p>
        </p:txBody>
      </p:sp>
    </p:spTree>
    <p:extLst>
      <p:ext uri="{BB962C8B-B14F-4D97-AF65-F5344CB8AC3E}">
        <p14:creationId xmlns:p14="http://schemas.microsoft.com/office/powerpoint/2010/main" val="2059683416"/>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dirty="0"/>
              <a:t>Question 6:</a:t>
            </a:r>
          </a:p>
          <a:p>
            <a:r>
              <a:rPr lang="en-US" sz="2000" dirty="0"/>
              <a:t>What is the primary benefit of using Stratified Cross-Validation over standard k-Fold Cross-Validation, especially in classification tasks?</a:t>
            </a:r>
          </a:p>
          <a:p>
            <a:r>
              <a:rPr lang="en-US" sz="2000" dirty="0"/>
              <a:t>A) It significantly reduces the computational cost of evaluation.</a:t>
            </a:r>
          </a:p>
          <a:p>
            <a:r>
              <a:rPr lang="en-US" sz="2000" dirty="0"/>
              <a:t>B) It ensures that each fold has a representative distribution of class labels.</a:t>
            </a:r>
          </a:p>
          <a:p>
            <a:r>
              <a:rPr lang="en-US" sz="2000" dirty="0"/>
              <a:t>C) It allows for a more flexible balance between training and testing data sizes.</a:t>
            </a:r>
          </a:p>
          <a:p>
            <a:r>
              <a:rPr lang="en-US" sz="2000" dirty="0"/>
              <a:t>D) It is less susceptible to </a:t>
            </a:r>
            <a:r>
              <a:rPr lang="en-US" sz="2000" dirty="0" err="1"/>
              <a:t>overfitting</a:t>
            </a:r>
            <a:r>
              <a:rPr lang="en-US" sz="2000" dirty="0"/>
              <a:t> on small datasets.</a:t>
            </a:r>
          </a:p>
          <a:p>
            <a:endParaRPr lang="en-US" sz="2000" dirty="0"/>
          </a:p>
          <a:p>
            <a:endParaRPr lang="en-US" sz="2000" dirty="0"/>
          </a:p>
          <a:p>
            <a:r>
              <a:rPr lang="en-US" sz="2000" b="1" dirty="0"/>
              <a:t>Correct Answer: B) It ensures that each fold has a representative distribution of class labels.</a:t>
            </a:r>
          </a:p>
          <a:p>
            <a:r>
              <a:rPr lang="en-US" sz="2000" b="1" dirty="0"/>
              <a:t>Explanation: Stratified Cross-Validation partitions the data such that each fold contains approximately the same percentage of samples of each target class as the complete set. This is particularly beneficial for imbalanced datasets, preventing a fold from having too few or none of a minority class, which could lead to biased evaluation.</a:t>
            </a:r>
          </a:p>
          <a:p>
            <a:endParaRPr lang="en-US" sz="2000" b="1" dirty="0"/>
          </a:p>
          <a:p>
            <a:endParaRPr lang="en-US" sz="2000" dirty="0"/>
          </a:p>
        </p:txBody>
      </p:sp>
    </p:spTree>
    <p:extLst>
      <p:ext uri="{BB962C8B-B14F-4D97-AF65-F5344CB8AC3E}">
        <p14:creationId xmlns:p14="http://schemas.microsoft.com/office/powerpoint/2010/main" val="2914191554"/>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7:</a:t>
            </a:r>
          </a:p>
          <a:p>
            <a:r>
              <a:rPr lang="en-US" sz="2000"/>
              <a:t>A model achieves an AUC-ROC score of 0.5. What does this indicate about the model's performance?</a:t>
            </a:r>
          </a:p>
          <a:p>
            <a:r>
              <a:rPr lang="en-US" sz="2000"/>
              <a:t>A) The model is perfectly classifying all instances.</a:t>
            </a:r>
          </a:p>
          <a:p>
            <a:r>
              <a:rPr lang="en-US" sz="2000"/>
              <a:t>B) The model is performing no better than random chance.</a:t>
            </a:r>
          </a:p>
          <a:p>
            <a:r>
              <a:rPr lang="en-US" sz="2000"/>
              <a:t>C) The model is performing worse than random chance.</a:t>
            </a:r>
          </a:p>
          <a:p>
            <a:r>
              <a:rPr lang="en-US" sz="2000"/>
              <a:t>D) The model has high precision but low recall.</a:t>
            </a:r>
          </a:p>
          <a:p>
            <a:endParaRPr lang="en-US" sz="2000"/>
          </a:p>
          <a:p>
            <a:endParaRPr lang="en-US" sz="2000" dirty="0"/>
          </a:p>
        </p:txBody>
      </p:sp>
    </p:spTree>
    <p:extLst>
      <p:ext uri="{BB962C8B-B14F-4D97-AF65-F5344CB8AC3E}">
        <p14:creationId xmlns:p14="http://schemas.microsoft.com/office/powerpoint/2010/main" val="2692461619"/>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lnSpcReduction="10000"/>
          </a:bodyPr>
          <a:lstStyle/>
          <a:p>
            <a:r>
              <a:rPr lang="en-US" sz="2000"/>
              <a:t>Question 7:</a:t>
            </a:r>
          </a:p>
          <a:p>
            <a:r>
              <a:rPr lang="en-US" sz="2000"/>
              <a:t>A model achieves an AUC-ROC score of 0.5. What does this indicate about the model's performance?</a:t>
            </a:r>
          </a:p>
          <a:p>
            <a:r>
              <a:rPr lang="en-US" sz="2000"/>
              <a:t>A) The model is perfectly classifying all instances.</a:t>
            </a:r>
          </a:p>
          <a:p>
            <a:r>
              <a:rPr lang="en-US" sz="2000"/>
              <a:t>B) The model is performing no better than random chance.</a:t>
            </a:r>
          </a:p>
          <a:p>
            <a:r>
              <a:rPr lang="en-US" sz="2000"/>
              <a:t>C) The model is performing worse than random chance.</a:t>
            </a:r>
          </a:p>
          <a:p>
            <a:r>
              <a:rPr lang="en-US" sz="2000"/>
              <a:t>D) The model has high precision but low recall.</a:t>
            </a:r>
          </a:p>
          <a:p>
            <a:endParaRPr lang="en-US" sz="2000"/>
          </a:p>
          <a:p>
            <a:endParaRPr lang="en-US" sz="2000"/>
          </a:p>
          <a:p>
            <a:endParaRPr lang="en-US" sz="2000"/>
          </a:p>
          <a:p>
            <a:r>
              <a:rPr lang="en-US" sz="2000" b="1"/>
              <a:t>Correct Answer: B) The model is performing no better than random chance.</a:t>
            </a:r>
          </a:p>
          <a:p>
            <a:r>
              <a:rPr lang="en-US" sz="2000" b="1"/>
              <a:t>Explanation: An AUC-ROC score of 0.5 represents the performance of a random classifier (equivalent to flipping a coin). A model with an AUC of 0.5 has no discriminatory power to distinguish between positive and negative classes better than a random guess.</a:t>
            </a:r>
          </a:p>
          <a:p>
            <a:endParaRPr lang="en-US" sz="2000" b="1"/>
          </a:p>
          <a:p>
            <a:r>
              <a:rPr lang="en-US" sz="2000" b="1"/>
              <a:t>---</a:t>
            </a:r>
          </a:p>
          <a:p>
            <a:endParaRPr lang="en-US" sz="2000" b="1"/>
          </a:p>
          <a:p>
            <a:endParaRPr lang="en-US" sz="2000" dirty="0"/>
          </a:p>
        </p:txBody>
      </p:sp>
    </p:spTree>
    <p:extLst>
      <p:ext uri="{BB962C8B-B14F-4D97-AF65-F5344CB8AC3E}">
        <p14:creationId xmlns:p14="http://schemas.microsoft.com/office/powerpoint/2010/main" val="18380620"/>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fontScale="92500" lnSpcReduction="10000"/>
          </a:bodyPr>
          <a:lstStyle/>
          <a:p>
            <a:pPr algn="just"/>
            <a:endParaRPr lang="en-US" sz="2000" dirty="0"/>
          </a:p>
          <a:p>
            <a:pPr algn="just"/>
            <a:endParaRPr lang="en-US" sz="2000" dirty="0"/>
          </a:p>
          <a:p>
            <a:pPr algn="just"/>
            <a:r>
              <a:rPr lang="en-US" sz="2000" dirty="0"/>
              <a:t>A healthcare startup has developed a machine learning model to predict the early onset of a rare but severe disease. Early detection is critical for successful treatment. The dataset used for training is highly imbalanced, with only 0.5% of patients having the disease.</a:t>
            </a:r>
          </a:p>
          <a:p>
            <a:pPr algn="just"/>
            <a:endParaRPr lang="en-US" sz="2000" dirty="0"/>
          </a:p>
          <a:p>
            <a:pPr algn="just"/>
            <a:r>
              <a:rPr lang="en-US" sz="2000" dirty="0"/>
              <a:t>During initial evaluation, the development team reports an overall model accuracy of 99.6%. However, upon a small pilot test, doctors find that a significant number of actual disease cases are still being missed by the model, leading to delayed treatment. The team needs to present an improved evaluation strategy to the stakeholders.</a:t>
            </a:r>
          </a:p>
          <a:p>
            <a:pPr algn="just"/>
            <a:endParaRPr lang="en-US" sz="2000" dirty="0"/>
          </a:p>
          <a:p>
            <a:pPr algn="just"/>
            <a:r>
              <a:rPr lang="en-US" sz="2000" dirty="0"/>
              <a:t>Challenge:</a:t>
            </a:r>
          </a:p>
          <a:p>
            <a:pPr algn="just"/>
            <a:r>
              <a:rPr lang="en-US" sz="2000" dirty="0"/>
              <a:t>1.  Explain why the high accuracy is misleading in this scenario.</a:t>
            </a:r>
          </a:p>
          <a:p>
            <a:pPr algn="just"/>
            <a:r>
              <a:rPr lang="en-US" sz="2000" dirty="0"/>
              <a:t>2.  Suggest specific classification metrics that should be prioritized for evaluating this model, and why.</a:t>
            </a:r>
          </a:p>
          <a:p>
            <a:pPr algn="just"/>
            <a:r>
              <a:rPr lang="en-US" sz="2000" dirty="0"/>
              <a:t>3.  Recommend a suitable cross-validation technique to ensure a robust evaluation of the model, justifying your choice.</a:t>
            </a:r>
          </a:p>
          <a:p>
            <a:pPr algn="just"/>
            <a:endParaRPr lang="en-US" sz="2000" dirty="0"/>
          </a:p>
          <a:p>
            <a:pPr algn="just"/>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3962963259"/>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fontScale="70000" lnSpcReduction="20000"/>
          </a:bodyPr>
          <a:lstStyle/>
          <a:p>
            <a:pPr algn="just"/>
            <a:r>
              <a:rPr lang="en-US" sz="2000" dirty="0"/>
              <a:t>Solution:</a:t>
            </a:r>
          </a:p>
          <a:p>
            <a:pPr algn="just"/>
            <a:endParaRPr lang="en-US" sz="2000" dirty="0"/>
          </a:p>
          <a:p>
            <a:pPr algn="just"/>
            <a:endParaRPr lang="en-US" sz="2000" dirty="0"/>
          </a:p>
          <a:p>
            <a:pPr algn="just"/>
            <a:r>
              <a:rPr lang="en-US" sz="2000" dirty="0"/>
              <a:t>1.  Why High Accuracy is Misleading:</a:t>
            </a:r>
          </a:p>
          <a:p>
            <a:pPr algn="just"/>
            <a:r>
              <a:rPr lang="en-US" sz="2000" dirty="0"/>
              <a:t>•   The disease is extremely rare (0.5% prevalence). A model could achieve 99.5% accuracy by simply predicting that no patient has the disease (classifying everyone as negative).</a:t>
            </a:r>
          </a:p>
          <a:p>
            <a:pPr algn="just"/>
            <a:r>
              <a:rPr lang="en-US" sz="2000" dirty="0"/>
              <a:t>•   This high accuracy would mask the model's complete failure to detect any positive cases, making it ineffective for its intended purpose. It indicates a strong class imbalance problem where the majority class heavily influences the accuracy metric.</a:t>
            </a:r>
          </a:p>
          <a:p>
            <a:pPr algn="just"/>
            <a:endParaRPr lang="en-US" sz="2000" dirty="0"/>
          </a:p>
          <a:p>
            <a:pPr algn="just"/>
            <a:r>
              <a:rPr lang="en-US" sz="2000" dirty="0"/>
              <a:t>2.  Prioritized Classification Metrics and Why:</a:t>
            </a:r>
          </a:p>
          <a:p>
            <a:pPr algn="just"/>
            <a:r>
              <a:rPr lang="en-US" sz="2000" dirty="0"/>
              <a:t>Recall (Sensitivity): This should be the primary metric. High recall means minimizing False Negatives – the cases where actual disease sufferers are incorrectly classified as healthy. Missing a true disease case has severe consequences.</a:t>
            </a:r>
          </a:p>
          <a:p>
            <a:pPr algn="just"/>
            <a:r>
              <a:rPr lang="en-US" sz="2000" dirty="0"/>
              <a:t>F1-score: While recall is critical, a perfect recall could be achieved by classifying everyone as diseased (leading to many false positives). F1-score provides a balanced view by considering both precision and recall, ensuring the model isn't overly aggressive in its positive predictions while still catching most actual cases.</a:t>
            </a:r>
          </a:p>
          <a:p>
            <a:pPr algn="just"/>
            <a:r>
              <a:rPr lang="en-US" sz="2000" dirty="0"/>
              <a:t>Precision: Although recall is prioritized, precision is also important to consider. A very low precision would mean too many healthy patients are incorrectly flagged, leading to unnecessary tests and anxiety. The F1-score helps balance this.</a:t>
            </a:r>
          </a:p>
          <a:p>
            <a:pPr algn="just"/>
            <a:r>
              <a:rPr lang="en-US" sz="2000" dirty="0"/>
              <a:t>AUC-ROC: This metric can give a good overall measure of the model's ability to discriminate between the two classes across various thresholds, offering a broader view beyond a single operating point.</a:t>
            </a:r>
          </a:p>
          <a:p>
            <a:pPr algn="just"/>
            <a:endParaRPr lang="en-US" sz="2000" dirty="0"/>
          </a:p>
          <a:p>
            <a:pPr algn="just"/>
            <a:r>
              <a:rPr lang="en-US" sz="2000" dirty="0"/>
              <a:t>3.  Recommended Cross-Validation Technique and Justification:</a:t>
            </a:r>
          </a:p>
          <a:p>
            <a:pPr algn="just"/>
            <a:r>
              <a:rPr lang="en-US" sz="2000" dirty="0"/>
              <a:t>Stratified k-Fold Cross-Validation: This technique is crucial for this highly imbalanced dataset.</a:t>
            </a:r>
          </a:p>
          <a:p>
            <a:pPr algn="just"/>
            <a:r>
              <a:rPr lang="en-US" sz="2000" dirty="0"/>
              <a:t>Justification: Stratified k-Fold ensures that each fold (training and test sets) maintains approximately the same proportion of both positive (diseased) and negative (healthy) cases as the original dataset. This prevents scenarios where a fold might contain very few or no disease cases, which would lead to an unreliable evaluation of the model's ability to detect the rare disease. It provides a more robust and realistic estimate of the model's generalization performance on both classes.</a:t>
            </a:r>
          </a:p>
          <a:p>
            <a:pPr algn="just"/>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1135229313"/>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Session Summary</a:t>
            </a:r>
            <a:endParaRPr lang="en-US" sz="2800" b="1" dirty="0">
              <a:solidFill>
                <a:srgbClr val="D9212B"/>
              </a:solidFill>
            </a:endParaRPr>
          </a:p>
        </p:txBody>
      </p:sp>
      <p:sp>
        <p:nvSpPr>
          <p:cNvPr id="5" name="Google Shape;135;p9"/>
          <p:cNvSpPr txBox="1"/>
          <p:nvPr/>
        </p:nvSpPr>
        <p:spPr>
          <a:xfrm>
            <a:off x="715540" y="1569935"/>
            <a:ext cx="10632164" cy="3856913"/>
          </a:xfrm>
          <a:prstGeom prst="rect">
            <a:avLst/>
          </a:prstGeom>
          <a:noFill/>
          <a:ln>
            <a:noFill/>
          </a:ln>
        </p:spPr>
        <p:txBody>
          <a:bodyPr spcFirstLastPara="1" wrap="square" lIns="91425" tIns="45700" rIns="91425" bIns="45700" anchor="t" anchorCtr="0">
            <a:spAutoFit/>
          </a:bodyPr>
          <a:lstStyle/>
          <a:p>
            <a:pPr algn="just">
              <a:lnSpc>
                <a:spcPct val="115000"/>
              </a:lnSpc>
              <a:spcAft>
                <a:spcPts val="1000"/>
              </a:spcAft>
            </a:pPr>
            <a:endParaRPr lang="en-US" dirty="0">
              <a:latin typeface=""/>
              <a:ea typeface="Times New Roman"/>
              <a:cs typeface="Times New Roman"/>
            </a:endParaRPr>
          </a:p>
          <a:p>
            <a:pPr algn="just">
              <a:lnSpc>
                <a:spcPct val="115000"/>
              </a:lnSpc>
              <a:spcAft>
                <a:spcPts val="1000"/>
              </a:spcAft>
            </a:pPr>
            <a:r>
              <a:rPr lang="en-US" dirty="0">
                <a:latin typeface=""/>
                <a:ea typeface="Times New Roman"/>
                <a:cs typeface="Times New Roman"/>
              </a:rPr>
              <a:t>•   Understand the fundamental importance of model evaluation in the machine learning workflow.</a:t>
            </a:r>
          </a:p>
          <a:p>
            <a:pPr algn="just">
              <a:lnSpc>
                <a:spcPct val="115000"/>
              </a:lnSpc>
              <a:spcAft>
                <a:spcPts val="1000"/>
              </a:spcAft>
            </a:pPr>
            <a:r>
              <a:rPr lang="en-US" dirty="0">
                <a:latin typeface=""/>
                <a:ea typeface="Times New Roman"/>
                <a:cs typeface="Times New Roman"/>
              </a:rPr>
              <a:t>•   Grasp various classification metrics, including Accuracy, Precision, Recall, F1-score, ROC Curve, AUC-ROC, and Confusion Matrix.</a:t>
            </a:r>
          </a:p>
          <a:p>
            <a:pPr algn="just">
              <a:lnSpc>
                <a:spcPct val="115000"/>
              </a:lnSpc>
              <a:spcAft>
                <a:spcPts val="1000"/>
              </a:spcAft>
            </a:pPr>
            <a:r>
              <a:rPr lang="en-US" dirty="0">
                <a:latin typeface=""/>
                <a:ea typeface="Times New Roman"/>
                <a:cs typeface="Times New Roman"/>
              </a:rPr>
              <a:t>•   Learn about different regression metrics such as Mean Absolute Error (MAE), Mean Squared Error (MSE), Root Mean Squared Error (RMSE), and R-squared.</a:t>
            </a:r>
          </a:p>
          <a:p>
            <a:pPr algn="just">
              <a:lnSpc>
                <a:spcPct val="115000"/>
              </a:lnSpc>
              <a:spcAft>
                <a:spcPts val="1000"/>
              </a:spcAft>
            </a:pPr>
            <a:r>
              <a:rPr lang="en-US" dirty="0">
                <a:latin typeface=""/>
                <a:ea typeface="Times New Roman"/>
                <a:cs typeface="Times New Roman"/>
              </a:rPr>
              <a:t>•   Explore the purpose and benefits of cross-validation techniques for robust model assessment.</a:t>
            </a:r>
          </a:p>
          <a:p>
            <a:pPr algn="just">
              <a:lnSpc>
                <a:spcPct val="115000"/>
              </a:lnSpc>
              <a:spcAft>
                <a:spcPts val="1000"/>
              </a:spcAft>
            </a:pPr>
            <a:r>
              <a:rPr lang="en-US" dirty="0">
                <a:latin typeface=""/>
                <a:ea typeface="Times New Roman"/>
                <a:cs typeface="Times New Roman"/>
              </a:rPr>
              <a:t>•   Differentiate between various cross-validation methods like k-Fold, Leave-One-Out, and Stratified.</a:t>
            </a:r>
          </a:p>
          <a:p>
            <a:pPr algn="just">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3495831409"/>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Learning Objectives 10</a:t>
            </a:r>
            <a:endParaRPr lang="en-US" sz="2800" b="1" dirty="0">
              <a:solidFill>
                <a:srgbClr val="D9212B"/>
              </a:solidFill>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96;p3"/>
          <p:cNvSpPr txBox="1"/>
          <p:nvPr/>
        </p:nvSpPr>
        <p:spPr>
          <a:xfrm>
            <a:off x="773393" y="1672895"/>
            <a:ext cx="8074981" cy="57134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000"/>
              <a:buFont typeface="Arial"/>
              <a:buNone/>
            </a:pPr>
            <a:r>
              <a:rPr lang="en-US" sz="2000" b="1" dirty="0">
                <a:solidFill>
                  <a:schemeClr val="dk1"/>
                </a:solidFill>
                <a:latin typeface="Avenir"/>
                <a:ea typeface="Avenir"/>
                <a:cs typeface="Avenir"/>
                <a:sym typeface="Avenir"/>
              </a:rPr>
              <a:t>By the end of this session, you will be able to:</a:t>
            </a:r>
            <a:endParaRPr dirty="0"/>
          </a:p>
        </p:txBody>
      </p:sp>
      <p:sp>
        <p:nvSpPr>
          <p:cNvPr id="5" name="Google Shape;98;p3"/>
          <p:cNvSpPr txBox="1"/>
          <p:nvPr/>
        </p:nvSpPr>
        <p:spPr>
          <a:xfrm>
            <a:off x="885636" y="2326538"/>
            <a:ext cx="10132884" cy="4175462"/>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Understand the profound impact of machine learning on diverse industries.</a:t>
            </a:r>
          </a:p>
          <a:p>
            <a:pPr>
              <a:lnSpc>
                <a:spcPct val="115000"/>
              </a:lnSpc>
              <a:spcAft>
                <a:spcPts val="1000"/>
              </a:spcAft>
            </a:pPr>
            <a:r>
              <a:rPr lang="en-US" dirty="0">
                <a:latin typeface=""/>
                <a:ea typeface="Times New Roman"/>
                <a:cs typeface="Times New Roman"/>
              </a:rPr>
              <a:t>•   Identify key industry trends revolutionized by machine learning, such as predictive analytics and personalization.</a:t>
            </a:r>
          </a:p>
          <a:p>
            <a:pPr>
              <a:lnSpc>
                <a:spcPct val="115000"/>
              </a:lnSpc>
              <a:spcAft>
                <a:spcPts val="1000"/>
              </a:spcAft>
            </a:pPr>
            <a:r>
              <a:rPr lang="en-US" dirty="0">
                <a:latin typeface=""/>
                <a:ea typeface="Times New Roman"/>
                <a:cs typeface="Times New Roman"/>
              </a:rPr>
              <a:t>•   Analyze how machine learning enhances decision-making and automation processes.</a:t>
            </a:r>
          </a:p>
          <a:p>
            <a:pPr>
              <a:lnSpc>
                <a:spcPct val="115000"/>
              </a:lnSpc>
              <a:spcAft>
                <a:spcPts val="1000"/>
              </a:spcAft>
            </a:pPr>
            <a:r>
              <a:rPr lang="en-US" dirty="0">
                <a:latin typeface=""/>
                <a:ea typeface="Times New Roman"/>
                <a:cs typeface="Times New Roman"/>
              </a:rPr>
              <a:t>•   Recognize concrete examples of machine learning applications across various sectors through case studies.</a:t>
            </a:r>
          </a:p>
          <a:p>
            <a:pPr>
              <a:lnSpc>
                <a:spcPct val="115000"/>
              </a:lnSpc>
              <a:spcAft>
                <a:spcPts val="1000"/>
              </a:spcAft>
            </a:pPr>
            <a:r>
              <a:rPr lang="en-US" dirty="0">
                <a:latin typeface=""/>
                <a:ea typeface="Times New Roman"/>
                <a:cs typeface="Times New Roman"/>
              </a:rPr>
              <a:t>•   Appreciate machine learning's role in driving efficiency, reducing costs, and fostering innovation in businesses.</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782506344"/>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Machine learning is fundamentally revolutionizing industries globally.</a:t>
            </a:r>
          </a:p>
          <a:p>
            <a:endParaRPr lang="en-US" sz="2000"/>
          </a:p>
          <a:p>
            <a:r>
              <a:rPr lang="en-US" sz="2000"/>
              <a:t>•   Its influence spans critical sectors, from healthcare to finance, retail, and manufacturing.</a:t>
            </a:r>
          </a:p>
          <a:p>
            <a:endParaRPr lang="en-US" sz="2000"/>
          </a:p>
          <a:p>
            <a:r>
              <a:rPr lang="en-US" sz="2000"/>
              <a:t>•   ML's significance in shaping the future of industrial landscapes is immense and growing.</a:t>
            </a:r>
          </a:p>
          <a:p>
            <a:endParaRPr lang="en-US" sz="2000"/>
          </a:p>
          <a:p>
            <a:r>
              <a:rPr lang="en-US" sz="2000"/>
              <a:t>•   This section explores its crucial role in industry trends, decision-making, and automation.</a:t>
            </a:r>
          </a:p>
          <a:p>
            <a:endParaRPr lang="en-US" sz="2000"/>
          </a:p>
          <a:p>
            <a:r>
              <a:rPr lang="en-US" sz="2000"/>
              <a:t>•   We will also delve into real-world case studies demonstrating its broad applications.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Introduction to Machine Learning's Industrial Impact</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317618518"/>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Machine learning acts as a disruptive force, actively reshaping and driving new industry trends.</a:t>
            </a:r>
          </a:p>
          <a:p>
            <a:endParaRPr lang="en-US" sz="2000" dirty="0"/>
          </a:p>
          <a:p>
            <a:r>
              <a:rPr lang="en-US" sz="2000" dirty="0"/>
              <a:t>•   It plays a pivotal role in fostering innovation and unlocking previously unattainable possibilities.</a:t>
            </a:r>
          </a:p>
          <a:p>
            <a:endParaRPr lang="en-US" sz="2000" dirty="0"/>
          </a:p>
          <a:p>
            <a:r>
              <a:rPr lang="en-US" sz="2000" dirty="0"/>
              <a:t>•   Enhanced Predictive Analytics: ML algorithms analyze vast datasets to enable highly accurate predictions.</a:t>
            </a:r>
          </a:p>
          <a:p>
            <a:endParaRPr lang="en-US" sz="2000" dirty="0"/>
          </a:p>
          <a:p>
            <a:r>
              <a:rPr lang="en-US" sz="2000" dirty="0"/>
              <a:t>•   This transforms finance with precise risk assessment and fraud detection, minimizing losses and optimizing investments.</a:t>
            </a:r>
          </a:p>
          <a:p>
            <a:endParaRPr lang="en-US" sz="2000" dirty="0"/>
          </a:p>
          <a:p>
            <a:r>
              <a:rPr lang="en-US" sz="2000" dirty="0"/>
              <a:t>•   Personalization: ML empowers businesses to offer tailored customer experiences, boosting engagement and satisfaction (e.g., e-commerce recommendation systems).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fontScale="92500"/>
          </a:bodyPr>
          <a:lstStyle/>
          <a:p>
            <a:pPr lvl="0">
              <a:lnSpc>
                <a:spcPct val="90000"/>
              </a:lnSpc>
              <a:buClr>
                <a:srgbClr val="D9212B"/>
              </a:buClr>
              <a:buSzPts val="2800"/>
              <a:defRPr/>
            </a:pPr>
            <a:r>
              <a:rPr lang="en-US" sz="2800" b="1">
                <a:solidFill>
                  <a:srgbClr val="D9212B"/>
                </a:solidFill>
                <a:latin typeface="Avenir"/>
                <a:sym typeface="Avenir"/>
              </a:rPr>
              <a:t>Machine Learning in Industry Trends: Predictive Analytics &amp; Personalization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294053459"/>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Quality Control and Assurance: Manufacturing industries leverage ML for real-time quality control.</a:t>
            </a:r>
          </a:p>
          <a:p>
            <a:endParaRPr lang="en-US" sz="2000" dirty="0"/>
          </a:p>
          <a:p>
            <a:r>
              <a:rPr lang="en-US" sz="2000" dirty="0"/>
              <a:t>•   This ensures product consistency, significantly reduces defects, and conserves both time and resources.</a:t>
            </a:r>
          </a:p>
          <a:p>
            <a:endParaRPr lang="en-US" sz="2000" dirty="0"/>
          </a:p>
          <a:p>
            <a:r>
              <a:rPr lang="en-US" sz="2000" dirty="0"/>
              <a:t>•   Supply Chain Optimization: ML algorithms analyze historical data, weather patterns, and transportation trends.</a:t>
            </a:r>
          </a:p>
          <a:p>
            <a:endParaRPr lang="en-US" sz="2000" dirty="0"/>
          </a:p>
          <a:p>
            <a:r>
              <a:rPr lang="en-US" sz="2000" dirty="0"/>
              <a:t>•   This optimization leads to substantial cost reductions and more efficient operational processes across the supply chain.</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fontScale="92500"/>
          </a:bodyPr>
          <a:lstStyle/>
          <a:p>
            <a:pPr lvl="0">
              <a:lnSpc>
                <a:spcPct val="90000"/>
              </a:lnSpc>
              <a:buClr>
                <a:srgbClr val="D9212B"/>
              </a:buClr>
              <a:buSzPts val="2800"/>
              <a:defRPr/>
            </a:pPr>
            <a:r>
              <a:rPr lang="en-US" sz="2800" b="1">
                <a:solidFill>
                  <a:srgbClr val="D9212B"/>
                </a:solidFill>
                <a:latin typeface="Avenir"/>
                <a:sym typeface="Avenir"/>
              </a:rPr>
              <a:t>Machine Learning in Industry Trends: Quality &amp; Supply Chain Optimization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909982111"/>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Healthcare Diagnostics: ML significantly aids in diagnosing diseases and predicting patient outcomes.</a:t>
            </a:r>
          </a:p>
          <a:p>
            <a:endParaRPr lang="en-US" sz="2000"/>
          </a:p>
          <a:p>
            <a:r>
              <a:rPr lang="en-US" sz="2000"/>
              <a:t>•   It assists medical professionals in making more informed decisions, enhancing diagnostic accuracy.</a:t>
            </a:r>
          </a:p>
          <a:p>
            <a:endParaRPr lang="en-US" sz="2000"/>
          </a:p>
          <a:p>
            <a:r>
              <a:rPr lang="en-US" sz="2000"/>
              <a:t>•   ML provides early warning systems for critical conditions, potentially saving lives.</a:t>
            </a:r>
          </a:p>
          <a:p>
            <a:endParaRPr lang="en-US" sz="2000"/>
          </a:p>
          <a:p>
            <a:r>
              <a:rPr lang="en-US" sz="2000"/>
              <a:t>•   Energy Efficiency: ML algorithms optimize energy consumption across various sectors, including building management and transportation.</a:t>
            </a:r>
          </a:p>
          <a:p>
            <a:endParaRPr lang="en-US" sz="2000"/>
          </a:p>
          <a:p>
            <a:r>
              <a:rPr lang="en-US" sz="2000"/>
              <a:t>•   This not only reduces operational costs but also makes a vital contribution to environmental sustainability.</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Machine Learning in Industry Trends: Healthcare &amp; Energy Efficiency</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14705926"/>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The integration of machine learning has fundamentally revolutionized industrial decision-making processes.</a:t>
            </a:r>
          </a:p>
          <a:p>
            <a:endParaRPr lang="en-US" sz="2000"/>
          </a:p>
          <a:p>
            <a:r>
              <a:rPr lang="en-US" sz="2000"/>
              <a:t>•   Data-Driven Decision-Making: ML leverages extensive data to make informed and objective decisions.</a:t>
            </a:r>
          </a:p>
          <a:p>
            <a:endParaRPr lang="en-US" sz="2000"/>
          </a:p>
          <a:p>
            <a:r>
              <a:rPr lang="en-US" sz="2000"/>
              <a:t>•   This approach replaces intuition-based methods, leading to consistently better outcomes.</a:t>
            </a:r>
          </a:p>
          <a:p>
            <a:endParaRPr lang="en-US" sz="2000"/>
          </a:p>
          <a:p>
            <a:r>
              <a:rPr lang="en-US" sz="2000"/>
              <a:t>•   Financial institutions, for instance, use algorithms for automated credit risk assessment and lending decisions.</a:t>
            </a:r>
          </a:p>
          <a:p>
            <a:endParaRPr lang="en-US" sz="2000"/>
          </a:p>
          <a:p>
            <a:r>
              <a:rPr lang="en-US" sz="2000"/>
              <a:t>•   Reducing Human Error: Automation powered by ML significantly minimizes the risk of human errors.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ML's Impact on Decision-Making: Data-Driven Approaches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65202574"/>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In manufacturing, robots equipped with ML algorithms perform tasks with exceptional precision, minimizing defects and accidents.</a:t>
            </a:r>
          </a:p>
          <a:p>
            <a:endParaRPr lang="en-US" sz="2000"/>
          </a:p>
          <a:p>
            <a:r>
              <a:rPr lang="en-US" sz="2000"/>
              <a:t>•   Operational Efficiency: Automation extends beyond production lines to optimize business processes.</a:t>
            </a:r>
          </a:p>
          <a:p>
            <a:endParaRPr lang="en-US" sz="2000"/>
          </a:p>
          <a:p>
            <a:r>
              <a:rPr lang="en-US" sz="2000"/>
              <a:t>•   Customer service chatbots, for example, handle routine queries, freeing human agents for complex issues.</a:t>
            </a:r>
          </a:p>
          <a:p>
            <a:endParaRPr lang="en-US" sz="2000"/>
          </a:p>
          <a:p>
            <a:r>
              <a:rPr lang="en-US" sz="2000"/>
              <a:t>•   Cost Reduction: Industries benefit from automation through reduced labor costs and increased overall productivity.</a:t>
            </a:r>
          </a:p>
          <a:p>
            <a:endParaRPr lang="en-US" sz="2000"/>
          </a:p>
          <a:p>
            <a:r>
              <a:rPr lang="en-US" sz="2000"/>
              <a:t>•   Logistics companies use ML for route planning, saving significant time and fuel expenses.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ML's Impact on Automation: Efficiency &amp; Cost Reduction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692212258"/>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Continuous Improvement: Machine learning systems are designed to continuously learn and adapt over time.</a:t>
            </a:r>
          </a:p>
          <a:p>
            <a:endParaRPr lang="en-US" sz="2000"/>
          </a:p>
          <a:p>
            <a:r>
              <a:rPr lang="en-US" sz="2000"/>
              <a:t>•   This iterative feedback loop enables industries to consistently refine operations and strategies, fostering ongoing enhancement.</a:t>
            </a:r>
          </a:p>
          <a:p>
            <a:endParaRPr lang="en-US" sz="2000"/>
          </a:p>
          <a:p>
            <a:r>
              <a:rPr lang="en-US" sz="2000"/>
              <a:t>•   Risk Mitigation: ML is a powerful tool for enhanced risk assessment and mitigation.</a:t>
            </a:r>
          </a:p>
          <a:p>
            <a:endParaRPr lang="en-US" sz="2000"/>
          </a:p>
          <a:p>
            <a:r>
              <a:rPr lang="en-US" sz="2000"/>
              <a:t>•   In the insurance sector, algorithms accurately calculate premiums by analyzing customer data, thereby reducing financial risks for companies.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ML's Impact: Continuous Improvement &amp; Risk Mitigation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605513027"/>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Finance: JPMorgan Chase effectively uses machine learning for real-time fraud detection.</a:t>
            </a:r>
          </a:p>
          <a:p>
            <a:endParaRPr lang="en-US" sz="2000"/>
          </a:p>
          <a:p>
            <a:r>
              <a:rPr lang="en-US" sz="2000"/>
              <a:t>•   Their algorithms analyze transaction data to identify unusual patterns, preventing unauthorized transactions and saving millions annually.</a:t>
            </a:r>
          </a:p>
          <a:p>
            <a:endParaRPr lang="en-US" sz="2000"/>
          </a:p>
          <a:p>
            <a:r>
              <a:rPr lang="en-US" sz="2000"/>
              <a:t>•   Healthcare: IBM's Watson for Oncology leverages ML to assist oncologists.</a:t>
            </a:r>
          </a:p>
          <a:p>
            <a:endParaRPr lang="en-US" sz="2000"/>
          </a:p>
          <a:p>
            <a:r>
              <a:rPr lang="en-US" sz="2000"/>
              <a:t>•   It analyzes patient records, medical literature, and clinical trial data to provide personalized cancer treatment recommendations.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Industry Case Studies: Finance &amp; Healthcare</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4193741569"/>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Retail: Amazon's recommendation engine is a premier example of ML in action.</a:t>
            </a:r>
          </a:p>
          <a:p>
            <a:endParaRPr lang="en-US" sz="2000"/>
          </a:p>
          <a:p>
            <a:r>
              <a:rPr lang="en-US" sz="2000"/>
              <a:t>•   By analyzing user behavior and purchase history, it suggests personalized products, significantly boosting sales and customer satisfaction.</a:t>
            </a:r>
          </a:p>
          <a:p>
            <a:endParaRPr lang="en-US" sz="2000"/>
          </a:p>
          <a:p>
            <a:r>
              <a:rPr lang="en-US" sz="2000"/>
              <a:t>•   Manufacturing: General Electric employs machine learning for predictive maintenance of industrial machines.</a:t>
            </a:r>
          </a:p>
          <a:p>
            <a:endParaRPr lang="en-US" sz="2000"/>
          </a:p>
          <a:p>
            <a:r>
              <a:rPr lang="en-US" sz="2000"/>
              <a:t>•   Sensors collect data, and algorithms predict equipment failure, reducing costly downtime and maintenance expenses.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Industry Case Studies: Retail &amp; Manufacturing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168023219"/>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Agriculture: John Deere's Precision Agriculture utilizes machine learning to optimize farming practices.</a:t>
            </a:r>
          </a:p>
          <a:p>
            <a:endParaRPr lang="en-US" sz="2000"/>
          </a:p>
          <a:p>
            <a:r>
              <a:rPr lang="en-US" sz="2000"/>
              <a:t>•   It combines data from sensors, satellites, and historical weather to empower data-driven decisions on planting, irrigation, and harvesting.</a:t>
            </a:r>
          </a:p>
          <a:p>
            <a:endParaRPr lang="en-US" sz="2000"/>
          </a:p>
          <a:p>
            <a:r>
              <a:rPr lang="en-US" sz="2000"/>
              <a:t>•   Transportation: Self-driving cars exemplify ML's impact on the industry.</a:t>
            </a:r>
          </a:p>
          <a:p>
            <a:endParaRPr lang="en-US" sz="2000"/>
          </a:p>
          <a:p>
            <a:r>
              <a:rPr lang="en-US" sz="2000"/>
              <a:t>•   Companies like Tesla and Waymo use ML algorithms for autonomous driving, enhancing safety and overall efficiency.</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Industry Case Studies: Agriculture &amp; Transportation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495834101"/>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Energy: The energy sector significantly benefits from machine learning in optimizing power generation and distribution.</a:t>
            </a:r>
          </a:p>
          <a:p>
            <a:endParaRPr lang="en-US" sz="2000"/>
          </a:p>
          <a:p>
            <a:r>
              <a:rPr lang="en-US" sz="2000"/>
              <a:t>•   Smart grids employ ML to balance energy supply and demand in real-time.</a:t>
            </a:r>
          </a:p>
          <a:p>
            <a:endParaRPr lang="en-US" sz="2000"/>
          </a:p>
          <a:p>
            <a:r>
              <a:rPr lang="en-US" sz="2000"/>
              <a:t>•   This advanced optimization leads to reduced energy waste and substantial cost savings.</a:t>
            </a:r>
          </a:p>
          <a:p>
            <a:endParaRPr lang="en-US" sz="2000"/>
          </a:p>
          <a:p>
            <a:r>
              <a:rPr lang="en-US" sz="2000"/>
              <a:t>•   These diverse applications highlight machine learning's transformative potential across multiple industries.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Industry Case Studies: Energy Sector Optimization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729417277"/>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Machine learning is a pivotal driving force behind contemporary industry trends.</a:t>
            </a:r>
          </a:p>
          <a:p>
            <a:endParaRPr lang="en-US" sz="2000"/>
          </a:p>
          <a:p>
            <a:r>
              <a:rPr lang="en-US" sz="2000"/>
              <a:t>•   It is actively revolutionizing decision-making processes and automation across diverse sectors.</a:t>
            </a:r>
          </a:p>
          <a:p>
            <a:endParaRPr lang="en-US" sz="2000"/>
          </a:p>
          <a:p>
            <a:r>
              <a:rPr lang="en-US" sz="2000"/>
              <a:t>•   Its significance is evident in how it dramatically enhances efficiency and reduces operational costs.</a:t>
            </a:r>
          </a:p>
          <a:p>
            <a:endParaRPr lang="en-US" sz="2000"/>
          </a:p>
          <a:p>
            <a:r>
              <a:rPr lang="en-US" sz="2000"/>
              <a:t>•   ML is a key catalyst for driving innovation and fostering competitive advantage.</a:t>
            </a:r>
          </a:p>
          <a:p>
            <a:endParaRPr lang="en-US" sz="2000"/>
          </a:p>
          <a:p>
            <a:r>
              <a:rPr lang="en-US" sz="2000"/>
              <a:t>•   The industries of the future will undoubtedly be more intelligent, adaptable, and competitive due to ML.</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Conclusion: Machine Learning's Transformative Potential</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8765394"/>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 Which of the following best describes the primary role of machine learning in addressing industry trends, as discussed in the presentation?</a:t>
            </a:r>
          </a:p>
          <a:p>
            <a:r>
              <a:rPr lang="en-US" sz="2000"/>
              <a:t>A) Solely replacing human labor with automated systems.</a:t>
            </a:r>
          </a:p>
          <a:p>
            <a:r>
              <a:rPr lang="en-US" sz="2000"/>
              <a:t>B) Driving innovation and unlocking new possibilities through data analysis.</a:t>
            </a:r>
          </a:p>
          <a:p>
            <a:r>
              <a:rPr lang="en-US" sz="2000"/>
              <a:t>C) Primarily focusing on reducing carbon footprint in manufacturing.</a:t>
            </a:r>
          </a:p>
          <a:p>
            <a:r>
              <a:rPr lang="en-US" sz="2000"/>
              <a:t>D) Standardizing products and services across all industries.</a:t>
            </a:r>
          </a:p>
          <a:p>
            <a:endParaRPr lang="en-US" sz="2000" dirty="0"/>
          </a:p>
        </p:txBody>
      </p:sp>
    </p:spTree>
    <p:extLst>
      <p:ext uri="{BB962C8B-B14F-4D97-AF65-F5344CB8AC3E}">
        <p14:creationId xmlns:p14="http://schemas.microsoft.com/office/powerpoint/2010/main" val="987413728"/>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 Which of the following best describes the primary role of machine learning in addressing industry trends, as discussed in the presentation?</a:t>
            </a:r>
          </a:p>
          <a:p>
            <a:r>
              <a:rPr lang="en-US" sz="2000"/>
              <a:t>A) Solely replacing human labor with automated systems.</a:t>
            </a:r>
          </a:p>
          <a:p>
            <a:r>
              <a:rPr lang="en-US" sz="2000"/>
              <a:t>B) Driving innovation and unlocking new possibilities through data analysis.</a:t>
            </a:r>
          </a:p>
          <a:p>
            <a:r>
              <a:rPr lang="en-US" sz="2000"/>
              <a:t>C) Primarily focusing on reducing carbon footprint in manufacturing.</a:t>
            </a:r>
          </a:p>
          <a:p>
            <a:r>
              <a:rPr lang="en-US" sz="2000"/>
              <a:t>D) Standardizing products and services across all industries.</a:t>
            </a:r>
          </a:p>
          <a:p>
            <a:endParaRPr lang="en-US" sz="2000"/>
          </a:p>
          <a:p>
            <a:endParaRPr lang="en-US" sz="2000"/>
          </a:p>
          <a:p>
            <a:r>
              <a:rPr lang="en-US" sz="2000" b="1"/>
              <a:t>Correct Answer: B) Driving innovation and unlocking new possibilities through data analysis.</a:t>
            </a:r>
          </a:p>
          <a:p>
            <a:r>
              <a:rPr lang="en-US" sz="2000" b="1"/>
              <a:t>Explanation: The presentation states that ML "plays a pivotal role in driving innovation and unlocking new possibilities" by analyzing vast datasets and enabling new applications like predictive analytics and personalization.</a:t>
            </a:r>
          </a:p>
          <a:p>
            <a:endParaRPr lang="en-US" sz="2000" b="1"/>
          </a:p>
          <a:p>
            <a:endParaRPr lang="en-US" sz="2000" dirty="0"/>
          </a:p>
        </p:txBody>
      </p:sp>
    </p:spTree>
    <p:extLst>
      <p:ext uri="{BB962C8B-B14F-4D97-AF65-F5344CB8AC3E}">
        <p14:creationId xmlns:p14="http://schemas.microsoft.com/office/powerpoint/2010/main" val="1369933889"/>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 In the context of "Impact on Decision-Making and Automation," how does machine learning primarily contribute to improving decisions?</a:t>
            </a:r>
          </a:p>
          <a:p>
            <a:r>
              <a:rPr lang="en-US" sz="2000"/>
              <a:t>A) By allowing intuition-based decision-making with historical validation.</a:t>
            </a:r>
          </a:p>
          <a:p>
            <a:r>
              <a:rPr lang="en-US" sz="2000"/>
              <a:t>B) By eliminating the need for any human oversight in critical decisions.</a:t>
            </a:r>
          </a:p>
          <a:p>
            <a:r>
              <a:rPr lang="en-US" sz="2000"/>
              <a:t>C) By leveraging data to make informed and objective decisions, replacing intuition.</a:t>
            </a:r>
          </a:p>
          <a:p>
            <a:r>
              <a:rPr lang="en-US" sz="2000"/>
              <a:t>D) By providing a random selection of options to choose from.</a:t>
            </a:r>
          </a:p>
          <a:p>
            <a:endParaRPr lang="en-US" sz="2000" dirty="0"/>
          </a:p>
        </p:txBody>
      </p:sp>
    </p:spTree>
    <p:extLst>
      <p:ext uri="{BB962C8B-B14F-4D97-AF65-F5344CB8AC3E}">
        <p14:creationId xmlns:p14="http://schemas.microsoft.com/office/powerpoint/2010/main" val="566099835"/>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 In the context of "Impact on Decision-Making and Automation," how does machine learning primarily contribute to improving decisions?</a:t>
            </a:r>
          </a:p>
          <a:p>
            <a:r>
              <a:rPr lang="en-US" sz="2000"/>
              <a:t>A) By allowing intuition-based decision-making with historical validation.</a:t>
            </a:r>
          </a:p>
          <a:p>
            <a:r>
              <a:rPr lang="en-US" sz="2000"/>
              <a:t>B) By eliminating the need for any human oversight in critical decisions.</a:t>
            </a:r>
          </a:p>
          <a:p>
            <a:r>
              <a:rPr lang="en-US" sz="2000"/>
              <a:t>C) By leveraging data to make informed and objective decisions, replacing intuition.</a:t>
            </a:r>
          </a:p>
          <a:p>
            <a:r>
              <a:rPr lang="en-US" sz="2000"/>
              <a:t>D) By providing a random selection of options to choose from.</a:t>
            </a:r>
          </a:p>
          <a:p>
            <a:endParaRPr lang="en-US" sz="2000"/>
          </a:p>
          <a:p>
            <a:endParaRPr lang="en-US" sz="2000"/>
          </a:p>
          <a:p>
            <a:r>
              <a:rPr lang="en-US" sz="2000" b="1"/>
              <a:t>Correct Answer: C) By leveraging data to make informed and objective decisions, replacing intuition.</a:t>
            </a:r>
          </a:p>
          <a:p>
            <a:r>
              <a:rPr lang="en-US" sz="2000" b="1"/>
              <a:t>Explanation: The content explicitly states, "Machine learning leverages data to make informed decisions. This data-driven approach has replaced intuition-based decision-making in many industries, leading to better outcomes."</a:t>
            </a:r>
          </a:p>
          <a:p>
            <a:endParaRPr lang="en-US" sz="2000" b="1"/>
          </a:p>
          <a:p>
            <a:endParaRPr lang="en-US" sz="2000" dirty="0"/>
          </a:p>
        </p:txBody>
      </p:sp>
    </p:spTree>
    <p:extLst>
      <p:ext uri="{BB962C8B-B14F-4D97-AF65-F5344CB8AC3E}">
        <p14:creationId xmlns:p14="http://schemas.microsoft.com/office/powerpoint/2010/main" val="409708360"/>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3: Which industry benefits from machine learning for "real-time quality control measures" to ensure product consistency and reduce defects?</a:t>
            </a:r>
          </a:p>
          <a:p>
            <a:r>
              <a:rPr lang="en-US" sz="2000"/>
              <a:t>A) Finance</a:t>
            </a:r>
          </a:p>
          <a:p>
            <a:r>
              <a:rPr lang="en-US" sz="2000"/>
              <a:t>B) Healthcare</a:t>
            </a:r>
          </a:p>
          <a:p>
            <a:r>
              <a:rPr lang="en-US" sz="2000"/>
              <a:t>C) Manufacturing</a:t>
            </a:r>
          </a:p>
          <a:p>
            <a:r>
              <a:rPr lang="en-US" sz="2000"/>
              <a:t>D) Retail</a:t>
            </a:r>
          </a:p>
          <a:p>
            <a:endParaRPr lang="en-US" sz="2000" dirty="0"/>
          </a:p>
        </p:txBody>
      </p:sp>
    </p:spTree>
    <p:extLst>
      <p:ext uri="{BB962C8B-B14F-4D97-AF65-F5344CB8AC3E}">
        <p14:creationId xmlns:p14="http://schemas.microsoft.com/office/powerpoint/2010/main" val="2965404606"/>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3: Which industry benefits from machine learning for "real-time quality control measures" to ensure product consistency and reduce defects?</a:t>
            </a:r>
          </a:p>
          <a:p>
            <a:r>
              <a:rPr lang="en-US" sz="2000"/>
              <a:t>A) Finance</a:t>
            </a:r>
          </a:p>
          <a:p>
            <a:r>
              <a:rPr lang="en-US" sz="2000"/>
              <a:t>B) Healthcare</a:t>
            </a:r>
          </a:p>
          <a:p>
            <a:r>
              <a:rPr lang="en-US" sz="2000"/>
              <a:t>C) Manufacturing</a:t>
            </a:r>
          </a:p>
          <a:p>
            <a:r>
              <a:rPr lang="en-US" sz="2000"/>
              <a:t>D) Retail</a:t>
            </a:r>
          </a:p>
          <a:p>
            <a:endParaRPr lang="en-US" sz="2000"/>
          </a:p>
          <a:p>
            <a:endParaRPr lang="en-US" sz="2000"/>
          </a:p>
          <a:p>
            <a:r>
              <a:rPr lang="en-US" sz="2000" b="1"/>
              <a:t>Correct Answer: C) Manufacturing</a:t>
            </a:r>
          </a:p>
          <a:p>
            <a:r>
              <a:rPr lang="en-US" sz="2000" b="1"/>
              <a:t>Explanation: The slide on "ML in Industry Trends: Quality &amp; Supply Chain Optimization" clearly states, "Manufacturing industries benefit from machine learning by implementing real-time quality control measures. This ensures product consistency and reduces defects."</a:t>
            </a:r>
          </a:p>
          <a:p>
            <a:endParaRPr lang="en-US" sz="2000" b="1"/>
          </a:p>
          <a:p>
            <a:endParaRPr lang="en-US" sz="2000" dirty="0"/>
          </a:p>
        </p:txBody>
      </p:sp>
    </p:spTree>
    <p:extLst>
      <p:ext uri="{BB962C8B-B14F-4D97-AF65-F5344CB8AC3E}">
        <p14:creationId xmlns:p14="http://schemas.microsoft.com/office/powerpoint/2010/main" val="4017631490"/>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4: Amazon's recommendation engine is cited as a prime example of machine learning in which industry, and for what purpose?</a:t>
            </a:r>
          </a:p>
          <a:p>
            <a:r>
              <a:rPr lang="en-US" sz="2000"/>
              <a:t>A) Healthcare, for personalized treatment recommendations.</a:t>
            </a:r>
          </a:p>
          <a:p>
            <a:r>
              <a:rPr lang="en-US" sz="2000"/>
              <a:t>B) Finance, for real-time fraud detection.</a:t>
            </a:r>
          </a:p>
          <a:p>
            <a:r>
              <a:rPr lang="en-US" sz="2000"/>
              <a:t>C) Retail, for suggesting products tailored to individual preferences.</a:t>
            </a:r>
          </a:p>
          <a:p>
            <a:r>
              <a:rPr lang="en-US" sz="2000"/>
              <a:t>D) Transportation, for optimizing route planning.</a:t>
            </a:r>
          </a:p>
          <a:p>
            <a:endParaRPr lang="en-US" sz="2000" dirty="0"/>
          </a:p>
        </p:txBody>
      </p:sp>
    </p:spTree>
    <p:extLst>
      <p:ext uri="{BB962C8B-B14F-4D97-AF65-F5344CB8AC3E}">
        <p14:creationId xmlns:p14="http://schemas.microsoft.com/office/powerpoint/2010/main" val="3158576675"/>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4: Amazon's recommendation engine is cited as a prime example of machine learning in which industry, and for what purpose?</a:t>
            </a:r>
          </a:p>
          <a:p>
            <a:r>
              <a:rPr lang="en-US" sz="2000"/>
              <a:t>A) Healthcare, for personalized treatment recommendations.</a:t>
            </a:r>
          </a:p>
          <a:p>
            <a:r>
              <a:rPr lang="en-US" sz="2000"/>
              <a:t>B) Finance, for real-time fraud detection.</a:t>
            </a:r>
          </a:p>
          <a:p>
            <a:r>
              <a:rPr lang="en-US" sz="2000"/>
              <a:t>C) Retail, for suggesting products tailored to individual preferences.</a:t>
            </a:r>
          </a:p>
          <a:p>
            <a:r>
              <a:rPr lang="en-US" sz="2000"/>
              <a:t>D) Transportation, for optimizing route planning.</a:t>
            </a:r>
          </a:p>
          <a:p>
            <a:endParaRPr lang="en-US" sz="2000"/>
          </a:p>
          <a:p>
            <a:endParaRPr lang="en-US" sz="2000"/>
          </a:p>
          <a:p>
            <a:r>
              <a:rPr lang="en-US" sz="2000" b="1"/>
              <a:t>Correct Answer: C) Retail, for suggesting products tailored to individual preferences.</a:t>
            </a:r>
          </a:p>
          <a:p>
            <a:r>
              <a:rPr lang="en-US" sz="2000" b="1"/>
              <a:t>Explanation: The presentation mentions under "Case Studies from Various Industries" that "Amazon's recommendation engine is a prime example of machine learning in action. By analyzing user behavior and purchase history, it suggests products, significantly increasing sales and customer satisfaction."</a:t>
            </a:r>
          </a:p>
          <a:p>
            <a:endParaRPr lang="en-US" sz="2000" b="1"/>
          </a:p>
          <a:p>
            <a:endParaRPr lang="en-US" sz="2000" dirty="0"/>
          </a:p>
        </p:txBody>
      </p:sp>
    </p:spTree>
    <p:extLst>
      <p:ext uri="{BB962C8B-B14F-4D97-AF65-F5344CB8AC3E}">
        <p14:creationId xmlns:p14="http://schemas.microsoft.com/office/powerpoint/2010/main" val="1574518195"/>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 How does machine learning contribute to "Continuous Improvement" within industries?</a:t>
            </a:r>
          </a:p>
          <a:p>
            <a:r>
              <a:rPr lang="en-US" sz="2000"/>
              <a:t>A) By setting fixed, unchanging operational parameters.</a:t>
            </a:r>
          </a:p>
          <a:p>
            <a:r>
              <a:rPr lang="en-US" sz="2000"/>
              <a:t>B) By systems continually learning and adapting, refining processes over time.</a:t>
            </a:r>
          </a:p>
          <a:p>
            <a:r>
              <a:rPr lang="en-US" sz="2000"/>
              <a:t>C) By strictly adhering to predefined, static business strategies.</a:t>
            </a:r>
          </a:p>
          <a:p>
            <a:r>
              <a:rPr lang="en-US" sz="2000"/>
              <a:t>D) By automating all manual tasks without further optimization.</a:t>
            </a:r>
          </a:p>
          <a:p>
            <a:endParaRPr lang="en-US" sz="2000" dirty="0"/>
          </a:p>
        </p:txBody>
      </p:sp>
    </p:spTree>
    <p:extLst>
      <p:ext uri="{BB962C8B-B14F-4D97-AF65-F5344CB8AC3E}">
        <p14:creationId xmlns:p14="http://schemas.microsoft.com/office/powerpoint/2010/main" val="304210486"/>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 How does machine learning contribute to "Continuous Improvement" within industries?</a:t>
            </a:r>
          </a:p>
          <a:p>
            <a:r>
              <a:rPr lang="en-US" sz="2000"/>
              <a:t>A) By setting fixed, unchanging operational parameters.</a:t>
            </a:r>
          </a:p>
          <a:p>
            <a:r>
              <a:rPr lang="en-US" sz="2000"/>
              <a:t>B) By systems continually learning and adapting, refining processes over time.</a:t>
            </a:r>
          </a:p>
          <a:p>
            <a:r>
              <a:rPr lang="en-US" sz="2000"/>
              <a:t>C) By strictly adhering to predefined, static business strategies.</a:t>
            </a:r>
          </a:p>
          <a:p>
            <a:r>
              <a:rPr lang="en-US" sz="2000"/>
              <a:t>D) By automating all manual tasks without further optimization.</a:t>
            </a:r>
          </a:p>
          <a:p>
            <a:endParaRPr lang="en-US" sz="2000"/>
          </a:p>
          <a:p>
            <a:endParaRPr lang="en-US" sz="2000"/>
          </a:p>
          <a:p>
            <a:r>
              <a:rPr lang="en-US" sz="2000" b="1"/>
              <a:t>Correct Answer: B) By systems continually learning and adapting, refining processes over time.</a:t>
            </a:r>
          </a:p>
          <a:p>
            <a:r>
              <a:rPr lang="en-US" sz="2000" b="1"/>
              <a:t>Explanation: The "Impact on Decision-Making and Automation" section highlights, "Machine learning systems continually learn and adapt, enabling industries to improve processes over time. This iterative feedback loop is invaluable in refining operations and strategies."</a:t>
            </a:r>
          </a:p>
          <a:p>
            <a:endParaRPr lang="en-US" sz="2000" b="1"/>
          </a:p>
          <a:p>
            <a:endParaRPr lang="en-US" sz="2000" dirty="0"/>
          </a:p>
        </p:txBody>
      </p:sp>
    </p:spTree>
    <p:extLst>
      <p:ext uri="{BB962C8B-B14F-4D97-AF65-F5344CB8AC3E}">
        <p14:creationId xmlns:p14="http://schemas.microsoft.com/office/powerpoint/2010/main" val="924375601"/>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6: In the transportation sector, what is a significant application of machine learning mentioned in the case studies?</a:t>
            </a:r>
          </a:p>
          <a:p>
            <a:r>
              <a:rPr lang="en-US" sz="2000"/>
              <a:t>A) Optimizing public transport schedules manually.</a:t>
            </a:r>
          </a:p>
          <a:p>
            <a:r>
              <a:rPr lang="en-US" sz="2000"/>
              <a:t>B) Enabling autonomous driving in self-driving cars.</a:t>
            </a:r>
          </a:p>
          <a:p>
            <a:r>
              <a:rPr lang="en-US" sz="2000"/>
              <a:t>C) Reducing the speed limits for all vehicles.</a:t>
            </a:r>
          </a:p>
          <a:p>
            <a:r>
              <a:rPr lang="en-US" sz="2000"/>
              <a:t>D) Calculating fuel efficiency based on driver behavior.</a:t>
            </a:r>
          </a:p>
          <a:p>
            <a:endParaRPr lang="en-US" sz="2000" dirty="0"/>
          </a:p>
        </p:txBody>
      </p:sp>
    </p:spTree>
    <p:extLst>
      <p:ext uri="{BB962C8B-B14F-4D97-AF65-F5344CB8AC3E}">
        <p14:creationId xmlns:p14="http://schemas.microsoft.com/office/powerpoint/2010/main" val="2606481571"/>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6: In the transportation sector, what is a significant application of machine learning mentioned in the case studies?</a:t>
            </a:r>
          </a:p>
          <a:p>
            <a:r>
              <a:rPr lang="en-US" sz="2000"/>
              <a:t>A) Optimizing public transport schedules manually.</a:t>
            </a:r>
          </a:p>
          <a:p>
            <a:r>
              <a:rPr lang="en-US" sz="2000"/>
              <a:t>B) Enabling autonomous driving in self-driving cars.</a:t>
            </a:r>
          </a:p>
          <a:p>
            <a:r>
              <a:rPr lang="en-US" sz="2000"/>
              <a:t>C) Reducing the speed limits for all vehicles.</a:t>
            </a:r>
          </a:p>
          <a:p>
            <a:r>
              <a:rPr lang="en-US" sz="2000"/>
              <a:t>D) Calculating fuel efficiency based on driver behavior.</a:t>
            </a:r>
          </a:p>
          <a:p>
            <a:endParaRPr lang="en-US" sz="2000"/>
          </a:p>
          <a:p>
            <a:endParaRPr lang="en-US" sz="2000"/>
          </a:p>
          <a:p>
            <a:r>
              <a:rPr lang="en-US" sz="2000" b="1"/>
              <a:t>Correct Answer: B) Enabling autonomous driving in self-driving cars.</a:t>
            </a:r>
          </a:p>
          <a:p>
            <a:r>
              <a:rPr lang="en-US" sz="2000" b="1"/>
              <a:t>Explanation: The "Industry Case Studies: Agriculture &amp; Transportation" slide notes, "Self-driving cars are a testament to the impact of machine learning in the transportation industry. Companies like Tesla and Waymo utilize machine learning algorithms to enable autonomous driving, improving safety and efficiency."</a:t>
            </a:r>
          </a:p>
          <a:p>
            <a:endParaRPr lang="en-US" sz="2000" b="1"/>
          </a:p>
          <a:p>
            <a:endParaRPr lang="en-US" sz="2000" dirty="0"/>
          </a:p>
        </p:txBody>
      </p:sp>
    </p:spTree>
    <p:extLst>
      <p:ext uri="{BB962C8B-B14F-4D97-AF65-F5344CB8AC3E}">
        <p14:creationId xmlns:p14="http://schemas.microsoft.com/office/powerpoint/2010/main" val="1392415844"/>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7: Machine learning's contribution to "Energy Efficiency" primarily results in what two benefits?</a:t>
            </a:r>
          </a:p>
          <a:p>
            <a:r>
              <a:rPr lang="en-US" sz="2000"/>
              <a:t>A) Increased energy consumption and higher costs.</a:t>
            </a:r>
          </a:p>
          <a:p>
            <a:r>
              <a:rPr lang="en-US" sz="2000"/>
              <a:t>B) Optimized energy usage and reduced reliance on renewable sources.</a:t>
            </a:r>
          </a:p>
          <a:p>
            <a:r>
              <a:rPr lang="en-US" sz="2000"/>
              <a:t>C) Reduced costs and contributions to sustainability.</a:t>
            </a:r>
          </a:p>
          <a:p>
            <a:r>
              <a:rPr lang="en-US" sz="2000"/>
              <a:t>D) More complex energy grids and manual management.</a:t>
            </a:r>
          </a:p>
          <a:p>
            <a:endParaRPr lang="en-US" sz="2000" dirty="0"/>
          </a:p>
        </p:txBody>
      </p:sp>
    </p:spTree>
    <p:extLst>
      <p:ext uri="{BB962C8B-B14F-4D97-AF65-F5344CB8AC3E}">
        <p14:creationId xmlns:p14="http://schemas.microsoft.com/office/powerpoint/2010/main" val="2441965801"/>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7: Machine learning's contribution to "Energy Efficiency" primarily results in what two benefits?</a:t>
            </a:r>
          </a:p>
          <a:p>
            <a:r>
              <a:rPr lang="en-US" sz="2000"/>
              <a:t>A) Increased energy consumption and higher costs.</a:t>
            </a:r>
          </a:p>
          <a:p>
            <a:r>
              <a:rPr lang="en-US" sz="2000"/>
              <a:t>B) Optimized energy usage and reduced reliance on renewable sources.</a:t>
            </a:r>
          </a:p>
          <a:p>
            <a:r>
              <a:rPr lang="en-US" sz="2000"/>
              <a:t>C) Reduced costs and contributions to sustainability.</a:t>
            </a:r>
          </a:p>
          <a:p>
            <a:r>
              <a:rPr lang="en-US" sz="2000"/>
              <a:t>D) More complex energy grids and manual management.</a:t>
            </a:r>
          </a:p>
          <a:p>
            <a:endParaRPr lang="en-US" sz="2000"/>
          </a:p>
          <a:p>
            <a:endParaRPr lang="en-US" sz="2000"/>
          </a:p>
          <a:p>
            <a:r>
              <a:rPr lang="en-US" sz="2000" b="1"/>
              <a:t>Correct Answer: C) Reduced costs and contributions to sustainability.</a:t>
            </a:r>
          </a:p>
          <a:p>
            <a:r>
              <a:rPr lang="en-US" sz="2000" b="1"/>
              <a:t>Explanation: The content states, "Machine learning algorithms optimize energy consumption in various sectors... This not only reduces costs but also contributes to sustainability."</a:t>
            </a:r>
          </a:p>
          <a:p>
            <a:endParaRPr lang="en-US" sz="2000" b="1"/>
          </a:p>
          <a:p>
            <a:endParaRPr lang="en-US" sz="2000" dirty="0"/>
          </a:p>
        </p:txBody>
      </p:sp>
    </p:spTree>
    <p:extLst>
      <p:ext uri="{BB962C8B-B14F-4D97-AF65-F5344CB8AC3E}">
        <p14:creationId xmlns:p14="http://schemas.microsoft.com/office/powerpoint/2010/main" val="1030069937"/>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pPr algn="just"/>
            <a:endParaRPr lang="en-US" sz="2000" dirty="0"/>
          </a:p>
          <a:p>
            <a:pPr algn="just"/>
            <a:endParaRPr lang="en-US" sz="2000" dirty="0"/>
          </a:p>
          <a:p>
            <a:pPr algn="just"/>
            <a:r>
              <a:rPr lang="en-US" sz="2000" dirty="0"/>
              <a:t>A large retail chain, "</a:t>
            </a:r>
            <a:r>
              <a:rPr lang="en-US" sz="2000" dirty="0" err="1"/>
              <a:t>ShopSmart</a:t>
            </a:r>
            <a:r>
              <a:rPr lang="en-US" sz="2000" dirty="0"/>
              <a:t>," is experiencing declining customer engagement and stagnating sales. They currently use a generic marketing strategy for all customers and struggle to predict which products will be popular next season. The CEO has heard about machine learning's potential and tasks your team with finding ways ML can specifically address their challenges in driving sales and customer satisfaction.</a:t>
            </a:r>
          </a:p>
          <a:p>
            <a:pPr algn="just"/>
            <a:endParaRPr lang="en-US" sz="2000" dirty="0"/>
          </a:p>
          <a:p>
            <a:pPr algn="just"/>
            <a:r>
              <a:rPr lang="en-US" sz="2000" dirty="0"/>
              <a:t>Based only on the "4.1 Industry Significance" content provided, identify two key areas where machine learning could be applied at </a:t>
            </a:r>
            <a:r>
              <a:rPr lang="en-US" sz="2000" dirty="0" err="1"/>
              <a:t>ShopSmart</a:t>
            </a:r>
            <a:r>
              <a:rPr lang="en-US" sz="2000" dirty="0"/>
              <a:t> to tackle their issues, and briefly explain how each application would work to improve their situation.</a:t>
            </a:r>
          </a:p>
          <a:p>
            <a:pPr algn="just"/>
            <a:endParaRPr lang="en-US" sz="2000" dirty="0"/>
          </a:p>
          <a:p>
            <a:pPr algn="just"/>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2763147862"/>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fontScale="92500" lnSpcReduction="20000"/>
          </a:bodyPr>
          <a:lstStyle/>
          <a:p>
            <a:pPr algn="just"/>
            <a:r>
              <a:rPr lang="en-US" sz="2000" dirty="0"/>
              <a:t>Solution:</a:t>
            </a:r>
          </a:p>
          <a:p>
            <a:pPr algn="just"/>
            <a:endParaRPr lang="en-US" sz="2000" dirty="0"/>
          </a:p>
          <a:p>
            <a:pPr algn="just"/>
            <a:endParaRPr lang="en-US" sz="2000" dirty="0"/>
          </a:p>
          <a:p>
            <a:pPr algn="just"/>
            <a:r>
              <a:rPr lang="en-US" sz="2000" dirty="0"/>
              <a:t>1.  Personalization (Recommendation Systems):</a:t>
            </a:r>
          </a:p>
          <a:p>
            <a:pPr algn="just"/>
            <a:r>
              <a:rPr lang="en-US" sz="2000" dirty="0"/>
              <a:t>How it works: Machine learning can analyze individual customer behavior, purchase history, browsing patterns, and even demographic data. Based on this analysis, it can develop personalized recommendation systems.</a:t>
            </a:r>
          </a:p>
          <a:p>
            <a:pPr algn="just"/>
            <a:r>
              <a:rPr lang="en-US" sz="2000" dirty="0"/>
              <a:t>Improvement for </a:t>
            </a:r>
            <a:r>
              <a:rPr lang="en-US" sz="2000" dirty="0" err="1"/>
              <a:t>ShopSmart</a:t>
            </a:r>
            <a:r>
              <a:rPr lang="en-US" sz="2000" dirty="0"/>
              <a:t>: Instead of generic marketing, </a:t>
            </a:r>
            <a:r>
              <a:rPr lang="en-US" sz="2000" dirty="0" err="1"/>
              <a:t>ShopSmart</a:t>
            </a:r>
            <a:r>
              <a:rPr lang="en-US" sz="2000" dirty="0"/>
              <a:t> can suggest products tailored to each customer's preferences. This would increase customer engagement by showing relevant items, likely leading to higher sales and improved customer satisfaction as shoppers find products they genuinely want.</a:t>
            </a:r>
          </a:p>
          <a:p>
            <a:pPr algn="just"/>
            <a:endParaRPr lang="en-US" sz="2000" dirty="0"/>
          </a:p>
          <a:p>
            <a:pPr algn="just"/>
            <a:r>
              <a:rPr lang="en-US" sz="2000" dirty="0"/>
              <a:t>2.  Enhanced Predictive Analytics:</a:t>
            </a:r>
          </a:p>
          <a:p>
            <a:pPr algn="just"/>
            <a:r>
              <a:rPr lang="en-US" sz="2000" dirty="0"/>
              <a:t>How it works: Machine learning algorithms are adept at analyzing vast datasets, including past sales, seasonal trends, external market data, and even social media sentiment. This allows them to make highly accurate predictions about future demand.</a:t>
            </a:r>
          </a:p>
          <a:p>
            <a:pPr algn="just"/>
            <a:r>
              <a:rPr lang="en-US" sz="2000" dirty="0"/>
              <a:t>Improvement for </a:t>
            </a:r>
            <a:r>
              <a:rPr lang="en-US" sz="2000" dirty="0" err="1"/>
              <a:t>ShopSmart</a:t>
            </a:r>
            <a:r>
              <a:rPr lang="en-US" sz="2000" dirty="0"/>
              <a:t>: </a:t>
            </a:r>
            <a:r>
              <a:rPr lang="en-US" sz="2000" dirty="0" err="1"/>
              <a:t>ShopSmart</a:t>
            </a:r>
            <a:r>
              <a:rPr lang="en-US" sz="2000" dirty="0"/>
              <a:t> can use predictive analytics to forecast which products will be popular next season. This would enable them to optimize inventory, stock popular items, and develop more targeted marketing campaigns, directly addressing stagnating sales and improving stock management.</a:t>
            </a:r>
          </a:p>
          <a:p>
            <a:pPr algn="just"/>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986083530"/>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Session Summary</a:t>
            </a:r>
            <a:endParaRPr lang="en-US" sz="2800" b="1" dirty="0">
              <a:solidFill>
                <a:srgbClr val="D9212B"/>
              </a:solidFill>
            </a:endParaRPr>
          </a:p>
        </p:txBody>
      </p:sp>
      <p:sp>
        <p:nvSpPr>
          <p:cNvPr id="5" name="Google Shape;135;p9"/>
          <p:cNvSpPr txBox="1"/>
          <p:nvPr/>
        </p:nvSpPr>
        <p:spPr>
          <a:xfrm>
            <a:off x="715540" y="1569935"/>
            <a:ext cx="11043644" cy="4175462"/>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Understand the profound impact of machine learning on diverse industries.</a:t>
            </a:r>
          </a:p>
          <a:p>
            <a:pPr>
              <a:lnSpc>
                <a:spcPct val="115000"/>
              </a:lnSpc>
              <a:spcAft>
                <a:spcPts val="1000"/>
              </a:spcAft>
            </a:pPr>
            <a:r>
              <a:rPr lang="en-US" dirty="0">
                <a:latin typeface=""/>
                <a:ea typeface="Times New Roman"/>
                <a:cs typeface="Times New Roman"/>
              </a:rPr>
              <a:t>•   Identify key industry trends revolutionized by machine learning, such as predictive analytics and personalization.</a:t>
            </a:r>
          </a:p>
          <a:p>
            <a:pPr>
              <a:lnSpc>
                <a:spcPct val="115000"/>
              </a:lnSpc>
              <a:spcAft>
                <a:spcPts val="1000"/>
              </a:spcAft>
            </a:pPr>
            <a:r>
              <a:rPr lang="en-US" dirty="0">
                <a:latin typeface=""/>
                <a:ea typeface="Times New Roman"/>
                <a:cs typeface="Times New Roman"/>
              </a:rPr>
              <a:t>•   Analyze how machine learning enhances decision-making and automation processes.</a:t>
            </a:r>
          </a:p>
          <a:p>
            <a:pPr>
              <a:lnSpc>
                <a:spcPct val="115000"/>
              </a:lnSpc>
              <a:spcAft>
                <a:spcPts val="1000"/>
              </a:spcAft>
            </a:pPr>
            <a:r>
              <a:rPr lang="en-US" dirty="0">
                <a:latin typeface=""/>
                <a:ea typeface="Times New Roman"/>
                <a:cs typeface="Times New Roman"/>
              </a:rPr>
              <a:t>•   Recognize concrete examples of machine learning applications across various sectors through case studies.</a:t>
            </a:r>
          </a:p>
          <a:p>
            <a:pPr>
              <a:lnSpc>
                <a:spcPct val="115000"/>
              </a:lnSpc>
              <a:spcAft>
                <a:spcPts val="1000"/>
              </a:spcAft>
            </a:pPr>
            <a:r>
              <a:rPr lang="en-US" dirty="0">
                <a:latin typeface=""/>
                <a:ea typeface="Times New Roman"/>
                <a:cs typeface="Times New Roman"/>
              </a:rPr>
              <a:t>•   Appreciate machine learning's role in driving efficiency, reducing costs, and fostering innovation in businesses.</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949078217"/>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Learning Objectives 11</a:t>
            </a:r>
            <a:endParaRPr lang="en-US" sz="2800" b="1" dirty="0">
              <a:solidFill>
                <a:srgbClr val="D9212B"/>
              </a:solidFill>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96;p3"/>
          <p:cNvSpPr txBox="1"/>
          <p:nvPr/>
        </p:nvSpPr>
        <p:spPr>
          <a:xfrm>
            <a:off x="773393" y="1672895"/>
            <a:ext cx="8074981" cy="57134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000"/>
              <a:buFont typeface="Arial"/>
              <a:buNone/>
            </a:pPr>
            <a:r>
              <a:rPr lang="en-US" sz="2000" b="1" dirty="0">
                <a:solidFill>
                  <a:schemeClr val="dk1"/>
                </a:solidFill>
                <a:latin typeface="Avenir"/>
                <a:ea typeface="Avenir"/>
                <a:cs typeface="Avenir"/>
                <a:sym typeface="Avenir"/>
              </a:rPr>
              <a:t>By the end of this session, you will be able to:</a:t>
            </a:r>
            <a:endParaRPr dirty="0"/>
          </a:p>
        </p:txBody>
      </p:sp>
      <p:sp>
        <p:nvSpPr>
          <p:cNvPr id="5" name="Google Shape;98;p3"/>
          <p:cNvSpPr txBox="1"/>
          <p:nvPr/>
        </p:nvSpPr>
        <p:spPr>
          <a:xfrm>
            <a:off x="885636" y="2326538"/>
            <a:ext cx="10132884" cy="3538364"/>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Understand the transition from theoretical ML concepts to practical application.</a:t>
            </a:r>
          </a:p>
          <a:p>
            <a:pPr>
              <a:lnSpc>
                <a:spcPct val="115000"/>
              </a:lnSpc>
              <a:spcAft>
                <a:spcPts val="1000"/>
              </a:spcAft>
            </a:pPr>
            <a:r>
              <a:rPr lang="en-US" dirty="0">
                <a:latin typeface=""/>
                <a:ea typeface="Times New Roman"/>
                <a:cs typeface="Times New Roman"/>
              </a:rPr>
              <a:t>•   Identify the key Python libraries and tools essential for machine learning projects.</a:t>
            </a:r>
          </a:p>
          <a:p>
            <a:pPr>
              <a:lnSpc>
                <a:spcPct val="115000"/>
              </a:lnSpc>
              <a:spcAft>
                <a:spcPts val="1000"/>
              </a:spcAft>
            </a:pPr>
            <a:r>
              <a:rPr lang="en-US" dirty="0">
                <a:latin typeface=""/>
                <a:ea typeface="Times New Roman"/>
                <a:cs typeface="Times New Roman"/>
              </a:rPr>
              <a:t>•   Learn the stages involved in building a comprehensive end-to-end machine learning pipeline.</a:t>
            </a:r>
          </a:p>
          <a:p>
            <a:pPr>
              <a:lnSpc>
                <a:spcPct val="115000"/>
              </a:lnSpc>
              <a:spcAft>
                <a:spcPts val="1000"/>
              </a:spcAft>
            </a:pPr>
            <a:r>
              <a:rPr lang="en-US" dirty="0">
                <a:latin typeface=""/>
                <a:ea typeface="Times New Roman"/>
                <a:cs typeface="Times New Roman"/>
              </a:rPr>
              <a:t>•   Explore critical considerations for deploying machine learning models in real-world scenarios.</a:t>
            </a:r>
          </a:p>
          <a:p>
            <a:pPr>
              <a:lnSpc>
                <a:spcPct val="115000"/>
              </a:lnSpc>
              <a:spcAft>
                <a:spcPts val="1000"/>
              </a:spcAft>
            </a:pPr>
            <a:r>
              <a:rPr lang="en-US" dirty="0">
                <a:latin typeface=""/>
                <a:ea typeface="Times New Roman"/>
                <a:cs typeface="Times New Roman"/>
              </a:rPr>
              <a:t>•   Develop a holistic view of successful ML project execution, from data to deployment and maintenance.</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1241768135"/>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Practical implementation is where machine learning theories and algorithms are applied to real-world problems.</a:t>
            </a:r>
          </a:p>
          <a:p>
            <a:endParaRPr lang="en-US" sz="2000"/>
          </a:p>
          <a:p>
            <a:r>
              <a:rPr lang="en-US" sz="2000"/>
              <a:t>•   It focuses on putting models into action to generate tangible solutions and insights.</a:t>
            </a:r>
          </a:p>
          <a:p>
            <a:endParaRPr lang="en-US" sz="2000"/>
          </a:p>
          <a:p>
            <a:r>
              <a:rPr lang="en-US" sz="2000"/>
              <a:t>•   This section will delve into the hands-on aspects of developing ML solutions using Python.</a:t>
            </a:r>
          </a:p>
          <a:p>
            <a:endParaRPr lang="en-US" sz="2000"/>
          </a:p>
          <a:p>
            <a:r>
              <a:rPr lang="en-US" sz="2000"/>
              <a:t>•   We'll cover essential libraries, building pipelines, and critical deployment considerations.</a:t>
            </a:r>
          </a:p>
          <a:p>
            <a:endParaRPr lang="en-US" sz="2000"/>
          </a:p>
          <a:p>
            <a:r>
              <a:rPr lang="en-US" sz="2000"/>
              <a:t>•   Understanding practical implementation is crucial for successful ML project execution.</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Practical Implementation: Bridging Theory to Action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998143045"/>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Python is the de facto programming language for machine learning and artificial intelligence.</a:t>
            </a:r>
          </a:p>
          <a:p>
            <a:endParaRPr lang="en-US" sz="2000"/>
          </a:p>
          <a:p>
            <a:r>
              <a:rPr lang="en-US" sz="2000"/>
              <a:t>•   Its popularity stems from its versatility, ease of use, and extensive ecosystem.</a:t>
            </a:r>
          </a:p>
          <a:p>
            <a:endParaRPr lang="en-US" sz="2000"/>
          </a:p>
          <a:p>
            <a:r>
              <a:rPr lang="en-US" sz="2000"/>
              <a:t>•   A rich collection of libraries and tools makes it suitable for both beginners and seasoned practitioners.</a:t>
            </a:r>
          </a:p>
          <a:p>
            <a:endParaRPr lang="en-US" sz="2000"/>
          </a:p>
          <a:p>
            <a:r>
              <a:rPr lang="en-US" sz="2000"/>
              <a:t>•   Python simplifies complex tasks, allowing developers to focus on problem-solving.</a:t>
            </a:r>
          </a:p>
          <a:p>
            <a:endParaRPr lang="en-US" sz="2000"/>
          </a:p>
          <a:p>
            <a:r>
              <a:rPr lang="en-US" sz="2000"/>
              <a:t>•   It serves as the foundation for building, training, and deploying ML models.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Python: The Machine Learning Powerhouse</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574895168"/>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NumPy: Fundamental for scientific computing, providing support for large, multi-dimensional arrays and matrices.</a:t>
            </a:r>
          </a:p>
          <a:p>
            <a:endParaRPr lang="en-US" sz="2000"/>
          </a:p>
          <a:p>
            <a:r>
              <a:rPr lang="en-US" sz="2000"/>
              <a:t>• Pandas: A powerful library for data manipulation and analysis, offering DataFrames for structured data.</a:t>
            </a:r>
          </a:p>
          <a:p>
            <a:endParaRPr lang="en-US" sz="2000"/>
          </a:p>
          <a:p>
            <a:r>
              <a:rPr lang="en-US" sz="2000"/>
              <a:t>• Matplotlib: Used for creating static, interactive, and animated visualizations in Python.</a:t>
            </a:r>
          </a:p>
          <a:p>
            <a:endParaRPr lang="en-US" sz="2000"/>
          </a:p>
          <a:p>
            <a:r>
              <a:rPr lang="en-US" sz="2000"/>
              <a:t>• Seaborn: Built on Matplotlib, it offers a high-level interface for drawing attractive statistical graphics.</a:t>
            </a:r>
          </a:p>
          <a:p>
            <a:endParaRPr lang="en-US" sz="2000"/>
          </a:p>
          <a:p>
            <a:r>
              <a:rPr lang="en-US" sz="2000"/>
              <a:t>•   These libraries are crucial for data loading, cleaning, transformation, and initial exploration.</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Essential Python Libraries (Part 1: Data Handling &amp; Visualization)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262949985"/>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Scikit-Learn: A comprehensive machine learning library with a wide range of algorithms for classification, regression, and clustering.</a:t>
            </a:r>
          </a:p>
          <a:p>
            <a:endParaRPr lang="en-US" sz="2000"/>
          </a:p>
          <a:p>
            <a:r>
              <a:rPr lang="en-US" sz="2000"/>
              <a:t>•   It provides tools for model selection, preprocessing, and evaluation, streamlining the ML workflow.</a:t>
            </a:r>
          </a:p>
          <a:p>
            <a:endParaRPr lang="en-US" sz="2000"/>
          </a:p>
          <a:p>
            <a:r>
              <a:rPr lang="en-US" sz="2000"/>
              <a:t>• TensorFlow: A robust deep learning framework known for its versatility and scalability, suitable for large-scale neural networks.</a:t>
            </a:r>
          </a:p>
          <a:p>
            <a:endParaRPr lang="en-US" sz="2000"/>
          </a:p>
          <a:p>
            <a:r>
              <a:rPr lang="en-US" sz="2000"/>
              <a:t>• PyTorch: Another leading deep learning framework, praised for its dynamic computation graph and ease of debugging.</a:t>
            </a:r>
          </a:p>
          <a:p>
            <a:endParaRPr lang="en-US" sz="2000"/>
          </a:p>
          <a:p>
            <a:r>
              <a:rPr lang="en-US" sz="2000"/>
              <a:t>•   These libraries enable the building and training of complex traditional and deep learning models.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Essential Python Libraries (Part 2: Modeling &amp; Deep Learning)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336867678"/>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Developing an ML model is only one piece of a larger puzzle in practical applications.</a:t>
            </a:r>
          </a:p>
          <a:p>
            <a:endParaRPr lang="en-US" sz="2000"/>
          </a:p>
          <a:p>
            <a:r>
              <a:rPr lang="en-US" sz="2000"/>
              <a:t>•   End-to-end pipelines encompass the entire lifecycle, from data acquisition to model deployment.</a:t>
            </a:r>
          </a:p>
          <a:p>
            <a:endParaRPr lang="en-US" sz="2000"/>
          </a:p>
          <a:p>
            <a:r>
              <a:rPr lang="en-US" sz="2000"/>
              <a:t>•   These structured workflows ensure consistency, reproducibility, and efficiency in ML projects.</a:t>
            </a:r>
          </a:p>
          <a:p>
            <a:endParaRPr lang="en-US" sz="2000"/>
          </a:p>
          <a:p>
            <a:r>
              <a:rPr lang="en-US" sz="2000"/>
              <a:t>•   A pipeline integrates data collection, preprocessing, model training, evaluation, and deployment steps.</a:t>
            </a:r>
          </a:p>
          <a:p>
            <a:endParaRPr lang="en-US" sz="2000"/>
          </a:p>
          <a:p>
            <a:r>
              <a:rPr lang="en-US" sz="2000"/>
              <a:t>•   It's essential for creating robust and production-ready machine learning solutions.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Building End-to-End Machine Learning Pipelines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381542453"/>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Data Collection: The initial stage involves acquiring relevant data through scraping, database queries, or existing datasets.</a:t>
            </a:r>
          </a:p>
          <a:p>
            <a:endParaRPr lang="en-US" sz="2000"/>
          </a:p>
          <a:p>
            <a:r>
              <a:rPr lang="en-US" sz="2000"/>
              <a:t>• Data Preprocessing: Raw data is cleaned, transformed, and prepared for modeling, addressing missing values, outliers, and feature scaling.</a:t>
            </a:r>
          </a:p>
          <a:p>
            <a:endParaRPr lang="en-US" sz="2000"/>
          </a:p>
          <a:p>
            <a:r>
              <a:rPr lang="en-US" sz="2000"/>
              <a:t>• Model Training: Selecting an appropriate ML or deep learning model and training it on the preprocessed data.</a:t>
            </a:r>
          </a:p>
          <a:p>
            <a:endParaRPr lang="en-US" sz="2000"/>
          </a:p>
          <a:p>
            <a:r>
              <a:rPr lang="en-US" sz="2000"/>
              <a:t>•   Data is typically split into training and testing sets to assess the model's generalization capabilities.</a:t>
            </a:r>
          </a:p>
          <a:p>
            <a:endParaRPr lang="en-US" sz="2000"/>
          </a:p>
          <a:p>
            <a:r>
              <a:rPr lang="en-US" sz="2000"/>
              <a:t>•   This stage focuses on developing a performant model based on the refined dataset.</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ML Pipeline Stages: Data to Model Training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663514167"/>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Model Evaluation: Assessing the trained model's performance using specific metrics (e.g., accuracy, precision, recall, F1-score for classification; MSE, R-squared for regression).</a:t>
            </a:r>
          </a:p>
          <a:p>
            <a:endParaRPr lang="en-US" sz="2000"/>
          </a:p>
          <a:p>
            <a:r>
              <a:rPr lang="en-US" sz="2000"/>
              <a:t>•   Evaluation ensures the model meets the desired performance criteria before deployment.</a:t>
            </a:r>
          </a:p>
          <a:p>
            <a:endParaRPr lang="en-US" sz="2000"/>
          </a:p>
          <a:p>
            <a:r>
              <a:rPr lang="en-US" sz="2000"/>
              <a:t>• Deployment: The final step involves making the trained and validated model available for real-world use.</a:t>
            </a:r>
          </a:p>
          <a:p>
            <a:endParaRPr lang="en-US" sz="2000"/>
          </a:p>
          <a:p>
            <a:r>
              <a:rPr lang="en-US" sz="2000"/>
              <a:t>•   This often includes creating APIs, setting up hosting environments, and integrating with existing systems.</a:t>
            </a:r>
          </a:p>
          <a:p>
            <a:endParaRPr lang="en-US" sz="2000"/>
          </a:p>
          <a:p>
            <a:r>
              <a:rPr lang="en-US" sz="2000"/>
              <a:t>•   Successful deployment allows the ML solution to deliver its intended value in a practical setting.</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ML Pipeline Stages: Evaluation &amp; Deployment</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498073397"/>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Scalability: Ensuring the model can handle varying workloads and data volumes efficiently, often leveraging cloud services.</a:t>
            </a:r>
          </a:p>
          <a:p>
            <a:endParaRPr lang="en-US" sz="2000"/>
          </a:p>
          <a:p>
            <a:r>
              <a:rPr lang="en-US" sz="2000"/>
              <a:t>• Model Versioning: Implementing systems to track model changes, enabling rollbacks and maintaining a history of improvements.</a:t>
            </a:r>
          </a:p>
          <a:p>
            <a:endParaRPr lang="en-US" sz="2000"/>
          </a:p>
          <a:p>
            <a:r>
              <a:rPr lang="en-US" sz="2000"/>
              <a:t>• Monitoring &amp; Logging: Establishing robust systems to track real-time model performance, identify drifts, and log predictions/errors.</a:t>
            </a:r>
          </a:p>
          <a:p>
            <a:endParaRPr lang="en-US" sz="2000"/>
          </a:p>
          <a:p>
            <a:r>
              <a:rPr lang="en-US" sz="2000"/>
              <a:t>• Security: Protecting sensitive data and the model itself through proper authentication, authorization, and encryption.</a:t>
            </a:r>
          </a:p>
          <a:p>
            <a:endParaRPr lang="en-US" sz="2000"/>
          </a:p>
          <a:p>
            <a:r>
              <a:rPr lang="en-US" sz="2000"/>
              <a:t>•   These principles are fundamental for maintaining reliable and secure ML operations in production.</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Deployment Considerations: Core Principles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4049617887"/>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Continuous Integration/Deployment (CI/CD): Automating code and model updates to ensure seamless integration into production environments.</a:t>
            </a:r>
          </a:p>
          <a:p>
            <a:endParaRPr lang="en-US" sz="2000" dirty="0"/>
          </a:p>
          <a:p>
            <a:r>
              <a:rPr lang="en-US" sz="2000" dirty="0"/>
              <a:t>• Model Interpretability: Providing explanations for model predictions, especially crucial in sensitive applications, using tools like SHAP or LIME.</a:t>
            </a:r>
          </a:p>
          <a:p>
            <a:endParaRPr lang="en-US" sz="2000" dirty="0"/>
          </a:p>
          <a:p>
            <a:r>
              <a:rPr lang="en-US" sz="2000" dirty="0"/>
              <a:t>• Compliance: Adhering to relevant regulatory standards such as GDPR, HIPAA, or industry-specific guidelines.</a:t>
            </a:r>
          </a:p>
          <a:p>
            <a:endParaRPr lang="en-US" sz="2000" dirty="0"/>
          </a:p>
          <a:p>
            <a:r>
              <a:rPr lang="en-US" sz="2000" dirty="0"/>
              <a:t>• A/B Testing: Comparing different model versions or strategies in production to make data-driven decisions for continuous improvement.</a:t>
            </a:r>
          </a:p>
          <a:p>
            <a:endParaRPr lang="en-US" sz="2000" dirty="0"/>
          </a:p>
          <a:p>
            <a:r>
              <a:rPr lang="en-US" sz="2000" dirty="0"/>
              <a:t>•   These advanced aspects enhance the trustworthiness, adaptability, and ethical posture of deployed ML solutions.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Deployment Considerations: Advanced Aspects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262404025"/>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Successful machine learning implementation requires a blend of technical skills and problem domain expertise.</a:t>
            </a:r>
          </a:p>
          <a:p>
            <a:endParaRPr lang="en-US" sz="2000" dirty="0"/>
          </a:p>
          <a:p>
            <a:r>
              <a:rPr lang="en-US" sz="2000" dirty="0"/>
              <a:t>•   Python, with its rich ecosystem of libraries, empowers developers to build sophisticated ML solutions.</a:t>
            </a:r>
          </a:p>
          <a:p>
            <a:endParaRPr lang="en-US" sz="2000" dirty="0"/>
          </a:p>
          <a:p>
            <a:r>
              <a:rPr lang="en-US" sz="2000" dirty="0"/>
              <a:t>•   End-to-end pipelines ensure a structured approach from data acquisition to production deployment.</a:t>
            </a:r>
          </a:p>
          <a:p>
            <a:endParaRPr lang="en-US" sz="2000" dirty="0"/>
          </a:p>
          <a:p>
            <a:r>
              <a:rPr lang="en-US" sz="2000" dirty="0"/>
              <a:t>•   Key deployment considerations are vital for the robustness, scalability, and ethical operation of models.</a:t>
            </a:r>
          </a:p>
          <a:p>
            <a:endParaRPr lang="en-US" sz="2000" dirty="0"/>
          </a:p>
          <a:p>
            <a:r>
              <a:rPr lang="en-US" sz="2000" dirty="0"/>
              <a:t>•   A deep understanding of these practical aspects is crucial for effectively solving real-world challenges with machine learning.</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Mastering Practical ML Implementation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41151778"/>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 Which of the following Python libraries is primarily designed for multi-dimensional array operations and is a foundational component for many other scientific computing libraries?</a:t>
            </a:r>
          </a:p>
          <a:p>
            <a:r>
              <a:rPr lang="en-US" sz="2000"/>
              <a:t>A) Pandas</a:t>
            </a:r>
          </a:p>
          <a:p>
            <a:r>
              <a:rPr lang="en-US" sz="2000"/>
              <a:t>B) Matplotlib</a:t>
            </a:r>
          </a:p>
          <a:p>
            <a:r>
              <a:rPr lang="en-US" sz="2000"/>
              <a:t>C) NumPy</a:t>
            </a:r>
          </a:p>
          <a:p>
            <a:r>
              <a:rPr lang="en-US" sz="2000"/>
              <a:t>D) Scikit-Learn</a:t>
            </a:r>
          </a:p>
          <a:p>
            <a:endParaRPr lang="en-US" sz="2000" dirty="0"/>
          </a:p>
        </p:txBody>
      </p:sp>
    </p:spTree>
    <p:extLst>
      <p:ext uri="{BB962C8B-B14F-4D97-AF65-F5344CB8AC3E}">
        <p14:creationId xmlns:p14="http://schemas.microsoft.com/office/powerpoint/2010/main" val="2999484980"/>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 Which of the following Python libraries is primarily designed for multi-dimensional array operations and is a foundational component for many other scientific computing libraries?</a:t>
            </a:r>
          </a:p>
          <a:p>
            <a:r>
              <a:rPr lang="en-US" sz="2000"/>
              <a:t>A) Pandas</a:t>
            </a:r>
          </a:p>
          <a:p>
            <a:r>
              <a:rPr lang="en-US" sz="2000"/>
              <a:t>B) Matplotlib</a:t>
            </a:r>
          </a:p>
          <a:p>
            <a:r>
              <a:rPr lang="en-US" sz="2000"/>
              <a:t>C) NumPy</a:t>
            </a:r>
          </a:p>
          <a:p>
            <a:r>
              <a:rPr lang="en-US" sz="2000"/>
              <a:t>D) Scikit-Learn</a:t>
            </a:r>
          </a:p>
          <a:p>
            <a:endParaRPr lang="en-US" sz="2000"/>
          </a:p>
          <a:p>
            <a:endParaRPr lang="en-US" sz="2000"/>
          </a:p>
          <a:p>
            <a:r>
              <a:rPr lang="en-US" sz="2000" b="1"/>
              <a:t>Correct Answer: C) NumPy</a:t>
            </a:r>
          </a:p>
          <a:p>
            <a:r>
              <a:rPr lang="en-US" sz="2000" b="1"/>
              <a:t>Explanation: NumPy (Numerical Python) is the core library for numerical computation in Python, providing support for large, multi-dimensional arrays and matrices, which are essential for mathematical operations in machine learning.</a:t>
            </a:r>
          </a:p>
          <a:p>
            <a:endParaRPr lang="en-US" sz="2000" b="1"/>
          </a:p>
          <a:p>
            <a:endParaRPr lang="en-US" sz="2000" dirty="0"/>
          </a:p>
        </p:txBody>
      </p:sp>
    </p:spTree>
    <p:extLst>
      <p:ext uri="{BB962C8B-B14F-4D97-AF65-F5344CB8AC3E}">
        <p14:creationId xmlns:p14="http://schemas.microsoft.com/office/powerpoint/2010/main" val="888916822"/>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 In the context of building an end-to-end machine learning pipeline, which step typically involves handling missing values, encoding categorical variables, and scaling numerical features?</a:t>
            </a:r>
          </a:p>
          <a:p>
            <a:r>
              <a:rPr lang="en-US" sz="2000"/>
              <a:t>A) Data Collection</a:t>
            </a:r>
          </a:p>
          <a:p>
            <a:r>
              <a:rPr lang="en-US" sz="2000"/>
              <a:t>B) Model Training</a:t>
            </a:r>
          </a:p>
          <a:p>
            <a:r>
              <a:rPr lang="en-US" sz="2000"/>
              <a:t>C) Data Preprocessing</a:t>
            </a:r>
          </a:p>
          <a:p>
            <a:r>
              <a:rPr lang="en-US" sz="2000"/>
              <a:t>D) Model Evaluation</a:t>
            </a:r>
          </a:p>
          <a:p>
            <a:endParaRPr lang="en-US" sz="2000" dirty="0"/>
          </a:p>
        </p:txBody>
      </p:sp>
    </p:spTree>
    <p:extLst>
      <p:ext uri="{BB962C8B-B14F-4D97-AF65-F5344CB8AC3E}">
        <p14:creationId xmlns:p14="http://schemas.microsoft.com/office/powerpoint/2010/main" val="3170855550"/>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 In the context of building an end-to-end machine learning pipeline, which step typically involves handling missing values, encoding categorical variables, and scaling numerical features?</a:t>
            </a:r>
          </a:p>
          <a:p>
            <a:r>
              <a:rPr lang="en-US" sz="2000"/>
              <a:t>A) Data Collection</a:t>
            </a:r>
          </a:p>
          <a:p>
            <a:r>
              <a:rPr lang="en-US" sz="2000"/>
              <a:t>B) Model Training</a:t>
            </a:r>
          </a:p>
          <a:p>
            <a:r>
              <a:rPr lang="en-US" sz="2000"/>
              <a:t>C) Data Preprocessing</a:t>
            </a:r>
          </a:p>
          <a:p>
            <a:r>
              <a:rPr lang="en-US" sz="2000"/>
              <a:t>D) Model Evaluation</a:t>
            </a:r>
          </a:p>
          <a:p>
            <a:endParaRPr lang="en-US" sz="2000"/>
          </a:p>
          <a:p>
            <a:endParaRPr lang="en-US" sz="2000"/>
          </a:p>
          <a:p>
            <a:r>
              <a:rPr lang="en-US" sz="2000" b="1"/>
              <a:t>Correct Answer: C) Data Preprocessing</a:t>
            </a:r>
          </a:p>
          <a:p>
            <a:r>
              <a:rPr lang="en-US" sz="2000" b="1"/>
              <a:t>Explanation: Data preprocessing is the stage where raw data is cleaned, transformed, and prepared into a suitable format for modeling. This includes addressing missing values, transforming features (like encoding categorical variables), and scaling numerical data.</a:t>
            </a:r>
          </a:p>
          <a:p>
            <a:endParaRPr lang="en-US" sz="2000" b="1"/>
          </a:p>
          <a:p>
            <a:endParaRPr lang="en-US" sz="2000" dirty="0"/>
          </a:p>
        </p:txBody>
      </p:sp>
    </p:spTree>
    <p:extLst>
      <p:ext uri="{BB962C8B-B14F-4D97-AF65-F5344CB8AC3E}">
        <p14:creationId xmlns:p14="http://schemas.microsoft.com/office/powerpoint/2010/main" val="2139312837"/>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3: A machine learning model is ready for deployment. Which of the following is not a primary consideration during the deployment phase to ensure its long-term effectiveness and reliability?</a:t>
            </a:r>
          </a:p>
          <a:p>
            <a:r>
              <a:rPr lang="en-US" sz="2000"/>
              <a:t>A) Scalability to handle increased workloads.</a:t>
            </a:r>
          </a:p>
          <a:p>
            <a:r>
              <a:rPr lang="en-US" sz="2000"/>
              <a:t>B) Implementing model versioning for tracking changes.</a:t>
            </a:r>
          </a:p>
          <a:p>
            <a:r>
              <a:rPr lang="en-US" sz="2000"/>
              <a:t>C) Maximizing the model's raw computational speed on a single CPU core.</a:t>
            </a:r>
          </a:p>
          <a:p>
            <a:r>
              <a:rPr lang="en-US" sz="2000"/>
              <a:t>D) Setting up robust monitoring and logging systems.</a:t>
            </a:r>
          </a:p>
          <a:p>
            <a:endParaRPr lang="en-US" sz="2000" dirty="0"/>
          </a:p>
        </p:txBody>
      </p:sp>
    </p:spTree>
    <p:extLst>
      <p:ext uri="{BB962C8B-B14F-4D97-AF65-F5344CB8AC3E}">
        <p14:creationId xmlns:p14="http://schemas.microsoft.com/office/powerpoint/2010/main" val="1444121667"/>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dirty="0"/>
              <a:t>Question 3: A machine learning model is ready for deployment. Which of the following is not a primary consideration during the deployment phase to ensure its long-term effectiveness and reliability?</a:t>
            </a:r>
          </a:p>
          <a:p>
            <a:r>
              <a:rPr lang="en-US" sz="2000" dirty="0"/>
              <a:t>A) Scalability to handle increased workloads.</a:t>
            </a:r>
          </a:p>
          <a:p>
            <a:r>
              <a:rPr lang="en-US" sz="2000" dirty="0"/>
              <a:t>B) Implementing model versioning for tracking changes.</a:t>
            </a:r>
          </a:p>
          <a:p>
            <a:r>
              <a:rPr lang="en-US" sz="2000" dirty="0"/>
              <a:t>C) Maximizing the model's raw computational speed on a single CPU core.</a:t>
            </a:r>
          </a:p>
          <a:p>
            <a:r>
              <a:rPr lang="en-US" sz="2000" dirty="0"/>
              <a:t>D) Setting up robust monitoring and logging systems.</a:t>
            </a:r>
          </a:p>
          <a:p>
            <a:endParaRPr lang="en-US" sz="2000" dirty="0"/>
          </a:p>
          <a:p>
            <a:r>
              <a:rPr lang="en-US" sz="2000" b="1" dirty="0"/>
              <a:t>Correct Answer: C) Maximizing the model's raw computational speed on a single CPU core.</a:t>
            </a:r>
          </a:p>
          <a:p>
            <a:r>
              <a:rPr lang="en-US" sz="2000" b="1" dirty="0"/>
              <a:t>Explanation: While computational speed is important during model development and inference, the primary deployment considerations focus on broader operational aspects like scalability across infrastructure, version control, monitoring performance in production, and security, rather than just raw speed on a single core. Cloud solutions often manage distributed computation.</a:t>
            </a:r>
          </a:p>
          <a:p>
            <a:endParaRPr lang="en-US" sz="2000" b="1" dirty="0"/>
          </a:p>
          <a:p>
            <a:endParaRPr lang="en-US" sz="2000" dirty="0"/>
          </a:p>
        </p:txBody>
      </p:sp>
    </p:spTree>
    <p:extLst>
      <p:ext uri="{BB962C8B-B14F-4D97-AF65-F5344CB8AC3E}">
        <p14:creationId xmlns:p14="http://schemas.microsoft.com/office/powerpoint/2010/main" val="4067557098"/>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4: Which deep learning framework is often praised for its dynamic computation graph, which can be beneficial for debugging and research prototyping?</a:t>
            </a:r>
          </a:p>
          <a:p>
            <a:r>
              <a:rPr lang="en-US" sz="2000"/>
              <a:t>A) Scikit-Learn</a:t>
            </a:r>
          </a:p>
          <a:p>
            <a:r>
              <a:rPr lang="en-US" sz="2000"/>
              <a:t>B) TensorFlow</a:t>
            </a:r>
          </a:p>
          <a:p>
            <a:r>
              <a:rPr lang="en-US" sz="2000"/>
              <a:t>C) NumPy</a:t>
            </a:r>
          </a:p>
          <a:p>
            <a:r>
              <a:rPr lang="en-US" sz="2000"/>
              <a:t>D) PyTorch</a:t>
            </a:r>
          </a:p>
          <a:p>
            <a:endParaRPr lang="en-US" sz="2000" dirty="0"/>
          </a:p>
        </p:txBody>
      </p:sp>
    </p:spTree>
    <p:extLst>
      <p:ext uri="{BB962C8B-B14F-4D97-AF65-F5344CB8AC3E}">
        <p14:creationId xmlns:p14="http://schemas.microsoft.com/office/powerpoint/2010/main" val="3710383035"/>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4: Which deep learning framework is often praised for its dynamic computation graph, which can be beneficial for debugging and research prototyping?</a:t>
            </a:r>
          </a:p>
          <a:p>
            <a:r>
              <a:rPr lang="en-US" sz="2000"/>
              <a:t>A) Scikit-Learn</a:t>
            </a:r>
          </a:p>
          <a:p>
            <a:r>
              <a:rPr lang="en-US" sz="2000"/>
              <a:t>B) TensorFlow</a:t>
            </a:r>
          </a:p>
          <a:p>
            <a:r>
              <a:rPr lang="en-US" sz="2000"/>
              <a:t>C) NumPy</a:t>
            </a:r>
          </a:p>
          <a:p>
            <a:r>
              <a:rPr lang="en-US" sz="2000"/>
              <a:t>D) PyTorch</a:t>
            </a:r>
          </a:p>
          <a:p>
            <a:endParaRPr lang="en-US" sz="2000"/>
          </a:p>
          <a:p>
            <a:endParaRPr lang="en-US" sz="2000"/>
          </a:p>
          <a:p>
            <a:r>
              <a:rPr lang="en-US" sz="2000" b="1"/>
              <a:t>Correct Answer: D) PyTorch</a:t>
            </a:r>
          </a:p>
          <a:p>
            <a:r>
              <a:rPr lang="en-US" sz="2000" b="1"/>
              <a:t>Explanation: PyTorch is well-known for its "define-by-run" or dynamic computation graph, which allows for more flexible model building and easier debugging compared to TensorFlow's traditional static graph (though TensorFlow has also adopted eager execution).</a:t>
            </a:r>
          </a:p>
          <a:p>
            <a:endParaRPr lang="en-US" sz="2000" b="1"/>
          </a:p>
          <a:p>
            <a:endParaRPr lang="en-US" sz="2000" dirty="0"/>
          </a:p>
        </p:txBody>
      </p:sp>
    </p:spTree>
    <p:extLst>
      <p:ext uri="{BB962C8B-B14F-4D97-AF65-F5344CB8AC3E}">
        <p14:creationId xmlns:p14="http://schemas.microsoft.com/office/powerpoint/2010/main" val="3447277841"/>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 What is the main purpose of implementing Continuous Integration and Deployment (CI/CD) pipelines in a machine learning project?</a:t>
            </a:r>
          </a:p>
          <a:p>
            <a:r>
              <a:rPr lang="en-US" sz="2000"/>
              <a:t>A) To manually review every line of code before deployment.</a:t>
            </a:r>
          </a:p>
          <a:p>
            <a:r>
              <a:rPr lang="en-US" sz="2000"/>
              <a:t>B) To automate the process of testing and deploying code and model updates.</a:t>
            </a:r>
          </a:p>
          <a:p>
            <a:r>
              <a:rPr lang="en-US" sz="2000"/>
              <a:t>C) To reduce the number of machine learning models in production.</a:t>
            </a:r>
          </a:p>
          <a:p>
            <a:r>
              <a:rPr lang="en-US" sz="2000"/>
              <a:t>D) To only deploy models once per year for stability.</a:t>
            </a:r>
          </a:p>
          <a:p>
            <a:endParaRPr lang="en-US" sz="2000" dirty="0"/>
          </a:p>
        </p:txBody>
      </p:sp>
    </p:spTree>
    <p:extLst>
      <p:ext uri="{BB962C8B-B14F-4D97-AF65-F5344CB8AC3E}">
        <p14:creationId xmlns:p14="http://schemas.microsoft.com/office/powerpoint/2010/main" val="3473818201"/>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 What is the main purpose of implementing Continuous Integration and Deployment (CI/CD) pipelines in a machine learning project?</a:t>
            </a:r>
          </a:p>
          <a:p>
            <a:r>
              <a:rPr lang="en-US" sz="2000"/>
              <a:t>A) To manually review every line of code before deployment.</a:t>
            </a:r>
          </a:p>
          <a:p>
            <a:r>
              <a:rPr lang="en-US" sz="2000"/>
              <a:t>B) To automate the process of testing and deploying code and model updates.</a:t>
            </a:r>
          </a:p>
          <a:p>
            <a:r>
              <a:rPr lang="en-US" sz="2000"/>
              <a:t>C) To reduce the number of machine learning models in production.</a:t>
            </a:r>
          </a:p>
          <a:p>
            <a:r>
              <a:rPr lang="en-US" sz="2000"/>
              <a:t>D) To only deploy models once per year for stability.</a:t>
            </a:r>
          </a:p>
          <a:p>
            <a:endParaRPr lang="en-US" sz="2000"/>
          </a:p>
          <a:p>
            <a:endParaRPr lang="en-US" sz="2000"/>
          </a:p>
          <a:p>
            <a:r>
              <a:rPr lang="en-US" sz="2000" b="1"/>
              <a:t>Correct Answer: B) To automate the process of testing and deploying code and model updates.</a:t>
            </a:r>
          </a:p>
          <a:p>
            <a:r>
              <a:rPr lang="en-US" sz="2000" b="1"/>
              <a:t>Explanation: CI/CD aims to automate and streamline the software delivery process, including code changes, testing, and deployment, ensuring that model updates and new features can be integrated and released frequently and reliably.</a:t>
            </a:r>
          </a:p>
          <a:p>
            <a:endParaRPr lang="en-US" sz="2000" b="1"/>
          </a:p>
          <a:p>
            <a:endParaRPr lang="en-US" sz="2000" dirty="0"/>
          </a:p>
        </p:txBody>
      </p:sp>
    </p:spTree>
    <p:extLst>
      <p:ext uri="{BB962C8B-B14F-4D97-AF65-F5344CB8AC3E}">
        <p14:creationId xmlns:p14="http://schemas.microsoft.com/office/powerpoint/2010/main" val="3723787157"/>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6: Why is "Model Interpretability" a crucial deployment consideration, especially in applications with legal or ethical implications?</a:t>
            </a:r>
          </a:p>
          <a:p>
            <a:r>
              <a:rPr lang="en-US" sz="2000"/>
              <a:t>A) It allows the model to self-correct its predictions in real-time.</a:t>
            </a:r>
          </a:p>
          <a:p>
            <a:r>
              <a:rPr lang="en-US" sz="2000"/>
              <a:t>B) It ensures that the model's predictions can be understood and justified to stakeholders or regulatory bodies.</a:t>
            </a:r>
          </a:p>
          <a:p>
            <a:r>
              <a:rPr lang="en-US" sz="2000"/>
              <a:t>C) It helps in reducing the overall computational cost of the model.</a:t>
            </a:r>
          </a:p>
          <a:p>
            <a:r>
              <a:rPr lang="en-US" sz="2000"/>
              <a:t>D) It is a compliance requirement only for open-source machine learning models.</a:t>
            </a:r>
          </a:p>
          <a:p>
            <a:endParaRPr lang="en-US" sz="2000" dirty="0"/>
          </a:p>
        </p:txBody>
      </p:sp>
    </p:spTree>
    <p:extLst>
      <p:ext uri="{BB962C8B-B14F-4D97-AF65-F5344CB8AC3E}">
        <p14:creationId xmlns:p14="http://schemas.microsoft.com/office/powerpoint/2010/main" val="2260598481"/>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6: Why is "Model Interpretability" a crucial deployment consideration, especially in applications with legal or ethical implications?</a:t>
            </a:r>
          </a:p>
          <a:p>
            <a:r>
              <a:rPr lang="en-US" sz="2000"/>
              <a:t>A) It allows the model to self-correct its predictions in real-time.</a:t>
            </a:r>
          </a:p>
          <a:p>
            <a:r>
              <a:rPr lang="en-US" sz="2000"/>
              <a:t>B) It ensures that the model's predictions can be understood and justified to stakeholders or regulatory bodies.</a:t>
            </a:r>
          </a:p>
          <a:p>
            <a:r>
              <a:rPr lang="en-US" sz="2000"/>
              <a:t>C) It helps in reducing the overall computational cost of the model.</a:t>
            </a:r>
          </a:p>
          <a:p>
            <a:r>
              <a:rPr lang="en-US" sz="2000"/>
              <a:t>D) It is a compliance requirement only for open-source machine learning models.</a:t>
            </a:r>
          </a:p>
          <a:p>
            <a:endParaRPr lang="en-US" sz="2000"/>
          </a:p>
          <a:p>
            <a:endParaRPr lang="en-US" sz="2000"/>
          </a:p>
          <a:p>
            <a:r>
              <a:rPr lang="en-US" sz="2000" b="1"/>
              <a:t>Correct Answer: B) It ensures that the model's predictions can be understood and justified to stakeholders or regulatory bodies.</a:t>
            </a:r>
          </a:p>
          <a:p>
            <a:r>
              <a:rPr lang="en-US" sz="2000" b="1"/>
              <a:t>Explanation: Model interpretability is vital in sensitive domains (e.g., healthcare, finance, legal) because decisions made by ML models often need to be transparent, explainable, and justifiable to gain trust, ensure fairness, and meet regulatory requirements.</a:t>
            </a:r>
          </a:p>
          <a:p>
            <a:endParaRPr lang="en-US" sz="2000" b="1"/>
          </a:p>
          <a:p>
            <a:endParaRPr lang="en-US" sz="2000" dirty="0"/>
          </a:p>
        </p:txBody>
      </p:sp>
    </p:spTree>
    <p:extLst>
      <p:ext uri="{BB962C8B-B14F-4D97-AF65-F5344CB8AC3E}">
        <p14:creationId xmlns:p14="http://schemas.microsoft.com/office/powerpoint/2010/main" val="415336887"/>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7: During the "Data Preprocessing" step of an ML pipeline, if you encounter categorical features like 'City' or 'Product Type', what common technique would be used to transform them into a numerical format suitable for most machine learning algorithms?</a:t>
            </a:r>
          </a:p>
          <a:p>
            <a:r>
              <a:rPr lang="en-US" sz="2000"/>
              <a:t>A) Dimensionality Reduction</a:t>
            </a:r>
          </a:p>
          <a:p>
            <a:r>
              <a:rPr lang="en-US" sz="2000"/>
              <a:t>B) Feature Scaling</a:t>
            </a:r>
          </a:p>
          <a:p>
            <a:r>
              <a:rPr lang="en-US" sz="2000"/>
              <a:t>C) One-Hot Encoding</a:t>
            </a:r>
          </a:p>
          <a:p>
            <a:r>
              <a:rPr lang="en-US" sz="2000"/>
              <a:t>D) Outlier Removal</a:t>
            </a:r>
          </a:p>
          <a:p>
            <a:endParaRPr lang="en-US" sz="2000" dirty="0"/>
          </a:p>
        </p:txBody>
      </p:sp>
    </p:spTree>
    <p:extLst>
      <p:ext uri="{BB962C8B-B14F-4D97-AF65-F5344CB8AC3E}">
        <p14:creationId xmlns:p14="http://schemas.microsoft.com/office/powerpoint/2010/main" val="1308610529"/>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7: During the "Data Preprocessing" step of an ML pipeline, if you encounter categorical features like 'City' or 'Product Type', what common technique would be used to transform them into a numerical format suitable for most machine learning algorithms?</a:t>
            </a:r>
          </a:p>
          <a:p>
            <a:r>
              <a:rPr lang="en-US" sz="2000"/>
              <a:t>A) Dimensionality Reduction</a:t>
            </a:r>
          </a:p>
          <a:p>
            <a:r>
              <a:rPr lang="en-US" sz="2000"/>
              <a:t>B) Feature Scaling</a:t>
            </a:r>
          </a:p>
          <a:p>
            <a:r>
              <a:rPr lang="en-US" sz="2000"/>
              <a:t>C) One-Hot Encoding</a:t>
            </a:r>
          </a:p>
          <a:p>
            <a:r>
              <a:rPr lang="en-US" sz="2000"/>
              <a:t>D) Outlier Removal</a:t>
            </a:r>
          </a:p>
          <a:p>
            <a:endParaRPr lang="en-US" sz="2000"/>
          </a:p>
          <a:p>
            <a:endParaRPr lang="en-US" sz="2000"/>
          </a:p>
          <a:p>
            <a:r>
              <a:rPr lang="en-US" sz="2000" b="1"/>
              <a:t>Correct Answer: C) One-Hot Encoding</a:t>
            </a:r>
          </a:p>
          <a:p>
            <a:r>
              <a:rPr lang="en-US" sz="2000" b="1"/>
              <a:t>Explanation: One-Hot Encoding is a widely used technique to convert categorical variables into a numerical format that machine learning algorithms can understand. It creates new binary columns for each category, where a '1' indicates the presence of that category and '0' indicates its absence.</a:t>
            </a:r>
          </a:p>
          <a:p>
            <a:endParaRPr lang="en-US" sz="2000" b="1"/>
          </a:p>
          <a:p>
            <a:endParaRPr lang="en-US" sz="2000" dirty="0"/>
          </a:p>
        </p:txBody>
      </p:sp>
    </p:spTree>
    <p:extLst>
      <p:ext uri="{BB962C8B-B14F-4D97-AF65-F5344CB8AC3E}">
        <p14:creationId xmlns:p14="http://schemas.microsoft.com/office/powerpoint/2010/main" val="1904065942"/>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pPr algn="just"/>
            <a:endParaRPr lang="en-US" sz="2000" dirty="0"/>
          </a:p>
          <a:p>
            <a:pPr algn="just"/>
            <a:endParaRPr lang="en-US" sz="2000" dirty="0"/>
          </a:p>
          <a:p>
            <a:pPr algn="just"/>
            <a:r>
              <a:rPr lang="en-US" sz="2000" dirty="0"/>
              <a:t>A startup called "Predictive Health" has developed a machine learning model to predict the likelihood of a patient developing a specific chronic disease based on their medical history, lifestyle data, and genetic markers. The model shows high accuracy in offline testing. Predictive Health now wants to deploy this model as part of a web application that healthcare providers can use to get real-time risk assessments for their patients. The data involved is highly sensitive, and the system needs to be reliable, secure, and explainable to doctors and patients.</a:t>
            </a:r>
          </a:p>
          <a:p>
            <a:pPr algn="just"/>
            <a:endParaRPr lang="en-US" sz="2000" dirty="0"/>
          </a:p>
          <a:p>
            <a:pPr algn="just"/>
            <a:r>
              <a:rPr lang="en-US" sz="2000" dirty="0"/>
              <a:t>What are the top three critical deployment considerations Predictive Health must prioritize, and why, given the nature of their application?</a:t>
            </a:r>
          </a:p>
          <a:p>
            <a:pPr algn="just"/>
            <a:endParaRPr lang="en-US" sz="2000" dirty="0"/>
          </a:p>
          <a:p>
            <a:pPr algn="just"/>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1857263481"/>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fontScale="70000" lnSpcReduction="20000"/>
          </a:bodyPr>
          <a:lstStyle/>
          <a:p>
            <a:pPr algn="just"/>
            <a:r>
              <a:rPr lang="en-US" sz="2000" dirty="0"/>
              <a:t>Solution:</a:t>
            </a:r>
          </a:p>
          <a:p>
            <a:pPr algn="just"/>
            <a:endParaRPr lang="en-US" sz="2000" dirty="0"/>
          </a:p>
          <a:p>
            <a:pPr algn="just"/>
            <a:r>
              <a:rPr lang="en-US" sz="2000" dirty="0"/>
              <a:t>The top three critical deployment considerations for Predictive Health are:</a:t>
            </a:r>
          </a:p>
          <a:p>
            <a:pPr algn="just"/>
            <a:endParaRPr lang="en-US" sz="2000" dirty="0"/>
          </a:p>
          <a:p>
            <a:pPr algn="just"/>
            <a:r>
              <a:rPr lang="en-US" sz="2000" dirty="0"/>
              <a:t>1.  Security:</a:t>
            </a:r>
          </a:p>
          <a:p>
            <a:pPr algn="just"/>
            <a:r>
              <a:rPr lang="en-US" sz="2000" dirty="0"/>
              <a:t>Why: Patient medical data is highly sensitive (HIPAA, GDPR relevant). A data breach or unauthorized access would have severe legal, ethical, and reputational consequences.</a:t>
            </a:r>
          </a:p>
          <a:p>
            <a:pPr algn="just"/>
            <a:r>
              <a:rPr lang="en-US" sz="2000" dirty="0"/>
              <a:t>Implementation Focus: Strict authentication and authorization for healthcare providers, end-to-end encryption for all data in transit and at rest, regular security audits, and secure API endpoints to prevent malicious attacks.</a:t>
            </a:r>
          </a:p>
          <a:p>
            <a:pPr algn="just"/>
            <a:endParaRPr lang="en-US" sz="2000" dirty="0"/>
          </a:p>
          <a:p>
            <a:pPr algn="just"/>
            <a:r>
              <a:rPr lang="en-US" sz="2000" dirty="0"/>
              <a:t>2.  Model Interpretability:</a:t>
            </a:r>
          </a:p>
          <a:p>
            <a:pPr algn="just"/>
            <a:r>
              <a:rPr lang="en-US" sz="2000" dirty="0"/>
              <a:t>Why: Healthcare decisions are high-stakes. Doctors and patients need to understand why* a particular risk assessment (prediction) was made, rather than just receiving a black-box output. This builds trust, allows for clinical validation, and supports informed decision-making.</a:t>
            </a:r>
          </a:p>
          <a:p>
            <a:pPr algn="just"/>
            <a:r>
              <a:rPr lang="en-US" sz="2000" dirty="0"/>
              <a:t>Implementation Focus: Integrating model </a:t>
            </a:r>
            <a:r>
              <a:rPr lang="en-US" sz="2000" dirty="0" err="1"/>
              <a:t>explainability</a:t>
            </a:r>
            <a:r>
              <a:rPr lang="en-US" sz="2000" dirty="0"/>
              <a:t> tools (e.g., SHAP, LIME) into the web application to provide insights into which features (medical history, lifestyle, genetic markers) most influenced a patient's risk prediction. This allows doctors to verify the model's reasoning and explain it to patients.</a:t>
            </a:r>
          </a:p>
          <a:p>
            <a:pPr algn="just"/>
            <a:endParaRPr lang="en-US" sz="2000" dirty="0"/>
          </a:p>
          <a:p>
            <a:pPr algn="just"/>
            <a:r>
              <a:rPr lang="en-US" sz="2000" dirty="0"/>
              <a:t>3.  Compliance:</a:t>
            </a:r>
          </a:p>
          <a:p>
            <a:pPr algn="just"/>
            <a:r>
              <a:rPr lang="en-US" sz="2000" dirty="0"/>
              <a:t>Why: Healthcare is one of the most heavily regulated industries. </a:t>
            </a:r>
            <a:r>
              <a:rPr lang="en-US" sz="2000" dirty="0" err="1"/>
              <a:t>PredictiveHealth</a:t>
            </a:r>
            <a:r>
              <a:rPr lang="en-US" sz="2000" dirty="0"/>
              <a:t> must* adhere to health data privacy laws (like HIPAA in the US, GDPR in Europe) and other relevant medical device or diagnostic regulations. Non-compliance can lead to massive fines and legal action.</a:t>
            </a:r>
          </a:p>
          <a:p>
            <a:pPr algn="just"/>
            <a:r>
              <a:rPr lang="en-US" sz="2000" dirty="0"/>
              <a:t>Implementation Focus: Ensuring all data handling, storage, processing, and access protocols meet regulatory standards. This includes </a:t>
            </a:r>
            <a:r>
              <a:rPr lang="en-US" sz="2000" dirty="0" err="1"/>
              <a:t>anonymization</a:t>
            </a:r>
            <a:r>
              <a:rPr lang="en-US" sz="2000" dirty="0"/>
              <a:t>/</a:t>
            </a:r>
            <a:r>
              <a:rPr lang="en-US" sz="2000" dirty="0" err="1"/>
              <a:t>pseudonymization</a:t>
            </a:r>
            <a:r>
              <a:rPr lang="en-US" sz="2000" dirty="0"/>
              <a:t> protocols, consent management, data retention policies, and potentially seeking certification for the medical application itself.</a:t>
            </a:r>
          </a:p>
          <a:p>
            <a:pPr algn="just"/>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1378824344"/>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Session Summary</a:t>
            </a:r>
            <a:endParaRPr lang="en-US" sz="2800" b="1" dirty="0">
              <a:solidFill>
                <a:srgbClr val="D9212B"/>
              </a:solidFill>
            </a:endParaRPr>
          </a:p>
        </p:txBody>
      </p:sp>
      <p:sp>
        <p:nvSpPr>
          <p:cNvPr id="5" name="Google Shape;135;p9"/>
          <p:cNvSpPr txBox="1"/>
          <p:nvPr/>
        </p:nvSpPr>
        <p:spPr>
          <a:xfrm>
            <a:off x="715540" y="1569935"/>
            <a:ext cx="11034500" cy="3219815"/>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Understand the transition from theoretical ML concepts to practical application.</a:t>
            </a:r>
          </a:p>
          <a:p>
            <a:pPr>
              <a:lnSpc>
                <a:spcPct val="115000"/>
              </a:lnSpc>
              <a:spcAft>
                <a:spcPts val="1000"/>
              </a:spcAft>
            </a:pPr>
            <a:r>
              <a:rPr lang="en-US" dirty="0">
                <a:latin typeface=""/>
                <a:ea typeface="Times New Roman"/>
                <a:cs typeface="Times New Roman"/>
              </a:rPr>
              <a:t>•   Identify the key Python libraries and tools essential for machine learning projects.</a:t>
            </a:r>
          </a:p>
          <a:p>
            <a:pPr>
              <a:lnSpc>
                <a:spcPct val="115000"/>
              </a:lnSpc>
              <a:spcAft>
                <a:spcPts val="1000"/>
              </a:spcAft>
            </a:pPr>
            <a:r>
              <a:rPr lang="en-US" dirty="0">
                <a:latin typeface=""/>
                <a:ea typeface="Times New Roman"/>
                <a:cs typeface="Times New Roman"/>
              </a:rPr>
              <a:t>•   Learn the stages involved in building a comprehensive end-to-end machine learning pipeline.</a:t>
            </a:r>
          </a:p>
          <a:p>
            <a:pPr>
              <a:lnSpc>
                <a:spcPct val="115000"/>
              </a:lnSpc>
              <a:spcAft>
                <a:spcPts val="1000"/>
              </a:spcAft>
            </a:pPr>
            <a:r>
              <a:rPr lang="en-US" dirty="0">
                <a:latin typeface=""/>
                <a:ea typeface="Times New Roman"/>
                <a:cs typeface="Times New Roman"/>
              </a:rPr>
              <a:t>•   Explore critical considerations for deploying machine learning models in real-world scenarios.</a:t>
            </a:r>
          </a:p>
          <a:p>
            <a:pPr>
              <a:lnSpc>
                <a:spcPct val="115000"/>
              </a:lnSpc>
              <a:spcAft>
                <a:spcPts val="1000"/>
              </a:spcAft>
            </a:pPr>
            <a:r>
              <a:rPr lang="en-US" dirty="0">
                <a:latin typeface=""/>
                <a:ea typeface="Times New Roman"/>
                <a:cs typeface="Times New Roman"/>
              </a:rPr>
              <a:t>•   Develop a holistic view of successful ML project execution, from data to deployment and maintenance.</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2479338044"/>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Learning Objectives 12</a:t>
            </a:r>
            <a:endParaRPr lang="en-US" sz="2800" b="1" dirty="0">
              <a:solidFill>
                <a:srgbClr val="D9212B"/>
              </a:solidFill>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96;p3"/>
          <p:cNvSpPr txBox="1"/>
          <p:nvPr/>
        </p:nvSpPr>
        <p:spPr>
          <a:xfrm>
            <a:off x="773393" y="1672895"/>
            <a:ext cx="8074981" cy="57134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000"/>
              <a:buFont typeface="Arial"/>
              <a:buNone/>
            </a:pPr>
            <a:r>
              <a:rPr lang="en-US" sz="2000" b="1" dirty="0">
                <a:solidFill>
                  <a:schemeClr val="dk1"/>
                </a:solidFill>
                <a:latin typeface="Avenir"/>
                <a:ea typeface="Avenir"/>
                <a:cs typeface="Avenir"/>
                <a:sym typeface="Avenir"/>
              </a:rPr>
              <a:t>By the end of this session, you will be able to:</a:t>
            </a:r>
            <a:endParaRPr dirty="0"/>
          </a:p>
        </p:txBody>
      </p:sp>
      <p:sp>
        <p:nvSpPr>
          <p:cNvPr id="5" name="Google Shape;98;p3"/>
          <p:cNvSpPr txBox="1"/>
          <p:nvPr/>
        </p:nvSpPr>
        <p:spPr>
          <a:xfrm>
            <a:off x="885636" y="2326538"/>
            <a:ext cx="10132884" cy="3985153"/>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Analyze diverse real-world machine learning case studies across industries.</a:t>
            </a:r>
          </a:p>
          <a:p>
            <a:pPr>
              <a:lnSpc>
                <a:spcPct val="115000"/>
              </a:lnSpc>
              <a:spcAft>
                <a:spcPts val="1000"/>
              </a:spcAft>
            </a:pPr>
            <a:r>
              <a:rPr lang="en-US" dirty="0">
                <a:latin typeface=""/>
                <a:ea typeface="Times New Roman"/>
                <a:cs typeface="Times New Roman"/>
              </a:rPr>
              <a:t>•   Apply a structured framework for defining and solving machine learning problems.</a:t>
            </a:r>
          </a:p>
          <a:p>
            <a:pPr>
              <a:lnSpc>
                <a:spcPct val="115000"/>
              </a:lnSpc>
              <a:spcAft>
                <a:spcPts val="1000"/>
              </a:spcAft>
            </a:pPr>
            <a:r>
              <a:rPr lang="en-US" dirty="0">
                <a:latin typeface=""/>
                <a:ea typeface="Times New Roman"/>
                <a:cs typeface="Times New Roman"/>
              </a:rPr>
              <a:t>•   Implement practical steps for effective data exploration and preprocessing.</a:t>
            </a:r>
          </a:p>
          <a:p>
            <a:pPr>
              <a:lnSpc>
                <a:spcPct val="115000"/>
              </a:lnSpc>
              <a:spcAft>
                <a:spcPts val="1000"/>
              </a:spcAft>
            </a:pPr>
            <a:r>
              <a:rPr lang="en-US" dirty="0">
                <a:latin typeface=""/>
                <a:ea typeface="Times New Roman"/>
                <a:cs typeface="Times New Roman"/>
              </a:rPr>
              <a:t>•   Build, evaluate, and fine-tune machine learning models for optimal performance.</a:t>
            </a:r>
          </a:p>
          <a:p>
            <a:pPr>
              <a:lnSpc>
                <a:spcPct val="115000"/>
              </a:lnSpc>
              <a:spcAft>
                <a:spcPts val="1000"/>
              </a:spcAft>
            </a:pPr>
            <a:r>
              <a:rPr lang="en-US" dirty="0">
                <a:latin typeface=""/>
                <a:ea typeface="Times New Roman"/>
                <a:cs typeface="Times New Roman"/>
              </a:rPr>
              <a:t>•   Understand various machine learning approaches (supervised, unsupervised, reinforcement, transfer learning) in problem-solving.</a:t>
            </a:r>
          </a:p>
          <a:p>
            <a:pPr>
              <a:lnSpc>
                <a:spcPct val="115000"/>
              </a:lnSpc>
              <a:spcAft>
                <a:spcPts val="1000"/>
              </a:spcAft>
            </a:pPr>
            <a:r>
              <a:rPr lang="en-US" dirty="0">
                <a:latin typeface=""/>
                <a:ea typeface="Times New Roman"/>
                <a:cs typeface="Times New Roman"/>
              </a:rPr>
              <a:t> </a:t>
            </a:r>
          </a:p>
          <a:p>
            <a:pPr>
              <a:lnSpc>
                <a:spcPct val="115000"/>
              </a:lnSpc>
              <a:spcAft>
                <a:spcPts val="1000"/>
              </a:spcAft>
            </a:pPr>
            <a:endParaRPr lang="en-US" dirty="0">
              <a:latin typeface=""/>
              <a:ea typeface="Times New Roman"/>
              <a:cs typeface="Times New Roman"/>
            </a:endParaRPr>
          </a:p>
        </p:txBody>
      </p:sp>
    </p:spTree>
    <p:extLst>
      <p:ext uri="{BB962C8B-B14F-4D97-AF65-F5344CB8AC3E}">
        <p14:creationId xmlns:p14="http://schemas.microsoft.com/office/powerpoint/2010/main" val="2595836991"/>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Explore machine learning's versatile application across diverse industries and domains.</a:t>
            </a:r>
          </a:p>
          <a:p>
            <a:endParaRPr lang="en-US" sz="2000" dirty="0"/>
          </a:p>
          <a:p>
            <a:r>
              <a:rPr lang="en-US" sz="2000" dirty="0"/>
              <a:t>•   Analyze practical challenges encountered during ML solution implementation.</a:t>
            </a:r>
          </a:p>
          <a:p>
            <a:endParaRPr lang="en-US" sz="2000" dirty="0"/>
          </a:p>
          <a:p>
            <a:r>
              <a:rPr lang="en-US" sz="2000" dirty="0"/>
              <a:t>•   Discover innovative strategies employed to overcome real-world obstacles and achieve success.</a:t>
            </a:r>
          </a:p>
          <a:p>
            <a:endParaRPr lang="en-US" sz="2000" dirty="0"/>
          </a:p>
          <a:p>
            <a:r>
              <a:rPr lang="en-US" sz="2000" dirty="0"/>
              <a:t>•   Gain a comprehensive understanding of machine learning's powerful problem-solving potential.</a:t>
            </a:r>
          </a:p>
          <a:p>
            <a:endParaRPr lang="en-US" sz="2000" dirty="0"/>
          </a:p>
          <a:p>
            <a:r>
              <a:rPr lang="en-US" sz="2000" dirty="0"/>
              <a:t>•   Learn from detailed step-by-step analyses of various domain-specific challenges and their resolutions.</a:t>
            </a:r>
          </a:p>
          <a:p>
            <a:endParaRPr lang="en-US" sz="2000" dirty="0"/>
          </a:p>
          <a:p>
            <a:r>
              <a:rPr lang="en-US" sz="2000" dirty="0"/>
              <a: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Applying Machine Learning: Real-World Cases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4036602203"/>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pPr algn="just"/>
            <a:r>
              <a:rPr lang="en-US" dirty="0"/>
              <a:t>• Predictive Maintenance: Anticipate machinery failures to reduce costly downtime in manufacturing through data-driven insights.</a:t>
            </a:r>
          </a:p>
          <a:p>
            <a:pPr algn="just"/>
            <a:endParaRPr lang="en-US" dirty="0"/>
          </a:p>
          <a:p>
            <a:pPr algn="just"/>
            <a:r>
              <a:rPr lang="en-US" dirty="0"/>
              <a:t>•   Data collection involves performance, maintenance logs, and environmental conditions; features like MTBF and MTTR are engineered.</a:t>
            </a:r>
          </a:p>
          <a:p>
            <a:pPr algn="just"/>
            <a:endParaRPr lang="en-US" dirty="0"/>
          </a:p>
          <a:p>
            <a:pPr algn="just"/>
            <a:r>
              <a:rPr lang="en-US" dirty="0"/>
              <a:t>•   Challenges included noisy data (addressed by cleansing pipelines) and model interpretability (solved with explainability techniques).</a:t>
            </a:r>
          </a:p>
          <a:p>
            <a:pPr algn="just"/>
            <a:endParaRPr lang="en-US" dirty="0"/>
          </a:p>
          <a:p>
            <a:pPr algn="just"/>
            <a:r>
              <a:rPr lang="en-US" dirty="0"/>
              <a:t>• Fraud Detection: Develop real-time systems to identify and prevent fraudulent financial transactions.</a:t>
            </a:r>
          </a:p>
          <a:p>
            <a:pPr algn="just"/>
            <a:endParaRPr lang="en-US" dirty="0"/>
          </a:p>
          <a:p>
            <a:pPr algn="just"/>
            <a:r>
              <a:rPr lang="en-US" dirty="0"/>
              <a:t>•   Addressed class imbalance using oversampling techniques and adjusted class weights during model training.</a:t>
            </a:r>
          </a:p>
          <a:p>
            <a:pPr algn="just"/>
            <a:endParaRPr lang="en-US" dirty="0"/>
          </a:p>
          <a:p>
            <a:pPr algn="just"/>
            <a:r>
              <a:rPr lang="en-US" dirty="0"/>
              <a:t>•   Optimization for low-latency real-time processing and robustness checks countered adversarial attacks.</a:t>
            </a:r>
          </a:p>
          <a:p>
            <a:pPr algn="just"/>
            <a:endParaRPr lang="en-US" dirty="0"/>
          </a:p>
          <a:p>
            <a:pPr algn="just"/>
            <a:r>
              <a:rPr lang="en-US" dirty="0"/>
              <a: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Industry Deep Dive: Manufacturing &amp; Finance</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821474285"/>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pPr algn="just"/>
            <a:endParaRPr lang="en-US" dirty="0"/>
          </a:p>
          <a:p>
            <a:pPr algn="just"/>
            <a:r>
              <a:rPr lang="en-US" dirty="0"/>
              <a:t>• Customer Support NLP: Automate responses to a high volume of customer inquiries while maintaining satisfaction.</a:t>
            </a:r>
          </a:p>
          <a:p>
            <a:pPr algn="just"/>
            <a:endParaRPr lang="en-US" dirty="0"/>
          </a:p>
          <a:p>
            <a:pPr algn="just"/>
            <a:r>
              <a:rPr lang="en-US" dirty="0"/>
              <a:t>•   Text data is tokenized, preprocessed, and vectorized using methods like TF-IDF or Word Embeddings.</a:t>
            </a:r>
          </a:p>
          <a:p>
            <a:pPr algn="just"/>
            <a:endParaRPr lang="en-US" dirty="0"/>
          </a:p>
          <a:p>
            <a:pPr algn="just"/>
            <a:r>
              <a:rPr lang="en-US" dirty="0"/>
              <a:t>•   Managed data annotation efforts using active learning and ensured ethical responses through ongoing human oversight.</a:t>
            </a:r>
          </a:p>
          <a:p>
            <a:pPr algn="just"/>
            <a:endParaRPr lang="en-US" dirty="0"/>
          </a:p>
          <a:p>
            <a:pPr algn="just"/>
            <a:r>
              <a:rPr lang="en-US" dirty="0"/>
              <a:t>• Healthcare Image Recognition: Improve the accuracy and speed of disease diagnosis using medical image analysis.</a:t>
            </a:r>
          </a:p>
          <a:p>
            <a:pPr algn="just"/>
            <a:endParaRPr lang="en-US" dirty="0"/>
          </a:p>
          <a:p>
            <a:pPr algn="just"/>
            <a:r>
              <a:rPr lang="en-US" dirty="0"/>
              <a:t>•   Collected vast datasets of medical images, standardized sizes, and augmented data while ensuring strict patient data privacy.</a:t>
            </a:r>
          </a:p>
          <a:p>
            <a:pPr algn="just"/>
            <a:endParaRPr lang="en-US" dirty="0"/>
          </a:p>
          <a:p>
            <a:pPr algn="just"/>
            <a:r>
              <a:rPr lang="en-US" dirty="0"/>
              <a:t>•   Developed methods to explain model diagnoses to medical professionals, fostering trust and ensuring regulatory compliance.</a:t>
            </a:r>
          </a:p>
          <a:p>
            <a:pPr algn="just"/>
            <a:endParaRPr lang="en-US" dirty="0"/>
          </a:p>
          <a:p>
            <a:pPr algn="just"/>
            <a:r>
              <a:rPr lang="en-US" dirty="0"/>
              <a: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AI in Action: NLP &amp; Healthcare</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070751269"/>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pPr algn="just"/>
            <a:endParaRPr lang="en-US" sz="2000" dirty="0"/>
          </a:p>
          <a:p>
            <a:pPr algn="just"/>
            <a:r>
              <a:rPr lang="en-US" sz="2000" dirty="0"/>
              <a:t>• Computer Vision for Autonomous Vehicles: Develop sophisticated systems capable of safely navigating complex urban environments.</a:t>
            </a:r>
          </a:p>
          <a:p>
            <a:pPr algn="just"/>
            <a:endParaRPr lang="en-US" sz="2000" dirty="0"/>
          </a:p>
          <a:p>
            <a:pPr algn="just"/>
            <a:r>
              <a:rPr lang="en-US" sz="2000" dirty="0"/>
              <a:t>•   Collected diverse sensor data, including images, </a:t>
            </a:r>
            <a:r>
              <a:rPr lang="en-US" sz="2000" dirty="0" err="1"/>
              <a:t>Lidar</a:t>
            </a:r>
            <a:r>
              <a:rPr lang="en-US" sz="2000" dirty="0"/>
              <a:t>, and GPS, synchronizing and preprocessing for model input.</a:t>
            </a:r>
          </a:p>
          <a:p>
            <a:pPr algn="just"/>
            <a:endParaRPr lang="en-US" sz="2000" dirty="0"/>
          </a:p>
          <a:p>
            <a:pPr algn="just"/>
            <a:r>
              <a:rPr lang="en-US" sz="2000" dirty="0"/>
              <a:t>•   Trained deep learning models for crucial tasks like object detection and scene segmentation.</a:t>
            </a:r>
          </a:p>
          <a:p>
            <a:pPr algn="just"/>
            <a:endParaRPr lang="en-US" sz="2000" dirty="0"/>
          </a:p>
          <a:p>
            <a:pPr algn="just"/>
            <a:r>
              <a:rPr lang="en-US" sz="2000" dirty="0"/>
              <a:t>•   Conducted rigorous testing in simulated environments and controlled real-world scenarios, prioritizing safety with redundant systems.</a:t>
            </a:r>
          </a:p>
          <a:p>
            <a:pPr algn="just"/>
            <a:endParaRPr lang="en-US" sz="2000" dirty="0"/>
          </a:p>
          <a:p>
            <a:pPr algn="just"/>
            <a:r>
              <a:rPr lang="en-US" sz="2000" dirty="0"/>
              <a:t>•   Navigated complex regulatory landscapes for autonomous vehicles through close collaboration with governing bodies.</a:t>
            </a:r>
          </a:p>
          <a:p>
            <a:pPr algn="just"/>
            <a:endParaRPr lang="en-US" sz="2000" dirty="0"/>
          </a:p>
          <a:p>
            <a:pPr algn="just"/>
            <a:r>
              <a:rPr lang="en-US" sz="2000" dirty="0"/>
              <a: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Vision for the Future: Autonomous Driving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140151400"/>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 Problem Definition: Rigorously define clear objectives, establish success criteria, and understand stakeholder requirements to form a solid foundation.</a:t>
            </a:r>
          </a:p>
          <a:p>
            <a:endParaRPr lang="en-US" sz="2000" dirty="0"/>
          </a:p>
          <a:p>
            <a:r>
              <a:rPr lang="en-US" sz="2000" dirty="0"/>
              <a:t>• Data Collection &amp; Preprocessing: Gather relevant data, clean it, handle missing values, and address outliers to ensure high quality and consistency.</a:t>
            </a:r>
          </a:p>
          <a:p>
            <a:endParaRPr lang="en-US" sz="2000" dirty="0"/>
          </a:p>
          <a:p>
            <a:r>
              <a:rPr lang="en-US" sz="2000" dirty="0"/>
              <a:t>• Exploratory Data Analysis (EDA): Visually and statistically explore the data to gain deep insights into its characteristics, distributions, and correlations.</a:t>
            </a:r>
          </a:p>
          <a:p>
            <a:endParaRPr lang="en-US" sz="2000" dirty="0"/>
          </a:p>
          <a:p>
            <a:r>
              <a:rPr lang="en-US" sz="2000" dirty="0"/>
              <a:t>•   EDA helps uncover potential issues that may impact model performance and guides subsequent feature engineering efforts.</a:t>
            </a:r>
          </a:p>
          <a:p>
            <a:endParaRPr lang="en-US" sz="2000" dirty="0"/>
          </a:p>
          <a:p>
            <a:r>
              <a:rPr lang="en-US" sz="2000" dirty="0"/>
              <a:t>•   This structured framework provides a systematic methodology for tackling intricate real-world challenges with machine learning.</a:t>
            </a:r>
          </a:p>
          <a:p>
            <a:endParaRPr lang="en-US" sz="2000" dirty="0"/>
          </a:p>
          <a:p>
            <a:r>
              <a:rPr lang="en-US" sz="2000" dirty="0"/>
              <a: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Structured Approach to ML Problems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647254713"/>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 Model Selection &amp; Training: Choose appropriate machine learning algorithms (e.g., decision trees, neural networks) and train them effectively.</a:t>
            </a:r>
          </a:p>
          <a:p>
            <a:endParaRPr lang="en-US" sz="2000" dirty="0"/>
          </a:p>
          <a:p>
            <a:r>
              <a:rPr lang="en-US" sz="2000" dirty="0"/>
              <a:t>•   Techniques for hyperparameter tuning and model evaluation are crucial to ensure optimal performance.</a:t>
            </a:r>
          </a:p>
          <a:p>
            <a:endParaRPr lang="en-US" sz="2000" dirty="0"/>
          </a:p>
          <a:p>
            <a:r>
              <a:rPr lang="en-US" sz="2000" dirty="0"/>
              <a:t>• Feature Engineering: Create informative new features or transform existing ones to significantly enhance the model's predictive power.</a:t>
            </a:r>
          </a:p>
          <a:p>
            <a:endParaRPr lang="en-US" sz="2000" dirty="0"/>
          </a:p>
          <a:p>
            <a:r>
              <a:rPr lang="en-US" sz="2000" dirty="0"/>
              <a:t>• Model Deployment: Address the critical challenges of deploying models in production environments, focusing on scalability, monitoring, and maintenance.</a:t>
            </a:r>
          </a:p>
          <a:p>
            <a:endParaRPr lang="en-US" sz="2000" dirty="0"/>
          </a:p>
          <a:p>
            <a:r>
              <a:rPr lang="en-US" sz="2000" dirty="0"/>
              <a:t>•   Ensuring models perform reliably and efficiently in real-time scenarios is paramount for achieving practical success.</a:t>
            </a:r>
          </a:p>
          <a:p>
            <a:endParaRPr lang="en-US" sz="2000" dirty="0"/>
          </a:p>
          <a:p>
            <a:r>
              <a:rPr lang="en-US" sz="2000" dirty="0"/>
              <a: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Building Effective Machine Learning Solutions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4121763301"/>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pPr algn="just"/>
            <a:endParaRPr lang="en-US" sz="2000" dirty="0"/>
          </a:p>
          <a:p>
            <a:pPr algn="just"/>
            <a:r>
              <a:rPr lang="en-US" sz="2000" dirty="0"/>
              <a:t>• Supervised Learning: Utilized when labeled data is available for tasks such as classifying emails as spam or predicting housing prices.</a:t>
            </a:r>
          </a:p>
          <a:p>
            <a:pPr algn="just"/>
            <a:endParaRPr lang="en-US" sz="2000" dirty="0"/>
          </a:p>
          <a:p>
            <a:pPr algn="just"/>
            <a:r>
              <a:rPr lang="en-US" sz="2000" dirty="0"/>
              <a:t>• Unsupervised Learning: Ideal for discovering inherent patterns and structures within data without labeled information, like clustering or dimensionality reduction.</a:t>
            </a:r>
          </a:p>
          <a:p>
            <a:pPr algn="just"/>
            <a:endParaRPr lang="en-US" sz="2000" dirty="0"/>
          </a:p>
          <a:p>
            <a:pPr algn="just"/>
            <a:r>
              <a:rPr lang="en-US" sz="2000" dirty="0"/>
              <a:t>• Reinforcement Learning: Involves an agent interacting with an environment to learn optimal actions by maximizing cumulative rewards, applied in autonomous systems.</a:t>
            </a:r>
          </a:p>
          <a:p>
            <a:pPr algn="just"/>
            <a:endParaRPr lang="en-US" sz="2000" dirty="0"/>
          </a:p>
          <a:p>
            <a:pPr algn="just"/>
            <a:r>
              <a:rPr lang="en-US" sz="2000" dirty="0"/>
              <a:t>• Transfer Learning: Leverages knowledge from pre-trained models or existing domains to improve performance and accelerate development in new, related tasks.</a:t>
            </a:r>
          </a:p>
          <a:p>
            <a:pPr algn="just"/>
            <a:endParaRPr lang="en-US" sz="2000" dirty="0"/>
          </a:p>
          <a:p>
            <a:pPr algn="just"/>
            <a:r>
              <a:rPr lang="en-US" sz="2000" dirty="0"/>
              <a:t>•   Selecting the most appropriate learning approach is fundamental to effectively solving specific real-world problems.</a:t>
            </a:r>
          </a:p>
          <a:p>
            <a:pPr algn="just"/>
            <a:endParaRPr lang="en-US" sz="2000" dirty="0"/>
          </a:p>
          <a:p>
            <a:pPr algn="just"/>
            <a:r>
              <a:rPr lang="en-US" sz="2000" dirty="0"/>
              <a: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Diverse Strategies for Problem Solving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25723061"/>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178372"/>
            <a:ext cx="10427563" cy="4726096"/>
          </a:xfrm>
          <a:prstGeom prst="rect">
            <a:avLst/>
          </a:prstGeom>
          <a:noFill/>
          <a:ln>
            <a:noFill/>
          </a:ln>
        </p:spPr>
        <p:txBody>
          <a:bodyPr spcFirstLastPara="1" wrap="square" lIns="91425" tIns="45700" rIns="91425" bIns="45700" anchor="t" anchorCtr="0">
            <a:noAutofit/>
          </a:bodyPr>
          <a:lstStyle/>
          <a:p>
            <a:pPr algn="just"/>
            <a:endParaRPr lang="en-US" dirty="0"/>
          </a:p>
          <a:p>
            <a:pPr algn="just"/>
            <a:r>
              <a:rPr lang="en-US" dirty="0"/>
              <a:t>• Data-Driven Decision Making: Integrate data analysis deeply into decision processes, fostering a culture of informed choices within organizations.</a:t>
            </a:r>
          </a:p>
          <a:p>
            <a:pPr algn="just"/>
            <a:endParaRPr lang="en-US" dirty="0"/>
          </a:p>
          <a:p>
            <a:pPr algn="just"/>
            <a:r>
              <a:rPr lang="en-US" dirty="0"/>
              <a:t>• Machine learning insights empower more effective and strategic problem-solving based on factual evidence.</a:t>
            </a:r>
          </a:p>
          <a:p>
            <a:pPr algn="just"/>
            <a:endParaRPr lang="en-US" dirty="0"/>
          </a:p>
          <a:p>
            <a:pPr algn="just"/>
            <a:r>
              <a:rPr lang="en-US" dirty="0"/>
              <a:t>• Interpretable Machine Learning: Develop models whose predictions and decisions can be clearly explained and justified, crucial for trust and compliance.</a:t>
            </a:r>
          </a:p>
          <a:p>
            <a:pPr algn="just"/>
            <a:endParaRPr lang="en-US" dirty="0"/>
          </a:p>
          <a:p>
            <a:pPr algn="just"/>
            <a:r>
              <a:rPr lang="en-US" dirty="0"/>
              <a:t>•   Techniques like feature importance analysis and model visualization enhance transparency, especially in ethical or legal contexts.</a:t>
            </a:r>
          </a:p>
          <a:p>
            <a:pPr algn="just"/>
            <a:endParaRPr lang="en-US" dirty="0"/>
          </a:p>
          <a:p>
            <a:pPr algn="just"/>
            <a:r>
              <a:rPr lang="en-US" dirty="0"/>
              <a:t>• Continuous Improvement: Implement feedback loops, regular model retraining, and adaptation strategies to address dynamic real-world problems.</a:t>
            </a:r>
          </a:p>
          <a:p>
            <a:pPr algn="just"/>
            <a:endParaRPr lang="en-US" dirty="0"/>
          </a:p>
          <a:p>
            <a:pPr algn="just"/>
            <a:r>
              <a:rPr lang="en-US" dirty="0"/>
              <a:t>•   Staying relevant and effective is an ongoing journey in the ever-evolving landscape of machine learning.</a:t>
            </a:r>
          </a:p>
          <a:p>
            <a:pPr algn="just"/>
            <a:endParaRPr lang="en-US" dirty="0"/>
          </a:p>
          <a:p>
            <a:pPr algn="just"/>
            <a:endParaRPr lang="en-US"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Holistic Solutions through Synergy</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339369938"/>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endParaRPr lang="en-US" sz="2000" dirty="0"/>
          </a:p>
          <a:p>
            <a:r>
              <a:rPr lang="en-US" sz="2000" dirty="0"/>
              <a:t>•   Gain invaluable practical experience by applying machine learning techniques to real-world datasets.</a:t>
            </a:r>
          </a:p>
          <a:p>
            <a:endParaRPr lang="en-US" sz="2000" dirty="0"/>
          </a:p>
          <a:p>
            <a:r>
              <a:rPr lang="en-US" sz="2000" dirty="0"/>
              <a:t>• Loading the Dataset: Start by loading your dataset into a preferred ML environment using libraries like Pandas.</a:t>
            </a:r>
          </a:p>
          <a:p>
            <a:endParaRPr lang="en-US" sz="2000" dirty="0"/>
          </a:p>
          <a:p>
            <a:r>
              <a:rPr lang="en-US" sz="2000" dirty="0"/>
              <a:t>• Data Overview: Perform initial checks on dataset dimensions, view the first few rows, identify missing values, and explore basic statistics.</a:t>
            </a:r>
          </a:p>
          <a:p>
            <a:endParaRPr lang="en-US" sz="2000" dirty="0"/>
          </a:p>
          <a:p>
            <a:r>
              <a:rPr lang="en-US" sz="2000" dirty="0"/>
              <a:t>• Data Visualization: Utilize libraries like </a:t>
            </a:r>
            <a:r>
              <a:rPr lang="en-US" sz="2000" dirty="0" err="1"/>
              <a:t>Matplotlib</a:t>
            </a:r>
            <a:r>
              <a:rPr lang="en-US" sz="2000" dirty="0"/>
              <a:t> and </a:t>
            </a:r>
            <a:r>
              <a:rPr lang="en-US" sz="2000" dirty="0" err="1"/>
              <a:t>Seaborn</a:t>
            </a:r>
            <a:r>
              <a:rPr lang="en-US" sz="2000" dirty="0"/>
              <a:t> to create informative plots such as histograms, scatter plots, and correlation matrices.</a:t>
            </a:r>
          </a:p>
          <a:p>
            <a:endParaRPr lang="en-US" sz="2000" dirty="0"/>
          </a:p>
          <a:p>
            <a:r>
              <a:rPr lang="en-US" sz="2000" dirty="0"/>
              <a:t>•   Visualizations are essential for identifying patterns, trends, and gaining preliminary insights before modeling.</a:t>
            </a:r>
          </a:p>
          <a:p>
            <a:endParaRPr lang="en-US" sz="2000" dirty="0"/>
          </a:p>
          <a:p>
            <a:r>
              <a:rPr lang="en-US" sz="2000" dirty="0"/>
              <a: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Practical Application: Dataset Exploration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700007401"/>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pPr algn="just"/>
            <a:endParaRPr lang="en-US" sz="2000" dirty="0"/>
          </a:p>
          <a:p>
            <a:pPr algn="just"/>
            <a:r>
              <a:rPr lang="en-US" sz="2000" dirty="0"/>
              <a:t>• Data Cleaning: Address critical issues like missing values (e.g., mean imputation), outliers (e.g., z-score filtering), and inconsistencies.</a:t>
            </a:r>
          </a:p>
          <a:p>
            <a:pPr algn="just"/>
            <a:endParaRPr lang="en-US" sz="2000" dirty="0"/>
          </a:p>
          <a:p>
            <a:pPr algn="just"/>
            <a:r>
              <a:rPr lang="en-US" sz="2000" dirty="0"/>
              <a:t>• Feature Engineering: Create new features or transform existing ones (e.g., one-hot encoding categorical variables) to enhance model performance.</a:t>
            </a:r>
          </a:p>
          <a:p>
            <a:pPr algn="just"/>
            <a:endParaRPr lang="en-US" sz="2000" dirty="0"/>
          </a:p>
          <a:p>
            <a:pPr algn="just"/>
            <a:r>
              <a:rPr lang="en-US" sz="2000" dirty="0"/>
              <a:t>• Data Splitting: Divide the prepared dataset into training, validation, and test sets for robust model development and unbiased evaluation.</a:t>
            </a:r>
          </a:p>
          <a:p>
            <a:pPr algn="just"/>
            <a:endParaRPr lang="en-US" sz="2000" dirty="0"/>
          </a:p>
          <a:p>
            <a:pPr algn="just"/>
            <a:r>
              <a:rPr lang="en-US" sz="2000" dirty="0"/>
              <a:t>• Model Selection &amp; Training: Choose an appropriate machine learning algorithm (e.g., RandomForestClassifier) and train it on the designated training data.</a:t>
            </a:r>
          </a:p>
          <a:p>
            <a:pPr algn="just"/>
            <a:endParaRPr lang="en-US" sz="2000" dirty="0"/>
          </a:p>
          <a:p>
            <a:pPr algn="just"/>
            <a:r>
              <a:rPr lang="en-US" sz="2000" dirty="0"/>
              <a:t>• Thorough data preparation is a foundational step for building effective and reliable machine learning models.</a:t>
            </a:r>
          </a:p>
          <a:p>
            <a:pPr algn="just"/>
            <a:endParaRPr lang="en-US" sz="2000" dirty="0"/>
          </a:p>
          <a:p>
            <a:pPr algn="just"/>
            <a:r>
              <a:rPr lang="en-US" sz="2000" dirty="0"/>
              <a: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Practical Application: Preparation &amp; Model Building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292443649"/>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Autofit/>
          </a:bodyPr>
          <a:lstStyle/>
          <a:p>
            <a:pPr algn="just"/>
            <a:endParaRPr lang="en-US" sz="2000" dirty="0"/>
          </a:p>
          <a:p>
            <a:pPr algn="just"/>
            <a:r>
              <a:rPr lang="en-US" sz="2000" dirty="0"/>
              <a:t>• Model Evaluation: Assess your model's performance on the validation set using relevant metrics tailored to the problem type.</a:t>
            </a:r>
          </a:p>
          <a:p>
            <a:pPr algn="just"/>
            <a:endParaRPr lang="en-US" sz="2000" dirty="0"/>
          </a:p>
          <a:p>
            <a:pPr algn="just"/>
            <a:r>
              <a:rPr lang="en-US" sz="2000" dirty="0"/>
              <a:t>• For classification tasks, metrics include accuracy, precision, recall, and F1-score; for regression, metrics like MSE or R-squared are used.</a:t>
            </a:r>
          </a:p>
          <a:p>
            <a:pPr algn="just"/>
            <a:endParaRPr lang="en-US" sz="2000" dirty="0"/>
          </a:p>
          <a:p>
            <a:pPr algn="just"/>
            <a:r>
              <a:rPr lang="en-US" sz="2000" dirty="0"/>
              <a:t>• Model Fine-Tuning: Systematically adjust hyperparameters using techniques such as grid search or random search to optimize performance.</a:t>
            </a:r>
          </a:p>
          <a:p>
            <a:pPr algn="just"/>
            <a:endParaRPr lang="en-US" sz="2000" dirty="0"/>
          </a:p>
          <a:p>
            <a:pPr algn="just"/>
            <a:r>
              <a:rPr lang="en-US" sz="2000" dirty="0"/>
              <a:t>•   The goal is to identify the best-performing model configuration that generalizes well to unseen data.</a:t>
            </a:r>
          </a:p>
          <a:p>
            <a:pPr algn="just"/>
            <a:endParaRPr lang="en-US" sz="2000" dirty="0"/>
          </a:p>
          <a:p>
            <a:pPr algn="just"/>
            <a:r>
              <a:rPr lang="en-US" sz="2000" dirty="0"/>
              <a:t>•   Continuous hands-on practice with diverse datasets is crucial for refining abilities and becoming a proficient machine learning practitioner.</a:t>
            </a:r>
          </a:p>
          <a:p>
            <a:pPr algn="just"/>
            <a:endParaRPr lang="en-US" sz="2000" dirty="0"/>
          </a:p>
          <a:p>
            <a:pPr algn="just"/>
            <a:r>
              <a:rPr lang="en-US" sz="2000" dirty="0"/>
              <a: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Practical Application: Evaluation &amp; Optimization</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2296654230"/>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a:t>
            </a:r>
          </a:p>
          <a:p>
            <a:r>
              <a:rPr lang="en-US" sz="2000"/>
              <a:t>In the Predictive Maintenance case study, which of the following was a key challenge directly related to the data itself and required a specific pipeline solution?</a:t>
            </a:r>
          </a:p>
          <a:p>
            <a:r>
              <a:rPr lang="en-US" sz="2000"/>
              <a:t>A) Model Interpretability</a:t>
            </a:r>
          </a:p>
          <a:p>
            <a:r>
              <a:rPr lang="en-US" sz="2000"/>
              <a:t>B) Feature Engineering Complexity</a:t>
            </a:r>
          </a:p>
          <a:p>
            <a:r>
              <a:rPr lang="en-US" sz="2000"/>
              <a:t>C) Noisy Data</a:t>
            </a:r>
          </a:p>
          <a:p>
            <a:r>
              <a:rPr lang="en-US" sz="2000"/>
              <a:t>D) Regulatory Compliance</a:t>
            </a:r>
          </a:p>
          <a:p>
            <a:endParaRPr lang="en-US" sz="2000" dirty="0"/>
          </a:p>
        </p:txBody>
      </p:sp>
    </p:spTree>
    <p:extLst>
      <p:ext uri="{BB962C8B-B14F-4D97-AF65-F5344CB8AC3E}">
        <p14:creationId xmlns:p14="http://schemas.microsoft.com/office/powerpoint/2010/main" val="4246187840"/>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a:t>
            </a:r>
          </a:p>
          <a:p>
            <a:r>
              <a:rPr lang="en-US" sz="2000"/>
              <a:t>In the Predictive Maintenance case study, which of the following was a key challenge directly related to the data itself and required a specific pipeline solution?</a:t>
            </a:r>
          </a:p>
          <a:p>
            <a:r>
              <a:rPr lang="en-US" sz="2000"/>
              <a:t>A) Model Interpretability</a:t>
            </a:r>
          </a:p>
          <a:p>
            <a:r>
              <a:rPr lang="en-US" sz="2000"/>
              <a:t>B) Feature Engineering Complexity</a:t>
            </a:r>
          </a:p>
          <a:p>
            <a:r>
              <a:rPr lang="en-US" sz="2000"/>
              <a:t>C) Noisy Data</a:t>
            </a:r>
          </a:p>
          <a:p>
            <a:r>
              <a:rPr lang="en-US" sz="2000"/>
              <a:t>D) Regulatory Compliance</a:t>
            </a:r>
          </a:p>
          <a:p>
            <a:endParaRPr lang="en-US" sz="2000"/>
          </a:p>
          <a:p>
            <a:endParaRPr lang="en-US" sz="2000"/>
          </a:p>
          <a:p>
            <a:r>
              <a:rPr lang="en-US" sz="2000" b="1"/>
              <a:t>Correct Answer: C) Noisy Data</a:t>
            </a:r>
          </a:p>
          <a:p>
            <a:r>
              <a:rPr lang="en-US" sz="2000" b="1"/>
              <a:t>Explanation: The data states, "Data Quality: Noisy data was a challenge, and a data cleansing pipeline was implemented to address this." Model interpretability and feature engineering are mentioned but addressed differently, while regulatory compliance was not a challenge for this specific case study.</a:t>
            </a:r>
          </a:p>
          <a:p>
            <a:endParaRPr lang="en-US" sz="2000" b="1"/>
          </a:p>
          <a:p>
            <a:endParaRPr lang="en-US" sz="2000" dirty="0"/>
          </a:p>
        </p:txBody>
      </p:sp>
    </p:spTree>
    <p:extLst>
      <p:ext uri="{BB962C8B-B14F-4D97-AF65-F5344CB8AC3E}">
        <p14:creationId xmlns:p14="http://schemas.microsoft.com/office/powerpoint/2010/main" val="37575449"/>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a:t>
            </a:r>
          </a:p>
          <a:p>
            <a:r>
              <a:rPr lang="en-US" sz="2000"/>
              <a:t>According to the Problem-Solving Framework, what is the primary objective of "Exploratory Data Analysis (EDA)"?</a:t>
            </a:r>
          </a:p>
          <a:p>
            <a:r>
              <a:rPr lang="en-US" sz="2000"/>
              <a:t>A) To deploy the machine learning model into production.</a:t>
            </a:r>
          </a:p>
          <a:p>
            <a:r>
              <a:rPr lang="en-US" sz="2000"/>
              <a:t>B) To select the final machine learning algorithm for the problem.</a:t>
            </a:r>
          </a:p>
          <a:p>
            <a:r>
              <a:rPr lang="en-US" sz="2000"/>
              <a:t>C) To visually and statistically explore data for insights and patterns.</a:t>
            </a:r>
          </a:p>
          <a:p>
            <a:r>
              <a:rPr lang="en-US" sz="2000"/>
              <a:t>D) To engineer new features from raw data.</a:t>
            </a:r>
          </a:p>
          <a:p>
            <a:endParaRPr lang="en-US" sz="2000" dirty="0"/>
          </a:p>
        </p:txBody>
      </p:sp>
    </p:spTree>
    <p:extLst>
      <p:ext uri="{BB962C8B-B14F-4D97-AF65-F5344CB8AC3E}">
        <p14:creationId xmlns:p14="http://schemas.microsoft.com/office/powerpoint/2010/main" val="3733067698"/>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a:t>
            </a:r>
          </a:p>
          <a:p>
            <a:r>
              <a:rPr lang="en-US" sz="2000"/>
              <a:t>According to the Problem-Solving Framework, what is the primary objective of "Exploratory Data Analysis (EDA)"?</a:t>
            </a:r>
          </a:p>
          <a:p>
            <a:r>
              <a:rPr lang="en-US" sz="2000"/>
              <a:t>A) To deploy the machine learning model into production.</a:t>
            </a:r>
          </a:p>
          <a:p>
            <a:r>
              <a:rPr lang="en-US" sz="2000"/>
              <a:t>B) To select the final machine learning algorithm for the problem.</a:t>
            </a:r>
          </a:p>
          <a:p>
            <a:r>
              <a:rPr lang="en-US" sz="2000"/>
              <a:t>C) To visually and statistically explore data for insights and patterns.</a:t>
            </a:r>
          </a:p>
          <a:p>
            <a:r>
              <a:rPr lang="en-US" sz="2000"/>
              <a:t>D) To engineer new features from raw data.</a:t>
            </a:r>
          </a:p>
          <a:p>
            <a:endParaRPr lang="en-US" sz="2000"/>
          </a:p>
          <a:p>
            <a:endParaRPr lang="en-US" sz="2000"/>
          </a:p>
          <a:p>
            <a:r>
              <a:rPr lang="en-US" sz="2000" b="1"/>
              <a:t>Correct Answer: C) To visually and statistically explore data for insights and patterns.</a:t>
            </a:r>
          </a:p>
          <a:p>
            <a:r>
              <a:rPr lang="en-US" sz="2000" b="1"/>
              <a:t>Explanation: The framework explicitly defines EDA as "the process of visually and statistically exploring data to gain insights into its characteristics... EDA helps us understand the data's distribution, uncover correlations, and identify potential issues..."</a:t>
            </a:r>
          </a:p>
          <a:p>
            <a:endParaRPr lang="en-US" sz="2000" b="1"/>
          </a:p>
          <a:p>
            <a:endParaRPr lang="en-US" sz="2000" dirty="0"/>
          </a:p>
        </p:txBody>
      </p:sp>
    </p:spTree>
    <p:extLst>
      <p:ext uri="{BB962C8B-B14F-4D97-AF65-F5344CB8AC3E}">
        <p14:creationId xmlns:p14="http://schemas.microsoft.com/office/powerpoint/2010/main" val="1348570452"/>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3:</a:t>
            </a:r>
          </a:p>
          <a:p>
            <a:r>
              <a:rPr lang="en-US" sz="2000"/>
              <a:t>The Fraud Detection case study addressed "Imbalanced Data" as a significant challenge. Which solution pair was employed to tackle this problem?</a:t>
            </a:r>
          </a:p>
          <a:p>
            <a:r>
              <a:rPr lang="en-US" sz="2000"/>
              <a:t>A) Model quantization and efficient data pipelines.</a:t>
            </a:r>
          </a:p>
          <a:p>
            <a:r>
              <a:rPr lang="en-US" sz="2000"/>
              <a:t>B) Oversampling the minority class and adjusting class weights.</a:t>
            </a:r>
          </a:p>
          <a:p>
            <a:r>
              <a:rPr lang="en-US" sz="2000"/>
              <a:t>C) Robustness checks and a feedback loop for model retraining.</a:t>
            </a:r>
          </a:p>
          <a:p>
            <a:r>
              <a:rPr lang="en-US" sz="2000"/>
              <a:t>D) Data cleansing pipeline and collaboration with domain experts.</a:t>
            </a:r>
          </a:p>
          <a:p>
            <a:endParaRPr lang="en-US" sz="2000" dirty="0"/>
          </a:p>
        </p:txBody>
      </p:sp>
    </p:spTree>
    <p:extLst>
      <p:ext uri="{BB962C8B-B14F-4D97-AF65-F5344CB8AC3E}">
        <p14:creationId xmlns:p14="http://schemas.microsoft.com/office/powerpoint/2010/main" val="2118909555"/>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3:</a:t>
            </a:r>
          </a:p>
          <a:p>
            <a:r>
              <a:rPr lang="en-US" sz="2000"/>
              <a:t>The Fraud Detection case study addressed "Imbalanced Data" as a significant challenge. Which solution pair was employed to tackle this problem?</a:t>
            </a:r>
          </a:p>
          <a:p>
            <a:r>
              <a:rPr lang="en-US" sz="2000"/>
              <a:t>A) Model quantization and efficient data pipelines.</a:t>
            </a:r>
          </a:p>
          <a:p>
            <a:r>
              <a:rPr lang="en-US" sz="2000"/>
              <a:t>B) Oversampling the minority class and adjusting class weights.</a:t>
            </a:r>
          </a:p>
          <a:p>
            <a:r>
              <a:rPr lang="en-US" sz="2000"/>
              <a:t>C) Robustness checks and a feedback loop for model retraining.</a:t>
            </a:r>
          </a:p>
          <a:p>
            <a:r>
              <a:rPr lang="en-US" sz="2000"/>
              <a:t>D) Data cleansing pipeline and collaboration with domain experts.</a:t>
            </a:r>
          </a:p>
          <a:p>
            <a:endParaRPr lang="en-US" sz="2000"/>
          </a:p>
          <a:p>
            <a:endParaRPr lang="en-US" sz="2000"/>
          </a:p>
          <a:p>
            <a:r>
              <a:rPr lang="en-US" sz="2000" b="1"/>
              <a:t>Correct Answer: B) Oversampling the minority class and adjusting class weights.</a:t>
            </a:r>
          </a:p>
          <a:p>
            <a:r>
              <a:rPr lang="en-US" sz="2000" b="1"/>
              <a:t>Explanation: The data states, "Imbalanced Data: The class imbalance problem was addressed through techniques like oversampling the minority class and adjusting class weights during training." The other options relate to different challenges or case studies.</a:t>
            </a:r>
          </a:p>
          <a:p>
            <a:endParaRPr lang="en-US" sz="2000" b="1"/>
          </a:p>
          <a:p>
            <a:endParaRPr lang="en-US" sz="2000" dirty="0"/>
          </a:p>
        </p:txBody>
      </p:sp>
    </p:spTree>
    <p:extLst>
      <p:ext uri="{BB962C8B-B14F-4D97-AF65-F5344CB8AC3E}">
        <p14:creationId xmlns:p14="http://schemas.microsoft.com/office/powerpoint/2010/main" val="2164363677"/>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4:</a:t>
            </a:r>
          </a:p>
          <a:p>
            <a:r>
              <a:rPr lang="en-US" sz="2000"/>
              <a:t>When integrating machine learning insights into decision-making processes, what is the significance of "Interpretable Machine Learning models"?</a:t>
            </a:r>
          </a:p>
          <a:p>
            <a:r>
              <a:rPr lang="en-US" sz="2000"/>
              <a:t>A) They are always more accurate than non-interpretable models.</a:t>
            </a:r>
          </a:p>
          <a:p>
            <a:r>
              <a:rPr lang="en-US" sz="2000"/>
              <a:t>B) They allow for leveraging knowledge from one domain to another.</a:t>
            </a:r>
          </a:p>
          <a:p>
            <a:r>
              <a:rPr lang="en-US" sz="2000"/>
              <a:t>C) They enable model decisions to be explained and justified, especially in ethical contexts.</a:t>
            </a:r>
          </a:p>
          <a:p>
            <a:r>
              <a:rPr lang="en-US" sz="2000"/>
              <a:t>D) They are primarily used for discovering patterns in unlabeled data.</a:t>
            </a:r>
          </a:p>
          <a:p>
            <a:endParaRPr lang="en-US" sz="2000" dirty="0"/>
          </a:p>
        </p:txBody>
      </p:sp>
    </p:spTree>
    <p:extLst>
      <p:ext uri="{BB962C8B-B14F-4D97-AF65-F5344CB8AC3E}">
        <p14:creationId xmlns:p14="http://schemas.microsoft.com/office/powerpoint/2010/main" val="32697992"/>
      </p:ext>
    </p:extLst>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pPr algn="just"/>
            <a:r>
              <a:rPr lang="en-US" sz="2000" dirty="0"/>
              <a:t>Question 4:</a:t>
            </a:r>
          </a:p>
          <a:p>
            <a:pPr algn="just"/>
            <a:r>
              <a:rPr lang="en-US" sz="2000" dirty="0"/>
              <a:t>When integrating machine learning insights into decision-making processes, what is the significance of "Interpretable Machine Learning models"?</a:t>
            </a:r>
          </a:p>
          <a:p>
            <a:pPr algn="just"/>
            <a:r>
              <a:rPr lang="en-US" sz="2000" dirty="0"/>
              <a:t>A) They are always more accurate than non-interpretable models.</a:t>
            </a:r>
          </a:p>
          <a:p>
            <a:pPr algn="just"/>
            <a:r>
              <a:rPr lang="en-US" sz="2000" dirty="0"/>
              <a:t>B) They allow for leveraging knowledge from one domain to another.</a:t>
            </a:r>
          </a:p>
          <a:p>
            <a:pPr algn="just"/>
            <a:r>
              <a:rPr lang="en-US" sz="2000" dirty="0"/>
              <a:t>C) They enable model decisions to be explained and justified, especially in ethical contexts.</a:t>
            </a:r>
          </a:p>
          <a:p>
            <a:pPr algn="just"/>
            <a:r>
              <a:rPr lang="en-US" sz="2000" dirty="0"/>
              <a:t>D) They are primarily used for discovering patterns in unlabeled data.</a:t>
            </a:r>
          </a:p>
          <a:p>
            <a:pPr algn="just"/>
            <a:endParaRPr lang="en-US" sz="2000" dirty="0"/>
          </a:p>
          <a:p>
            <a:pPr algn="just"/>
            <a:r>
              <a:rPr lang="en-US" sz="2000" b="1" dirty="0"/>
              <a:t>Correct Answer: C) They enable model decisions to be explained and justified, especially in ethical contexts.</a:t>
            </a:r>
          </a:p>
          <a:p>
            <a:pPr algn="just"/>
            <a:r>
              <a:rPr lang="en-US" sz="2000" b="1" dirty="0"/>
              <a:t>Explanation: The "Combining Data Analysis and Machine Learning Insights" section states, "Interpretable machine learning models are essential when decisions need to be explained and justified... This is particularly important in contexts where model decisions have legal or ethical implications."</a:t>
            </a:r>
          </a:p>
          <a:p>
            <a:pPr algn="just"/>
            <a:endParaRPr lang="en-US" sz="2000" b="1" dirty="0"/>
          </a:p>
          <a:p>
            <a:pPr algn="just"/>
            <a:endParaRPr lang="en-US" sz="2000" dirty="0"/>
          </a:p>
        </p:txBody>
      </p:sp>
    </p:spTree>
    <p:extLst>
      <p:ext uri="{BB962C8B-B14F-4D97-AF65-F5344CB8AC3E}">
        <p14:creationId xmlns:p14="http://schemas.microsoft.com/office/powerpoint/2010/main" val="4081549862"/>
      </p:ext>
    </p:extLst>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a:t>
            </a:r>
          </a:p>
          <a:p>
            <a:r>
              <a:rPr lang="en-US" sz="2000"/>
              <a:t>In the Hands-On Exercises, "Data Cleaning" involves several tasks. Which of the following is not typically considered a primary task within data cleaning as described?</a:t>
            </a:r>
          </a:p>
          <a:p>
            <a:r>
              <a:rPr lang="en-US" sz="2000"/>
              <a:t>A) Handling missing values.</a:t>
            </a:r>
          </a:p>
          <a:p>
            <a:r>
              <a:rPr lang="en-US" sz="2000"/>
              <a:t>B) Removing or transforming outliers.</a:t>
            </a:r>
          </a:p>
          <a:p>
            <a:r>
              <a:rPr lang="en-US" sz="2000"/>
              <a:t>C) Creating interaction terms between features.</a:t>
            </a:r>
          </a:p>
          <a:p>
            <a:r>
              <a:rPr lang="en-US" sz="2000"/>
              <a:t>D) Addressing inconsistencies in the dataset.</a:t>
            </a:r>
          </a:p>
          <a:p>
            <a:endParaRPr lang="en-US" sz="2000" dirty="0"/>
          </a:p>
        </p:txBody>
      </p:sp>
    </p:spTree>
    <p:extLst>
      <p:ext uri="{BB962C8B-B14F-4D97-AF65-F5344CB8AC3E}">
        <p14:creationId xmlns:p14="http://schemas.microsoft.com/office/powerpoint/2010/main" val="4137962510"/>
      </p:ext>
    </p:extLst>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a:t>
            </a:r>
          </a:p>
          <a:p>
            <a:r>
              <a:rPr lang="en-US" sz="2000"/>
              <a:t>In the Hands-On Exercises, "Data Cleaning" involves several tasks. Which of the following is not typically considered a primary task within data cleaning as described?</a:t>
            </a:r>
          </a:p>
          <a:p>
            <a:r>
              <a:rPr lang="en-US" sz="2000"/>
              <a:t>A) Handling missing values.</a:t>
            </a:r>
          </a:p>
          <a:p>
            <a:r>
              <a:rPr lang="en-US" sz="2000"/>
              <a:t>B) Removing or transforming outliers.</a:t>
            </a:r>
          </a:p>
          <a:p>
            <a:r>
              <a:rPr lang="en-US" sz="2000"/>
              <a:t>C) Creating interaction terms between features.</a:t>
            </a:r>
          </a:p>
          <a:p>
            <a:r>
              <a:rPr lang="en-US" sz="2000"/>
              <a:t>D) Addressing inconsistencies in the dataset.</a:t>
            </a:r>
          </a:p>
          <a:p>
            <a:endParaRPr lang="en-US" sz="2000"/>
          </a:p>
          <a:p>
            <a:endParaRPr lang="en-US" sz="2000"/>
          </a:p>
          <a:p>
            <a:r>
              <a:rPr lang="en-US" sz="2000" b="1"/>
              <a:t>Correct Answer: C) Creating interaction terms between features.</a:t>
            </a:r>
          </a:p>
          <a:p>
            <a:r>
              <a:rPr lang="en-US" sz="2000" b="1"/>
              <a:t>Explanation: Creating interaction terms is part of "Feature Engineering," as explicitly stated in Exercise 2, Step 5. Data cleaning focuses on missing values, outliers, and inconsistencies.</a:t>
            </a:r>
          </a:p>
          <a:p>
            <a:endParaRPr lang="en-US" sz="2000" b="1"/>
          </a:p>
          <a:p>
            <a:endParaRPr lang="en-US" sz="2000" dirty="0"/>
          </a:p>
        </p:txBody>
      </p:sp>
    </p:spTree>
    <p:extLst>
      <p:ext uri="{BB962C8B-B14F-4D97-AF65-F5344CB8AC3E}">
        <p14:creationId xmlns:p14="http://schemas.microsoft.com/office/powerpoint/2010/main" val="4016039254"/>
      </p:ext>
    </p:extLst>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6:</a:t>
            </a:r>
          </a:p>
          <a:p>
            <a:r>
              <a:rPr lang="en-US" sz="2000"/>
              <a:t>The Autonomous Driving case study faced "Regulatory Hurdles" as a challenge. How was this challenge primarily addressed?</a:t>
            </a:r>
          </a:p>
          <a:p>
            <a:r>
              <a:rPr lang="en-US" sz="2000"/>
              <a:t>A) Through implementing a data cleansing pipeline.</a:t>
            </a:r>
          </a:p>
          <a:p>
            <a:r>
              <a:rPr lang="en-US" sz="2000"/>
              <a:t>B) By collaborating closely with regulatory bodies.</a:t>
            </a:r>
          </a:p>
          <a:p>
            <a:r>
              <a:rPr lang="en-US" sz="2000"/>
              <a:t>C) By oversampling the minority class of data.</a:t>
            </a:r>
          </a:p>
          <a:p>
            <a:r>
              <a:rPr lang="en-US" sz="2000"/>
              <a:t>D) Through model quantization for low latency.</a:t>
            </a:r>
          </a:p>
          <a:p>
            <a:endParaRPr lang="en-US" sz="2000" dirty="0"/>
          </a:p>
        </p:txBody>
      </p:sp>
    </p:spTree>
    <p:extLst>
      <p:ext uri="{BB962C8B-B14F-4D97-AF65-F5344CB8AC3E}">
        <p14:creationId xmlns:p14="http://schemas.microsoft.com/office/powerpoint/2010/main" val="2045140206"/>
      </p:ext>
    </p:extLst>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6:</a:t>
            </a:r>
          </a:p>
          <a:p>
            <a:r>
              <a:rPr lang="en-US" sz="2000"/>
              <a:t>The Autonomous Driving case study faced "Regulatory Hurdles" as a challenge. How was this challenge primarily addressed?</a:t>
            </a:r>
          </a:p>
          <a:p>
            <a:r>
              <a:rPr lang="en-US" sz="2000"/>
              <a:t>A) Through implementing a data cleansing pipeline.</a:t>
            </a:r>
          </a:p>
          <a:p>
            <a:r>
              <a:rPr lang="en-US" sz="2000"/>
              <a:t>B) By collaborating closely with regulatory bodies.</a:t>
            </a:r>
          </a:p>
          <a:p>
            <a:r>
              <a:rPr lang="en-US" sz="2000"/>
              <a:t>C) By oversampling the minority class of data.</a:t>
            </a:r>
          </a:p>
          <a:p>
            <a:r>
              <a:rPr lang="en-US" sz="2000"/>
              <a:t>D) Through model quantization for low latency.</a:t>
            </a:r>
          </a:p>
          <a:p>
            <a:endParaRPr lang="en-US" sz="2000"/>
          </a:p>
          <a:p>
            <a:endParaRPr lang="en-US" sz="2000"/>
          </a:p>
          <a:p>
            <a:r>
              <a:rPr lang="en-US" sz="2000" b="1"/>
              <a:t>Correct Answer: B) By collaborating closely with regulatory bodies.</a:t>
            </a:r>
          </a:p>
          <a:p>
            <a:r>
              <a:rPr lang="en-US" sz="2000" b="1"/>
              <a:t>Explanation: The data states, "Regulatory Hurdles: Navigating the complex regulatory landscape for autonomous vehicles required close collaboration with regulatory bodies."</a:t>
            </a:r>
          </a:p>
          <a:p>
            <a:endParaRPr lang="en-US" sz="2000" b="1"/>
          </a:p>
          <a:p>
            <a:endParaRPr lang="en-US" sz="2000" dirty="0"/>
          </a:p>
        </p:txBody>
      </p:sp>
    </p:spTree>
    <p:extLst>
      <p:ext uri="{BB962C8B-B14F-4D97-AF65-F5344CB8AC3E}">
        <p14:creationId xmlns:p14="http://schemas.microsoft.com/office/powerpoint/2010/main" val="1228368957"/>
      </p:ext>
    </p:extLst>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7:</a:t>
            </a:r>
          </a:p>
          <a:p>
            <a:r>
              <a:rPr lang="en-US" sz="2000"/>
              <a:t>According to the Problem-Solving Framework, which approach is most suitable for identifying hidden structures and groupings within a dataset without any predefined labels?</a:t>
            </a:r>
          </a:p>
          <a:p>
            <a:r>
              <a:rPr lang="en-US" sz="2000"/>
              <a:t>A) Supervised Learning</a:t>
            </a:r>
          </a:p>
          <a:p>
            <a:r>
              <a:rPr lang="en-US" sz="2000"/>
              <a:t>B) Reinforcement Learning</a:t>
            </a:r>
          </a:p>
          <a:p>
            <a:r>
              <a:rPr lang="en-US" sz="2000"/>
              <a:t>C) Unsupervised Learning</a:t>
            </a:r>
          </a:p>
          <a:p>
            <a:r>
              <a:rPr lang="en-US" sz="2000"/>
              <a:t>D) Transfer Learning</a:t>
            </a:r>
          </a:p>
          <a:p>
            <a:endParaRPr lang="en-US" sz="2000" dirty="0"/>
          </a:p>
        </p:txBody>
      </p:sp>
    </p:spTree>
    <p:extLst>
      <p:ext uri="{BB962C8B-B14F-4D97-AF65-F5344CB8AC3E}">
        <p14:creationId xmlns:p14="http://schemas.microsoft.com/office/powerpoint/2010/main" val="177355066"/>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7:</a:t>
            </a:r>
          </a:p>
          <a:p>
            <a:r>
              <a:rPr lang="en-US" sz="2000"/>
              <a:t>According to the Problem-Solving Framework, which approach is most suitable for identifying hidden structures and groupings within a dataset without any predefined labels?</a:t>
            </a:r>
          </a:p>
          <a:p>
            <a:r>
              <a:rPr lang="en-US" sz="2000"/>
              <a:t>A) Supervised Learning</a:t>
            </a:r>
          </a:p>
          <a:p>
            <a:r>
              <a:rPr lang="en-US" sz="2000"/>
              <a:t>B) Reinforcement Learning</a:t>
            </a:r>
          </a:p>
          <a:p>
            <a:r>
              <a:rPr lang="en-US" sz="2000"/>
              <a:t>C) Unsupervised Learning</a:t>
            </a:r>
          </a:p>
          <a:p>
            <a:r>
              <a:rPr lang="en-US" sz="2000"/>
              <a:t>D) Transfer Learning</a:t>
            </a:r>
          </a:p>
          <a:p>
            <a:endParaRPr lang="en-US" sz="2000"/>
          </a:p>
          <a:p>
            <a:endParaRPr lang="en-US" sz="2000"/>
          </a:p>
          <a:p>
            <a:r>
              <a:rPr lang="en-US" sz="2000" b="1"/>
              <a:t>Correct Answer: C) Unsupervised Learning</a:t>
            </a:r>
          </a:p>
          <a:p>
            <a:r>
              <a:rPr lang="en-US" sz="2000" b="1"/>
              <a:t>Explanation: The "Approaches to Real-World Problem Solving" section explains, "Unsupervised learning is ideal for discovering patterns and structures within data without labeled information."</a:t>
            </a:r>
          </a:p>
          <a:p>
            <a:endParaRPr lang="en-US" sz="2000" b="1"/>
          </a:p>
          <a:p>
            <a:r>
              <a:rPr lang="en-US" sz="2000" b="1"/>
              <a:t>---</a:t>
            </a:r>
          </a:p>
          <a:p>
            <a:endParaRPr lang="en-US" sz="2000" b="1"/>
          </a:p>
          <a:p>
            <a:endParaRPr lang="en-US" sz="2000" dirty="0"/>
          </a:p>
        </p:txBody>
      </p:sp>
    </p:spTree>
    <p:extLst>
      <p:ext uri="{BB962C8B-B14F-4D97-AF65-F5344CB8AC3E}">
        <p14:creationId xmlns:p14="http://schemas.microsoft.com/office/powerpoint/2010/main" val="718682283"/>
      </p:ext>
    </p:extLst>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pPr algn="just"/>
            <a:endParaRPr lang="en-US" sz="2000" dirty="0"/>
          </a:p>
          <a:p>
            <a:pPr algn="just"/>
            <a:endParaRPr lang="en-US" sz="2000" dirty="0"/>
          </a:p>
          <a:p>
            <a:pPr algn="just"/>
            <a:r>
              <a:rPr lang="en-US" sz="2000" dirty="0"/>
              <a:t>A real estate company, "Home Finders," wants to develop a machine learning solution to predict house prices more accurately in a specific urban area. They have historical data including house size, number of bedrooms, location (latitude/longitude), age of the house, and recent sales prices. They are currently relying on manual appraisals, which are slow and inconsistent.</a:t>
            </a:r>
          </a:p>
          <a:p>
            <a:pPr algn="just"/>
            <a:endParaRPr lang="en-US" sz="2000" dirty="0"/>
          </a:p>
          <a:p>
            <a:pPr algn="just"/>
            <a:r>
              <a:rPr lang="en-US" sz="2000" dirty="0"/>
              <a:t>Outline the key steps Home Finders should take, following the Problem-Solving Framework presented in the module, to build and implement their house price prediction model. Additionally, identify one specific challenge they might encounter during the Data Collection and Preprocessing phase and suggest a concrete solution.</a:t>
            </a:r>
          </a:p>
          <a:p>
            <a:pPr algn="just"/>
            <a:endParaRPr lang="en-US" sz="2000" dirty="0"/>
          </a:p>
          <a:p>
            <a:pPr algn="just"/>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1707304194"/>
      </p:ext>
    </p:extLst>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fontScale="47500" lnSpcReduction="20000"/>
          </a:bodyPr>
          <a:lstStyle/>
          <a:p>
            <a:pPr algn="just"/>
            <a:r>
              <a:rPr lang="en-US" sz="2000" dirty="0"/>
              <a:t>Solution:</a:t>
            </a:r>
          </a:p>
          <a:p>
            <a:pPr algn="just"/>
            <a:endParaRPr lang="en-US" sz="2000" dirty="0"/>
          </a:p>
          <a:p>
            <a:pPr algn="just"/>
            <a:endParaRPr lang="en-US" sz="2000" dirty="0"/>
          </a:p>
          <a:p>
            <a:pPr algn="just"/>
            <a:r>
              <a:rPr lang="en-US" sz="2000" dirty="0"/>
              <a:t>Here are the key steps Home Finders should take, following the Problem-Solving Framework:</a:t>
            </a:r>
          </a:p>
          <a:p>
            <a:pPr algn="just"/>
            <a:endParaRPr lang="en-US" sz="2000" dirty="0"/>
          </a:p>
          <a:p>
            <a:pPr algn="just"/>
            <a:r>
              <a:rPr lang="en-US" sz="2000" dirty="0"/>
              <a:t>1.  Problem Definition:</a:t>
            </a:r>
          </a:p>
          <a:p>
            <a:pPr algn="just"/>
            <a:r>
              <a:rPr lang="en-US" sz="2000" dirty="0"/>
              <a:t>Objective: To accurately predict house prices in a specific urban area.</a:t>
            </a:r>
          </a:p>
          <a:p>
            <a:pPr algn="just"/>
            <a:r>
              <a:rPr lang="en-US" sz="2000" dirty="0"/>
              <a:t>Success Criteria: Reduce prediction error (e.g., lower Mean Absolute Error/MAE) compared to manual appraisals and improve prediction speed.</a:t>
            </a:r>
          </a:p>
          <a:p>
            <a:pPr algn="just"/>
            <a:r>
              <a:rPr lang="en-US" sz="2000" dirty="0"/>
              <a:t>Stakeholder Requirements: The model needs to be reliable, fast, and transparent enough for real estate agents to trust its outputs.</a:t>
            </a:r>
          </a:p>
          <a:p>
            <a:pPr algn="just"/>
            <a:endParaRPr lang="en-US" sz="2000" dirty="0"/>
          </a:p>
          <a:p>
            <a:pPr algn="just"/>
            <a:r>
              <a:rPr lang="en-US" sz="2000" dirty="0"/>
              <a:t>2.  Data Collection and Preprocessing:</a:t>
            </a:r>
          </a:p>
          <a:p>
            <a:pPr algn="just"/>
            <a:r>
              <a:rPr lang="en-US" sz="2000" dirty="0"/>
              <a:t>Collection: Gather all available historical house sales data, including house size, bedrooms, location (lat/long), age, and the actual sales price (their 'target' variable).</a:t>
            </a:r>
          </a:p>
          <a:p>
            <a:pPr algn="just"/>
            <a:r>
              <a:rPr lang="en-US" sz="2000" dirty="0"/>
              <a:t>Preprocessing: Clean the data by handling missing values (e.g., impute missing bedrooms with median, or missing age with a common age), address outliers (e.g., unusually high or low prices for the area), and standardize formats.</a:t>
            </a:r>
          </a:p>
          <a:p>
            <a:pPr algn="just"/>
            <a:endParaRPr lang="en-US" sz="2000" dirty="0"/>
          </a:p>
          <a:p>
            <a:pPr algn="just"/>
            <a:r>
              <a:rPr lang="en-US" sz="2000" dirty="0"/>
              <a:t>3.  Exploratory Data Analysis (EDA):</a:t>
            </a:r>
          </a:p>
          <a:p>
            <a:pPr algn="just"/>
            <a:r>
              <a:rPr lang="en-US" sz="2000" dirty="0"/>
              <a:t>•   Visualize relationships: Create scatter plots of house price vs. size, price vs. age.</a:t>
            </a:r>
          </a:p>
          <a:p>
            <a:pPr algn="just"/>
            <a:r>
              <a:rPr lang="en-US" sz="2000" dirty="0"/>
              <a:t>•   Analyze distributions: Histograms of prices, bedrooms, house age.</a:t>
            </a:r>
          </a:p>
          <a:p>
            <a:pPr algn="just"/>
            <a:r>
              <a:rPr lang="en-US" sz="2000" dirty="0"/>
              <a:t>•   Identify correlations: Use a correlation matrix to see how features relate to price and each other.</a:t>
            </a:r>
          </a:p>
          <a:p>
            <a:pPr algn="just"/>
            <a:r>
              <a:rPr lang="en-US" sz="2000" dirty="0"/>
              <a:t>•   Look for geographical patterns: Plot prices on a map using location data.</a:t>
            </a:r>
          </a:p>
          <a:p>
            <a:pPr algn="just"/>
            <a:endParaRPr lang="en-US" sz="2000" dirty="0"/>
          </a:p>
          <a:p>
            <a:pPr algn="just"/>
            <a:r>
              <a:rPr lang="en-US" sz="2000" dirty="0"/>
              <a:t>4.  Feature Engineering:</a:t>
            </a:r>
          </a:p>
          <a:p>
            <a:pPr algn="just"/>
            <a:r>
              <a:rPr lang="en-US" sz="2000" dirty="0"/>
              <a:t>•   Create new features: Calculate distance to city center from latitude/longitude, derive "price per square foot."</a:t>
            </a:r>
          </a:p>
          <a:p>
            <a:pPr algn="just"/>
            <a:r>
              <a:rPr lang="en-US" sz="2000" dirty="0"/>
              <a:t>•   Transform features: Normalize numerical features (e.g., house size) to a common scale, potentially discretize continuous features if beneficial.</a:t>
            </a:r>
          </a:p>
          <a:p>
            <a:pPr algn="just"/>
            <a:endParaRPr lang="en-US" sz="2000" dirty="0"/>
          </a:p>
          <a:p>
            <a:pPr algn="just"/>
            <a:r>
              <a:rPr lang="en-US" sz="2000" dirty="0"/>
              <a:t>5.  Model Selection and Training:</a:t>
            </a:r>
          </a:p>
          <a:p>
            <a:pPr algn="just"/>
            <a:r>
              <a:rPr lang="en-US" sz="2000" dirty="0"/>
              <a:t>Selection: Since this is a continuous numerical prediction, a regression model is needed (e.g., Linear Regression, Random Forest Regressor, Gradient Boosting Regressor like XGBoost).</a:t>
            </a:r>
          </a:p>
          <a:p>
            <a:pPr algn="just"/>
            <a:r>
              <a:rPr lang="en-US" sz="2000" dirty="0"/>
              <a:t>Training: Split data into training, validation, and test sets. Train the selected model on the training data, tuning hyperparameters using the validation set.</a:t>
            </a:r>
          </a:p>
          <a:p>
            <a:pPr algn="just"/>
            <a:endParaRPr lang="en-US" sz="2000" dirty="0"/>
          </a:p>
          <a:p>
            <a:pPr algn="just"/>
            <a:r>
              <a:rPr lang="en-US" sz="2000" dirty="0"/>
              <a:t>6.  Model Deployment:</a:t>
            </a:r>
          </a:p>
          <a:p>
            <a:pPr algn="just"/>
            <a:r>
              <a:rPr lang="en-US" sz="2000" dirty="0"/>
              <a:t>•   Integrate the trained model into </a:t>
            </a:r>
            <a:r>
              <a:rPr lang="en-US" sz="2000" dirty="0" err="1"/>
              <a:t>HomeFinders</a:t>
            </a:r>
            <a:r>
              <a:rPr lang="en-US" sz="2000" dirty="0"/>
              <a:t>' existing systems or create an API for agents to input house details and get instant price predictions.</a:t>
            </a:r>
          </a:p>
          <a:p>
            <a:pPr algn="just"/>
            <a:r>
              <a:rPr lang="en-US" sz="2000" dirty="0"/>
              <a:t>•   Implement monitoring to track model performance in production and detect data drift or concept drift.</a:t>
            </a:r>
          </a:p>
          <a:p>
            <a:pPr algn="just"/>
            <a:endParaRPr lang="en-US" sz="2000" dirty="0"/>
          </a:p>
          <a:p>
            <a:pPr algn="just"/>
            <a:r>
              <a:rPr lang="en-US" sz="2000" dirty="0"/>
              <a:t>Specific Data Challenge and Solution during Data Collection and Preprocessing:</a:t>
            </a:r>
          </a:p>
          <a:p>
            <a:pPr algn="just"/>
            <a:endParaRPr lang="en-US" sz="2000" dirty="0"/>
          </a:p>
          <a:p>
            <a:pPr algn="just"/>
            <a:r>
              <a:rPr lang="en-US" sz="2000" dirty="0"/>
              <a:t>Challenge: Inconsistent Location Data. The historical data might have location data entered in various formats (e.g., full address strings, partial addresses, or even incorrect lat/long pairs for some entries), making it difficult to use for geographical analysis or feature engineering consistently.</a:t>
            </a:r>
          </a:p>
          <a:p>
            <a:pPr algn="just"/>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48925596"/>
      </p:ext>
    </p:extLst>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Session Summary</a:t>
            </a:r>
            <a:endParaRPr lang="en-US" sz="2800" b="1" dirty="0">
              <a:solidFill>
                <a:srgbClr val="D9212B"/>
              </a:solidFill>
            </a:endParaRPr>
          </a:p>
        </p:txBody>
      </p:sp>
      <p:sp>
        <p:nvSpPr>
          <p:cNvPr id="5" name="Google Shape;135;p9"/>
          <p:cNvSpPr txBox="1"/>
          <p:nvPr/>
        </p:nvSpPr>
        <p:spPr>
          <a:xfrm>
            <a:off x="715540" y="1569935"/>
            <a:ext cx="10778468" cy="4431942"/>
          </a:xfrm>
          <a:prstGeom prst="rect">
            <a:avLst/>
          </a:prstGeom>
          <a:noFill/>
          <a:ln>
            <a:noFill/>
          </a:ln>
        </p:spPr>
        <p:txBody>
          <a:bodyPr spcFirstLastPara="1" wrap="square" lIns="91425" tIns="45700" rIns="91425" bIns="45700" anchor="t" anchorCtr="0">
            <a:spAutoFit/>
          </a:bodyPr>
          <a:lstStyle/>
          <a:p>
            <a:pPr algn="just">
              <a:lnSpc>
                <a:spcPct val="115000"/>
              </a:lnSpc>
              <a:spcAft>
                <a:spcPts val="1000"/>
              </a:spcAft>
            </a:pPr>
            <a:endParaRPr lang="en-US" dirty="0">
              <a:latin typeface=""/>
              <a:ea typeface="Times New Roman"/>
              <a:cs typeface="Times New Roman"/>
            </a:endParaRPr>
          </a:p>
          <a:p>
            <a:pPr algn="just">
              <a:lnSpc>
                <a:spcPct val="115000"/>
              </a:lnSpc>
              <a:spcAft>
                <a:spcPts val="1000"/>
              </a:spcAft>
            </a:pPr>
            <a:r>
              <a:rPr lang="en-US" dirty="0">
                <a:latin typeface=""/>
                <a:ea typeface="Times New Roman"/>
                <a:cs typeface="Times New Roman"/>
              </a:rPr>
              <a:t>•   Analyze diverse real-world machine learning case studies across industries.</a:t>
            </a:r>
          </a:p>
          <a:p>
            <a:pPr algn="just">
              <a:lnSpc>
                <a:spcPct val="115000"/>
              </a:lnSpc>
              <a:spcAft>
                <a:spcPts val="1000"/>
              </a:spcAft>
            </a:pPr>
            <a:r>
              <a:rPr lang="en-US" dirty="0">
                <a:latin typeface=""/>
                <a:ea typeface="Times New Roman"/>
                <a:cs typeface="Times New Roman"/>
              </a:rPr>
              <a:t>•   Apply a structured framework for defining and solving machine learning problems.</a:t>
            </a:r>
          </a:p>
          <a:p>
            <a:pPr algn="just">
              <a:lnSpc>
                <a:spcPct val="115000"/>
              </a:lnSpc>
              <a:spcAft>
                <a:spcPts val="1000"/>
              </a:spcAft>
            </a:pPr>
            <a:r>
              <a:rPr lang="en-US" dirty="0">
                <a:latin typeface=""/>
                <a:ea typeface="Times New Roman"/>
                <a:cs typeface="Times New Roman"/>
              </a:rPr>
              <a:t>•   Implement practical steps for effective data exploration and preprocessing.</a:t>
            </a:r>
          </a:p>
          <a:p>
            <a:pPr algn="just">
              <a:lnSpc>
                <a:spcPct val="115000"/>
              </a:lnSpc>
              <a:spcAft>
                <a:spcPts val="1000"/>
              </a:spcAft>
            </a:pPr>
            <a:r>
              <a:rPr lang="en-US" dirty="0">
                <a:latin typeface=""/>
                <a:ea typeface="Times New Roman"/>
                <a:cs typeface="Times New Roman"/>
              </a:rPr>
              <a:t>•   Build, evaluate, and fine-tune machine learning models for optimal performance.</a:t>
            </a:r>
          </a:p>
          <a:p>
            <a:pPr algn="just">
              <a:lnSpc>
                <a:spcPct val="115000"/>
              </a:lnSpc>
              <a:spcAft>
                <a:spcPts val="1000"/>
              </a:spcAft>
            </a:pPr>
            <a:r>
              <a:rPr lang="en-US" dirty="0">
                <a:latin typeface=""/>
                <a:ea typeface="Times New Roman"/>
                <a:cs typeface="Times New Roman"/>
              </a:rPr>
              <a:t>•   Understand various machine learning approaches (supervised, unsupervised, reinforcement, transfer learning) in problem-solving.</a:t>
            </a:r>
          </a:p>
          <a:p>
            <a:pPr algn="just">
              <a:lnSpc>
                <a:spcPct val="115000"/>
              </a:lnSpc>
              <a:spcAft>
                <a:spcPts val="1000"/>
              </a:spcAft>
            </a:pPr>
            <a:r>
              <a:rPr lang="en-US" dirty="0">
                <a:latin typeface=""/>
                <a:ea typeface="Times New Roman"/>
                <a:cs typeface="Times New Roman"/>
              </a:rPr>
              <a:t> </a:t>
            </a:r>
          </a:p>
          <a:p>
            <a:pPr algn="just">
              <a:lnSpc>
                <a:spcPct val="115000"/>
              </a:lnSpc>
              <a:spcAft>
                <a:spcPts val="1000"/>
              </a:spcAft>
            </a:pPr>
            <a:endParaRPr lang="en-US" dirty="0">
              <a:latin typeface=""/>
              <a:ea typeface="Times New Roman"/>
              <a:cs typeface="Times New Roman"/>
            </a:endParaRPr>
          </a:p>
          <a:p>
            <a:pPr algn="just">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23080211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1117</TotalTime>
  <Words>44034</Words>
  <Application>Microsoft Office PowerPoint</Application>
  <PresentationFormat>Widescreen</PresentationFormat>
  <Paragraphs>3839</Paragraphs>
  <Slides>383</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383</vt:i4>
      </vt:variant>
    </vt:vector>
  </HeadingPairs>
  <TitlesOfParts>
    <vt:vector size="393" baseType="lpstr">
      <vt:lpstr>Aptos</vt:lpstr>
      <vt:lpstr>Aptos Display</vt:lpstr>
      <vt:lpstr>Arial</vt:lpstr>
      <vt:lpstr>Avenir</vt:lpstr>
      <vt:lpstr>Calibri</vt:lpstr>
      <vt:lpstr>Google Sans</vt:lpstr>
      <vt:lpstr>Google Sans Text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idol</dc:creator>
  <cp:lastModifiedBy>Mohamed Ali</cp:lastModifiedBy>
  <cp:revision>240</cp:revision>
  <dcterms:created xsi:type="dcterms:W3CDTF">2025-07-09T10:39:06Z</dcterms:created>
  <dcterms:modified xsi:type="dcterms:W3CDTF">2026-10-22T09:41:41Z</dcterms:modified>
</cp:coreProperties>
</file>