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</ns0:sldIdLst>
  <ns0:sldSz cx="12192000" cy="6858000" type="screen4x3"/>
  <ns0:notesSz cx="6858000" cy="9144000"/>
  <ns0:embeddedFontLst>
    <ns0:embeddedFont>
      <ns0:font typeface="Inter"/>
      <ns0:bold ns1:id="rIdFont17"/>
      <ns0:regular ns1:id="rIdFont18"/>
    </ns0:embeddedFont>
    <ns0:embeddedFont>
      <ns0:font typeface="JetBrains Mono"/>
      <ns0:regular ns1:id="rIdFont19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Font17" Type="http://schemas.openxmlformats.org/officeDocument/2006/relationships/font" Target="fonts/0f2da8a4-3482-4d04-866f-3bb72fe98c6b.fntdata" /><ns0:Relationship Id="rIdFont18" Type="http://schemas.openxmlformats.org/officeDocument/2006/relationships/font" Target="fonts/f47f3165-d319-4813-b1c4-fe28be453a90.fntdata" /><ns0:Relationship Id="rIdFont19" Type="http://schemas.openxmlformats.org/officeDocument/2006/relationships/font" Target="fonts/775428d9-4476-44c6-b287-c675f5731e9d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073622"/>
            <a:ext cx="2752725" cy="276225"/>
          </a:xfrm>
          <a:prstGeom prst="roundRect">
            <a:avLst>
              <a:gd name="adj" fmla="val 13793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4746277"/>
            <a:ext cx="7620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2130772"/>
            <a:ext cx="254317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Inter"/>
              </a:rPr>
              <a:t>MLOPS ENGINEERING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578447"/>
            <a:ext cx="9101137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FFFFF"/>
                </a:solidFill>
                <a:latin typeface="Inter"/>
              </a:rPr>
              <a:t>Stage 1: Scoping, Problem Framing &amp; Heuristic 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869977"/>
            <a:ext cx="7715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Translating Business Objectives into ML Framing, ROI Formulas, and Rule-Based Benchmarks using the IBM Telco Churn Dataset.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06166"/>
            <a:ext cx="3505200" cy="1645741"/>
          </a:xfrm>
          <a:prstGeom prst="roundRect">
            <a:avLst>
              <a:gd name="adj" fmla="val 463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906166"/>
            <a:ext cx="3505200" cy="1645741"/>
          </a:xfrm>
          <a:prstGeom prst="roundRect">
            <a:avLst>
              <a:gd name="adj" fmla="val 463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906166"/>
            <a:ext cx="3505200" cy="1645741"/>
          </a:xfrm>
          <a:prstGeom prst="roundRect">
            <a:avLst>
              <a:gd name="adj" fmla="val 463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2906166"/>
            <a:ext cx="38100" cy="1645741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43400" y="2906166"/>
            <a:ext cx="38100" cy="1645741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77200" y="2906166"/>
            <a:ext cx="38100" cy="1645741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172866"/>
            <a:ext cx="333375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3172866"/>
            <a:ext cx="266700" cy="266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0" y="3172866"/>
            <a:ext cx="200025" cy="266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Anchor Dataset: IBM Telco Customer Churn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553866"/>
            <a:ext cx="385048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7,043 Records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58666"/>
            <a:ext cx="302895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200" i="0" u="none">
                <a:solidFill>
                  <a:srgbClr val="475569"/>
                </a:solidFill>
                <a:latin typeface="Inter"/>
              </a:rPr>
              <a:t>Volume: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7,043 customer accounts.</a:t>
            </a:r>
            <a:r>
              <a:t>
</a:t>
            </a:r>
            <a:r>
              <a:rPr b="1" sz="1200" i="0" u="none">
                <a:solidFill>
                  <a:srgbClr val="475569"/>
                </a:solidFill>
                <a:latin typeface="Inter"/>
              </a:rPr>
              <a:t>Target: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Binary churn (26.5% positive).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8200" y="3553866"/>
            <a:ext cx="385048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21 Attributes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8200" y="3858666"/>
            <a:ext cx="302895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200" i="0" u="none">
                <a:solidFill>
                  <a:srgbClr val="475569"/>
                </a:solidFill>
                <a:latin typeface="Inter"/>
              </a:rPr>
              <a:t>Demographics: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Seniority, Partner.</a:t>
            </a:r>
            <a:r>
              <a:t>
</a:t>
            </a:r>
            <a:r>
              <a:rPr b="1" sz="1200" i="0" u="none">
                <a:solidFill>
                  <a:srgbClr val="475569"/>
                </a:solidFill>
                <a:latin typeface="Inter"/>
              </a:rPr>
              <a:t>Services: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Internet, Tech Support.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0" y="3553866"/>
            <a:ext cx="3810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Financial Indicators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0" y="3858666"/>
            <a:ext cx="302895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200" i="0" u="none">
                <a:solidFill>
                  <a:srgbClr val="475569"/>
                </a:solidFill>
                <a:latin typeface="Inter"/>
              </a:rPr>
              <a:t>Contract: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Month-to-month, 1/2yr.</a:t>
            </a:r>
            <a:r>
              <a:t>
</a:t>
            </a:r>
            <a:r>
              <a:rPr b="1" sz="1200" i="0" u="none">
                <a:solidFill>
                  <a:srgbClr val="475569"/>
                </a:solidFill>
                <a:latin typeface="Inter"/>
              </a:rPr>
              <a:t>Charges: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Monthly &amp; Total charges.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555605" y="2462212"/>
            <a:ext cx="6026794" cy="2457450"/>
          </a:xfrm>
          <a:prstGeom prst="roundRect">
            <a:avLst>
              <a:gd name="adj" fmla="val 31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O01: Business Canvas &amp; Financial ROI Framing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84205" y="2690812"/>
            <a:ext cx="5664844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8BDF8"/>
                </a:solidFill>
                <a:latin typeface="Inter"/>
              </a:rPr>
              <a:t># Business Utility Optimization Metric def compute_net_roi(tp, fp, fn, tn, clv=780, cost=180, accept_rate=0.30): # True Positives: Saved customers x CLV - Cost saved_revenue = tp * accept_rate * (clv - cost) # False Positives: Wasted intervention cost wasted_budget = fp * cost net_gain = saved_revenue - wasted_budget return net_gain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84205" y="2690812"/>
            <a:ext cx="5664844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8BDF8"/>
                </a:solidFill>
                <a:latin typeface="JetBrains Mono"/>
              </a:rPr>
              <a:t># Business Utility Optimization Metric def compute_net_roi(tp, fp, fn, tn, clv=780, cost=180, accept_rate=0.30): # True Positives: Saved customers x CLV - Cost saved_revenue = tp * accept_rate * (clv - cost) # False Positives: Wasted intervention cost wasted_budget = fp * cost net_gain = saved_revenue - wasted_budget return net_gain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862560"/>
            <a:ext cx="4736455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Problem Statement: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High churn ($65/mo avg) reduces Annual Recurring Revenue.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494782"/>
            <a:ext cx="4736455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Intervention: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$15 monthly retention credit targeted at top predicted risks.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4127003"/>
            <a:ext cx="5801506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Financial KPI: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Net ARR saved minus intervention costs.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33687"/>
            <a:ext cx="3505200" cy="1790700"/>
          </a:xfrm>
          <a:prstGeom prst="roundRect">
            <a:avLst>
              <a:gd name="adj" fmla="val 425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947987"/>
            <a:ext cx="3505200" cy="1562100"/>
          </a:xfrm>
          <a:prstGeom prst="roundRect">
            <a:avLst>
              <a:gd name="adj" fmla="val 487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947987"/>
            <a:ext cx="3505200" cy="1562100"/>
          </a:xfrm>
          <a:prstGeom prst="roundRect">
            <a:avLst>
              <a:gd name="adj" fmla="val 487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O02: Machine Learning Technical Formulation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3100387"/>
            <a:ext cx="390048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84C7"/>
                </a:solidFill>
                <a:latin typeface="Inter"/>
              </a:rPr>
              <a:t>Supervised Ranking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443287"/>
            <a:ext cx="30670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Frame as probability estimation $P(\text{Churn} = 1 \mid X)$ to rank customers by risk score rather than hard 0.5 threshold.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0100" y="3214687"/>
            <a:ext cx="390048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84C7"/>
                </a:solidFill>
                <a:latin typeface="Inter"/>
              </a:rPr>
              <a:t>Class Imbalance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0100" y="3557587"/>
            <a:ext cx="30670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26.5% positive churn rate requires PR-AUC (Precision-Recall Area Under Curve) instead of misleading Accuracy.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43900" y="3214687"/>
            <a:ext cx="38481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84C7"/>
                </a:solidFill>
                <a:latin typeface="Inter"/>
              </a:rPr>
              <a:t>Latency Constraints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3900" y="3557587"/>
            <a:ext cx="30670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Batch prediction scheduled weekly ($&lt; 500\text{ ms}$ query per user) for CRM outreach campaign ingestion.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555605" y="2662237"/>
            <a:ext cx="6026794" cy="2057400"/>
          </a:xfrm>
          <a:prstGeom prst="roundRect">
            <a:avLst>
              <a:gd name="adj" fmla="val 3703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O03: Rule-Based Domain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84205" y="2890837"/>
            <a:ext cx="5664844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8BDF8"/>
                </a:solidFill>
                <a:latin typeface="Inter"/>
              </a:rPr>
              <a:t># Domain Heuristic Rule Engine def predict_heuristic_churn(df): # Rule: Short tenure month-to-month contracts is_month_to_month = (df["Contract"] == "Month-to-month") is_new_customer = (df["tenure"] &lt;= 12) # Predict high churn risk score (0.8) vs low (0.1) return np.where(is_month_to_month &amp; is_new_customer, 0.8, 0.1)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84205" y="2890837"/>
            <a:ext cx="5664844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8BDF8"/>
                </a:solidFill>
                <a:latin typeface="JetBrains Mono"/>
              </a:rPr>
              <a:t># Domain Heuristic Rule Engine def predict_heuristic_churn(df): # Rule: Short tenure month-to-month contracts is_month_to_month = (df["Contract"] == "Month-to-month") is_new_customer = (df["tenure"] &lt;= 12) # Predict high churn risk score (0.8) vs low (0.1) return np.where(is_month_to_month &amp; is_new_customer, 0.8, 0.1)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742604"/>
            <a:ext cx="4736455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Domain Rule: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High-risk if Contract = Month-to-Month AND tenure &lt; 12 months.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374826"/>
            <a:ext cx="4736455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Benchmark Objective: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Complex ML models must significantly outperform this zero-code heuristic.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4007048"/>
            <a:ext cx="4736455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No ML Required: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Establishes minimum baseline floor for F1 and PR-AUC.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47987"/>
            <a:ext cx="3505200" cy="1562100"/>
          </a:xfrm>
          <a:prstGeom prst="roundRect">
            <a:avLst>
              <a:gd name="adj" fmla="val 487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947987"/>
            <a:ext cx="3505200" cy="1562100"/>
          </a:xfrm>
          <a:prstGeom prst="roundRect">
            <a:avLst>
              <a:gd name="adj" fmla="val 487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947987"/>
            <a:ext cx="3505200" cy="1562100"/>
          </a:xfrm>
          <a:prstGeom prst="roundRect">
            <a:avLst>
              <a:gd name="adj" fmla="val 487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O04: Evaluation Metrics &amp; Loss Selection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3214687"/>
            <a:ext cx="390048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84C7"/>
                </a:solidFill>
                <a:latin typeface="Inter"/>
              </a:rPr>
              <a:t>PR-AUC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557587"/>
            <a:ext cx="30670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Precision-Recall AUC measures ranking quality under class imbalance (26.5% positive churn rate).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0100" y="3214687"/>
            <a:ext cx="390048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84C7"/>
                </a:solidFill>
                <a:latin typeface="Inter"/>
              </a:rPr>
              <a:t>Recall @ Top K%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0100" y="3557587"/>
            <a:ext cx="30670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Evaluates what percentage of churners are captured within campaign budget capacity (Top 15%).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43900" y="3214687"/>
            <a:ext cx="38481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84C7"/>
                </a:solidFill>
                <a:latin typeface="Inter"/>
              </a:rPr>
              <a:t>Expected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3900" y="3557587"/>
            <a:ext cx="30670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Translates confusion matrix counts into dollar figures based on CLV and intervention costs.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555605" y="2562225"/>
            <a:ext cx="6026794" cy="2257425"/>
          </a:xfrm>
          <a:prstGeom prst="roundRect">
            <a:avLst>
              <a:gd name="adj" fmla="val 3375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O05: Baseline Evaluation Metrics (Telco Dataset)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84205" y="2790825"/>
            <a:ext cx="5664844" cy="1800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8BDF8"/>
                </a:solidFill>
                <a:latin typeface="Inter"/>
              </a:rPr>
              <a:t># Evaluating Heuristic Baseline y_true = df["Churn"].map({"Yes": 1, "No": 0}) y_scores = predict_heuristic_churn(df) pr_auc = average_precision_score(y_true, y_scores) f1 = f1_score(y_true, (y_scores &gt; 0.5).astype(int)) print(f"Heuristic PR-AUC: {pr_auc:.3f} | F1: {f1:.3f}") # Output: Heuristic PR-AUC: 0.542 | F1: 0.531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84205" y="2790825"/>
            <a:ext cx="5664844" cy="1800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8BDF8"/>
                </a:solidFill>
                <a:latin typeface="JetBrains Mono"/>
              </a:rPr>
              <a:t># Evaluating Heuristic Baseline y_true = df["Churn"].map({"Yes": 1, "No": 0}) y_scores = predict_heuristic_churn(df) pr_auc = average_precision_score(y_true, y_scores) f1 = f1_score(y_true, (y_scores &gt; 0.5).astype(int)) print(f"Heuristic PR-AUC: {pr_auc:.3f} | F1: {f1:.3f}") # Output: Heuristic PR-AUC: 0.542 | F1: 0.531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742604"/>
            <a:ext cx="4736455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Recall (0.58):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Captures 58% of actual churning accounts.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374826"/>
            <a:ext cx="4736455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Precision (0.49):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49% of flagged accounts actually churn.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4007048"/>
            <a:ext cx="4736455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Baseline PR-AUC (0.54):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Benchmark target for ML pipelines.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09875"/>
            <a:ext cx="3505200" cy="1838325"/>
          </a:xfrm>
          <a:prstGeom prst="roundRect">
            <a:avLst>
              <a:gd name="adj" fmla="val 414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919412"/>
            <a:ext cx="3505200" cy="1619250"/>
          </a:xfrm>
          <a:prstGeom prst="roundRect">
            <a:avLst>
              <a:gd name="adj" fmla="val 470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928937"/>
            <a:ext cx="3505200" cy="1600200"/>
          </a:xfrm>
          <a:prstGeom prst="roundRect">
            <a:avLst>
              <a:gd name="adj" fmla="val 476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2809875"/>
            <a:ext cx="3505200" cy="381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43400" y="2919412"/>
            <a:ext cx="35052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77200" y="2928937"/>
            <a:ext cx="35052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Stage 1 Scoping Edge Cases &amp; Risks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3114675"/>
            <a:ext cx="390048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EF4444"/>
                </a:solidFill>
                <a:latin typeface="Inter"/>
              </a:rPr>
              <a:t>Target Leakage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3457575"/>
            <a:ext cx="3067050" cy="923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Including post-churn indicators like </a:t>
            </a:r>
            <a:r>
              <a:rPr b="0" sz="1200" i="0" u="none">
                <a:solidFill>
                  <a:srgbClr val="EF4444"/>
                </a:solidFill>
                <a:latin typeface="Inter"/>
              </a:rPr>
              <a:t>ChurnReason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or </a:t>
            </a:r>
            <a:r>
              <a:rPr b="0" sz="1200" i="0" u="none">
                <a:solidFill>
                  <a:srgbClr val="EF4444"/>
                </a:solidFill>
                <a:latin typeface="Inter"/>
              </a:rPr>
              <a:t>CustomerFeedback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in features artificially inflates performance.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0100" y="3224212"/>
            <a:ext cx="390048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Missing TotalCharges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0100" y="3567112"/>
            <a:ext cx="3067050" cy="704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11 new accounts (</a:t>
            </a:r>
            <a:r>
              <a:rPr b="0" sz="1200" i="0" u="none">
                <a:solidFill>
                  <a:srgbClr val="0F172A"/>
                </a:solidFill>
                <a:latin typeface="Inter"/>
              </a:rPr>
              <a:t>tenure = 0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) have empty strings in </a:t>
            </a:r>
            <a:r>
              <a:rPr b="0" sz="1200" i="0" u="none">
                <a:solidFill>
                  <a:srgbClr val="0F172A"/>
                </a:solidFill>
                <a:latin typeface="Inter"/>
              </a:rPr>
              <a:t>TotalCharges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, requiring numeric coercion.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3900" y="3233737"/>
            <a:ext cx="38481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Misaligned Objective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3900" y="3576637"/>
            <a:ext cx="30670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Optimizing for raw accuracy ignores the financial asymmetry of false negatives vs false positives.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593800"/>
            <a:ext cx="5391150" cy="581025"/>
          </a:xfrm>
          <a:prstGeom prst="roundRect">
            <a:avLst>
              <a:gd name="adj" fmla="val 1311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91250" y="1593800"/>
            <a:ext cx="5391150" cy="581025"/>
          </a:xfrm>
          <a:prstGeom prst="roundRect">
            <a:avLst>
              <a:gd name="adj" fmla="val 1311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438376"/>
            <a:ext cx="5391150" cy="581025"/>
          </a:xfrm>
          <a:prstGeom prst="roundRect">
            <a:avLst>
              <a:gd name="adj" fmla="val 1311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91250" y="3438376"/>
            <a:ext cx="5391150" cy="581025"/>
          </a:xfrm>
          <a:prstGeom prst="roundRect">
            <a:avLst>
              <a:gd name="adj" fmla="val 1311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5283100"/>
            <a:ext cx="5391150" cy="581025"/>
          </a:xfrm>
          <a:prstGeom prst="roundRect">
            <a:avLst>
              <a:gd name="adj" fmla="val 1311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91250" y="5283100"/>
            <a:ext cx="5391150" cy="581025"/>
          </a:xfrm>
          <a:prstGeom prst="roundRect">
            <a:avLst>
              <a:gd name="adj" fmla="val 1311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Acronym Reference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1784300"/>
            <a:ext cx="51054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284C7"/>
                </a:solidFill>
                <a:latin typeface="Inter"/>
              </a:rPr>
              <a:t>CLV:</a:t>
            </a:r>
            <a:r>
              <a:rPr b="1" sz="1350" i="0" u="none">
                <a:solidFill>
                  <a:srgbClr val="0284C7"/>
                </a:solidFill>
                <a:latin typeface="Inter"/>
              </a:rPr>
              <a:t> </a:t>
            </a:r>
            <a:r>
              <a:rPr b="1" sz="1200" i="0" u="none">
                <a:solidFill>
                  <a:srgbClr val="334155"/>
                </a:solidFill>
                <a:latin typeface="Inter"/>
              </a:rPr>
              <a:t>Customer Lifetime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1750" y="1784300"/>
            <a:ext cx="51054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284C7"/>
                </a:solidFill>
                <a:latin typeface="Inter"/>
              </a:rPr>
              <a:t>ARR:</a:t>
            </a:r>
            <a:r>
              <a:rPr b="1" sz="1350" i="0" u="none">
                <a:solidFill>
                  <a:srgbClr val="0284C7"/>
                </a:solidFill>
                <a:latin typeface="Inter"/>
              </a:rPr>
              <a:t> </a:t>
            </a:r>
            <a:r>
              <a:rPr b="1" sz="1200" i="0" u="none">
                <a:solidFill>
                  <a:srgbClr val="334155"/>
                </a:solidFill>
                <a:latin typeface="Inter"/>
              </a:rPr>
              <a:t>Annual Recurring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3628876"/>
            <a:ext cx="51054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284C7"/>
                </a:solidFill>
                <a:latin typeface="Inter"/>
              </a:rPr>
              <a:t>PR-AUC:</a:t>
            </a:r>
            <a:r>
              <a:rPr b="1" sz="1350" i="0" u="none">
                <a:solidFill>
                  <a:srgbClr val="0284C7"/>
                </a:solidFill>
                <a:latin typeface="Inter"/>
              </a:rPr>
              <a:t> </a:t>
            </a:r>
            <a:r>
              <a:rPr b="1" sz="1200" i="0" u="none">
                <a:solidFill>
                  <a:srgbClr val="334155"/>
                </a:solidFill>
                <a:latin typeface="Inter"/>
              </a:rPr>
              <a:t>Precision-Recall Area Under Curve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1750" y="3628876"/>
            <a:ext cx="51054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284C7"/>
                </a:solidFill>
                <a:latin typeface="Inter"/>
              </a:rPr>
              <a:t>CAC:</a:t>
            </a:r>
            <a:r>
              <a:rPr b="1" sz="1350" i="0" u="none">
                <a:solidFill>
                  <a:srgbClr val="0284C7"/>
                </a:solidFill>
                <a:latin typeface="Inter"/>
              </a:rPr>
              <a:t> </a:t>
            </a:r>
            <a:r>
              <a:rPr b="1" sz="1200" i="0" u="none">
                <a:solidFill>
                  <a:srgbClr val="334155"/>
                </a:solidFill>
                <a:latin typeface="Inter"/>
              </a:rPr>
              <a:t>Customer Acquisition Cost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5473600"/>
            <a:ext cx="51054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284C7"/>
                </a:solidFill>
                <a:latin typeface="Inter"/>
              </a:rPr>
              <a:t>KPI:</a:t>
            </a:r>
            <a:r>
              <a:rPr b="1" sz="1350" i="0" u="none">
                <a:solidFill>
                  <a:srgbClr val="0284C7"/>
                </a:solidFill>
                <a:latin typeface="Inter"/>
              </a:rPr>
              <a:t> </a:t>
            </a:r>
            <a:r>
              <a:rPr b="1" sz="1200" i="0" u="none">
                <a:solidFill>
                  <a:srgbClr val="334155"/>
                </a:solidFill>
                <a:latin typeface="Inter"/>
              </a:rPr>
              <a:t>Key Performance Indicator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1750" y="5473600"/>
            <a:ext cx="51054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284C7"/>
                </a:solidFill>
                <a:latin typeface="Inter"/>
              </a:rPr>
              <a:t>CRM:</a:t>
            </a:r>
            <a:r>
              <a:rPr b="1" sz="1350" i="0" u="none">
                <a:solidFill>
                  <a:srgbClr val="0284C7"/>
                </a:solidFill>
                <a:latin typeface="Inter"/>
              </a:rPr>
              <a:t> </a:t>
            </a:r>
            <a:r>
              <a:rPr b="1" sz="1200" i="0" u="none">
                <a:solidFill>
                  <a:srgbClr val="334155"/>
                </a:solidFill>
                <a:latin typeface="Inter"/>
              </a:rPr>
              <a:t>Customer Relationship Management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86237" y="4038600"/>
            <a:ext cx="3819525" cy="428625"/>
          </a:xfrm>
          <a:prstGeom prst="roundRect">
            <a:avLst>
              <a:gd name="adj" fmla="val 13333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514427" y="2390775"/>
            <a:ext cx="5163145" cy="561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FFFFF"/>
                </a:solidFill>
                <a:latin typeface="Inter"/>
              </a:rPr>
              <a:t>Stage 1 Complete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8812" y="3105150"/>
            <a:ext cx="8334375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0" sz="1650" i="0" u="none">
                <a:solidFill>
                  <a:srgbClr val="94A3B8"/>
                </a:solidFill>
                <a:latin typeface="Inter"/>
              </a:rPr>
              <a:t>Business ROI defined, heuristic baseline set (PR-AUC 0.542), and target metrics anchored on the IBM Telco Dataset.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75496" y="4152900"/>
            <a:ext cx="4241006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FFFFF"/>
                </a:solidFill>
                <a:latin typeface="Inter"/>
              </a:rPr>
              <a:t>Ready for Stage 2 &amp; Stage 3 Operations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